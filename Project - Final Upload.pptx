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2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8" r:id="rId5"/>
    <p:sldMasterId id="2147483669"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Lst>
  <p:sldSz cy="5143500" cx="9144000"/>
  <p:notesSz cx="6858000" cy="9144000"/>
  <p:embeddedFontLst>
    <p:embeddedFont>
      <p:font typeface="Gill Sans"/>
      <p:regular r:id="rId32"/>
      <p:bold r:id="rId33"/>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24C009FF-336C-47B4-8BC5-F4C2A9347E70}">
  <a:tblStyle styleId="{24C009FF-336C-47B4-8BC5-F4C2A9347E70}"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C5F09866-D726-440A-9C77-CD37D75BCD65}" styleName="Table_1">
    <a:wholeTbl>
      <a:tcTxStyle>
        <a:font>
          <a:latin typeface="Arial"/>
          <a:ea typeface="Arial"/>
          <a:cs typeface="Arial"/>
        </a:font>
        <a:srgbClr val="000000"/>
      </a:tcTxStyle>
      <a:tcStyle>
        <a:tcBdr>
          <a:left>
            <a:ln cap="flat" cmpd="sng">
              <a:solidFill>
                <a:srgbClr val="808080"/>
              </a:solidFill>
              <a:prstDash val="solid"/>
              <a:round/>
              <a:headEnd len="sm" w="sm" type="none"/>
              <a:tailEnd len="sm" w="sm" type="none"/>
            </a:ln>
          </a:left>
          <a:right>
            <a:ln cap="flat" cmpd="sng">
              <a:solidFill>
                <a:srgbClr val="808080"/>
              </a:solidFill>
              <a:prstDash val="solid"/>
              <a:round/>
              <a:headEnd len="sm" w="sm" type="none"/>
              <a:tailEnd len="sm" w="sm" type="none"/>
            </a:ln>
          </a:right>
          <a:top>
            <a:ln cap="flat" cmpd="sng">
              <a:solidFill>
                <a:srgbClr val="808080"/>
              </a:solidFill>
              <a:prstDash val="solid"/>
              <a:round/>
              <a:headEnd len="sm" w="sm" type="none"/>
              <a:tailEnd len="sm" w="sm" type="none"/>
            </a:ln>
          </a:top>
          <a:bottom>
            <a:ln cap="flat" cmpd="sng">
              <a:solidFill>
                <a:srgbClr val="808080"/>
              </a:solidFill>
              <a:prstDash val="solid"/>
              <a:round/>
              <a:headEnd len="sm" w="sm" type="none"/>
              <a:tailEnd len="sm" w="sm" type="none"/>
            </a:ln>
          </a:bottom>
          <a:insideH>
            <a:ln cap="flat" cmpd="sng">
              <a:solidFill>
                <a:srgbClr val="808080"/>
              </a:solidFill>
              <a:prstDash val="solid"/>
              <a:round/>
              <a:headEnd len="sm" w="sm" type="none"/>
              <a:tailEnd len="sm" w="sm" type="none"/>
            </a:ln>
          </a:insideH>
          <a:insideV>
            <a:ln cap="flat" cmpd="sng">
              <a:solidFill>
                <a:srgbClr val="80808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slide" Target="slides/slide2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11" Type="http://schemas.openxmlformats.org/officeDocument/2006/relationships/slide" Target="slides/slide4.xml"/><Relationship Id="rId33" Type="http://schemas.openxmlformats.org/officeDocument/2006/relationships/font" Target="fonts/GillSans-bold.fntdata"/><Relationship Id="rId10" Type="http://schemas.openxmlformats.org/officeDocument/2006/relationships/slide" Target="slides/slide3.xml"/><Relationship Id="rId32" Type="http://schemas.openxmlformats.org/officeDocument/2006/relationships/font" Target="fonts/GillSans-regular.fntdata"/><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g3ac6701cae4_1_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06" name="Google Shape;106;g3ac6701cae4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aba4479e26_0_1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3aba4479e26_0_1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3aba4479e26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3aba4479e26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aba4479e26_0_1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3aba4479e26_0_1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aba4479e26_0_1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3aba4479e26_0_1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3aba4479e26_0_1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0" name="Google Shape;170;g3aba4479e26_0_1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3aba4479e26_0_1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 name="Google Shape;183;g3aba4479e26_0_1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g3aba4479e26_0_2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g3aba4479e26_0_2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3aba4479e26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3aba4479e26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3aba4479e26_0_2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g3aba4479e26_0_2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0" name="Shape 210"/>
        <p:cNvGrpSpPr/>
        <p:nvPr/>
      </p:nvGrpSpPr>
      <p:grpSpPr>
        <a:xfrm>
          <a:off x="0" y="0"/>
          <a:ext cx="0" cy="0"/>
          <a:chOff x="0" y="0"/>
          <a:chExt cx="0" cy="0"/>
        </a:xfrm>
      </p:grpSpPr>
      <p:sp>
        <p:nvSpPr>
          <p:cNvPr id="211" name="Google Shape;211;g3aba4479e26_0_3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2" name="Google Shape;212;g3aba4479e26_0_3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3aba4479e26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7" name="Google Shape;217;g3aba4479e26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g3aba4479e26_0_2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3" name="Google Shape;223;g3aba4479e26_0_2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g3aba4479e26_0_1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9" name="Google Shape;229;g3aba4479e26_0_1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3aba4479e26_0_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3aba4479e26_0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3aba4479e26_0_2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3" name="Google Shape;243;g3aba4479e26_0_2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3aba4479e26_0_1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9" name="Google Shape;249;g3aba4479e26_0_1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3aba4479e26_0_1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6" name="Google Shape;256;g3aba4479e26_0_1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3aba4479e26_0_2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3" name="Google Shape;263;g3aba4479e26_0_2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3aba4479e26_0_1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9" name="Google Shape;269;g3aba4479e26_0_1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3" name="Shape 273"/>
        <p:cNvGrpSpPr/>
        <p:nvPr/>
      </p:nvGrpSpPr>
      <p:grpSpPr>
        <a:xfrm>
          <a:off x="0" y="0"/>
          <a:ext cx="0" cy="0"/>
          <a:chOff x="0" y="0"/>
          <a:chExt cx="0" cy="0"/>
        </a:xfrm>
      </p:grpSpPr>
      <p:sp>
        <p:nvSpPr>
          <p:cNvPr id="274" name="Google Shape;274;g3aba4479e26_0_1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5" name="Google Shape;275;g3aba4479e26_0_1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3ad450eb42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3ad450eb42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5" name="Shape 285"/>
        <p:cNvGrpSpPr/>
        <p:nvPr/>
      </p:nvGrpSpPr>
      <p:grpSpPr>
        <a:xfrm>
          <a:off x="0" y="0"/>
          <a:ext cx="0" cy="0"/>
          <a:chOff x="0" y="0"/>
          <a:chExt cx="0" cy="0"/>
        </a:xfrm>
      </p:grpSpPr>
      <p:sp>
        <p:nvSpPr>
          <p:cNvPr id="286" name="Google Shape;286;g3ac6701cae4_1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7" name="Google Shape;287;g3ac6701cae4_1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3aba4479e26_4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5" name="Google Shape;295;g3aba4479e26_4_6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58" name="Shape 58"/>
        <p:cNvGrpSpPr/>
        <p:nvPr/>
      </p:nvGrpSpPr>
      <p:grpSpPr>
        <a:xfrm>
          <a:off x="0" y="0"/>
          <a:ext cx="0" cy="0"/>
          <a:chOff x="0" y="0"/>
          <a:chExt cx="0" cy="0"/>
        </a:xfrm>
      </p:grpSpPr>
      <p:sp>
        <p:nvSpPr>
          <p:cNvPr id="59" name="Google Shape;59;p14"/>
          <p:cNvSpPr txBox="1"/>
          <p:nvPr>
            <p:ph type="title"/>
          </p:nvPr>
        </p:nvSpPr>
        <p:spPr>
          <a:xfrm>
            <a:off x="457200" y="702644"/>
            <a:ext cx="8229600" cy="64406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0" name="Google Shape;60;p14"/>
          <p:cNvSpPr txBox="1"/>
          <p:nvPr>
            <p:ph idx="1" type="body"/>
          </p:nvPr>
        </p:nvSpPr>
        <p:spPr>
          <a:xfrm>
            <a:off x="457200" y="1610179"/>
            <a:ext cx="8229600" cy="2984444"/>
          </a:xfrm>
          <a:prstGeom prst="rect">
            <a:avLst/>
          </a:prstGeom>
          <a:noFill/>
          <a:ln>
            <a:noFill/>
          </a:ln>
        </p:spPr>
        <p:txBody>
          <a:bodyPr anchorCtr="0" anchor="t" bIns="45700" lIns="91425" spcFirstLastPara="1" rIns="91425" wrap="square" tIns="45700">
            <a:normAutofit/>
          </a:bodyPr>
          <a:lstStyle>
            <a:lvl1pPr indent="-342900" lvl="0" marL="457200" algn="l">
              <a:lnSpc>
                <a:spcPct val="100000"/>
              </a:lnSpc>
              <a:spcBef>
                <a:spcPts val="360"/>
              </a:spcBef>
              <a:spcAft>
                <a:spcPts val="0"/>
              </a:spcAft>
              <a:buClr>
                <a:schemeClr val="dk1"/>
              </a:buClr>
              <a:buSzPts val="1800"/>
              <a:buChar char="•"/>
              <a:defRPr/>
            </a:lvl1pPr>
            <a:lvl2pPr indent="-342900" lvl="1" marL="914400" algn="l">
              <a:lnSpc>
                <a:spcPct val="100000"/>
              </a:lnSpc>
              <a:spcBef>
                <a:spcPts val="360"/>
              </a:spcBef>
              <a:spcAft>
                <a:spcPts val="0"/>
              </a:spcAft>
              <a:buClr>
                <a:schemeClr val="dk1"/>
              </a:buClr>
              <a:buSzPts val="1800"/>
              <a:buChar char="–"/>
              <a:defRPr/>
            </a:lvl2pPr>
            <a:lvl3pPr indent="-342900" lvl="2" marL="1371600" algn="l">
              <a:lnSpc>
                <a:spcPct val="100000"/>
              </a:lnSpc>
              <a:spcBef>
                <a:spcPts val="360"/>
              </a:spcBef>
              <a:spcAft>
                <a:spcPts val="0"/>
              </a:spcAft>
              <a:buClr>
                <a:schemeClr val="dk1"/>
              </a:buClr>
              <a:buSzPts val="1800"/>
              <a:buChar char="•"/>
              <a:defRPr/>
            </a:lvl3pPr>
            <a:lvl4pPr indent="-342900" lvl="3" marL="1828800" algn="l">
              <a:lnSpc>
                <a:spcPct val="100000"/>
              </a:lnSpc>
              <a:spcBef>
                <a:spcPts val="360"/>
              </a:spcBef>
              <a:spcAft>
                <a:spcPts val="0"/>
              </a:spcAft>
              <a:buClr>
                <a:schemeClr val="dk1"/>
              </a:buClr>
              <a:buSzPts val="1800"/>
              <a:buChar char="–"/>
              <a:defRPr/>
            </a:lvl4pPr>
            <a:lvl5pPr indent="-342900" lvl="4" marL="2286000" algn="l">
              <a:lnSpc>
                <a:spcPct val="100000"/>
              </a:lnSpc>
              <a:spcBef>
                <a:spcPts val="360"/>
              </a:spcBef>
              <a:spcAft>
                <a:spcPts val="0"/>
              </a:spcAft>
              <a:buClr>
                <a:schemeClr val="dk1"/>
              </a:buClr>
              <a:buSzPts val="1800"/>
              <a:buChar char="»"/>
              <a:defRPr/>
            </a:lvl5pPr>
            <a:lvl6pPr indent="-342900" lvl="5" marL="2743200" algn="l">
              <a:lnSpc>
                <a:spcPct val="100000"/>
              </a:lnSpc>
              <a:spcBef>
                <a:spcPts val="360"/>
              </a:spcBef>
              <a:spcAft>
                <a:spcPts val="0"/>
              </a:spcAft>
              <a:buClr>
                <a:schemeClr val="dk1"/>
              </a:buClr>
              <a:buSzPts val="1800"/>
              <a:buChar char="•"/>
              <a:defRPr/>
            </a:lvl6pPr>
            <a:lvl7pPr indent="-342900" lvl="6" marL="3200400" algn="l">
              <a:lnSpc>
                <a:spcPct val="100000"/>
              </a:lnSpc>
              <a:spcBef>
                <a:spcPts val="360"/>
              </a:spcBef>
              <a:spcAft>
                <a:spcPts val="0"/>
              </a:spcAft>
              <a:buClr>
                <a:schemeClr val="dk1"/>
              </a:buClr>
              <a:buSzPts val="1800"/>
              <a:buChar char="•"/>
              <a:defRPr/>
            </a:lvl7pPr>
            <a:lvl8pPr indent="-342900" lvl="7" marL="3657600" algn="l">
              <a:lnSpc>
                <a:spcPct val="100000"/>
              </a:lnSpc>
              <a:spcBef>
                <a:spcPts val="360"/>
              </a:spcBef>
              <a:spcAft>
                <a:spcPts val="0"/>
              </a:spcAft>
              <a:buClr>
                <a:schemeClr val="dk1"/>
              </a:buClr>
              <a:buSzPts val="1800"/>
              <a:buChar char="•"/>
              <a:defRPr/>
            </a:lvl8pPr>
            <a:lvl9pPr indent="-342900" lvl="8" marL="4114800" algn="l">
              <a:lnSpc>
                <a:spcPct val="100000"/>
              </a:lnSpc>
              <a:spcBef>
                <a:spcPts val="360"/>
              </a:spcBef>
              <a:spcAft>
                <a:spcPts val="0"/>
              </a:spcAft>
              <a:buClr>
                <a:schemeClr val="dk1"/>
              </a:buClr>
              <a:buSzPts val="1800"/>
              <a:buChar char="•"/>
              <a:defRPr/>
            </a:lvl9pPr>
          </a:lstStyle>
          <a:p/>
        </p:txBody>
      </p:sp>
      <p:sp>
        <p:nvSpPr>
          <p:cNvPr id="61" name="Google Shape;61;p14"/>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14"/>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63" name="Shape 63"/>
        <p:cNvGrpSpPr/>
        <p:nvPr/>
      </p:nvGrpSpPr>
      <p:grpSpPr>
        <a:xfrm>
          <a:off x="0" y="0"/>
          <a:ext cx="0" cy="0"/>
          <a:chOff x="0" y="0"/>
          <a:chExt cx="0" cy="0"/>
        </a:xfrm>
      </p:grpSpPr>
      <p:sp>
        <p:nvSpPr>
          <p:cNvPr id="64" name="Google Shape;64;p15"/>
          <p:cNvSpPr txBox="1"/>
          <p:nvPr>
            <p:ph type="ctrTitle"/>
          </p:nvPr>
        </p:nvSpPr>
        <p:spPr>
          <a:xfrm>
            <a:off x="685800" y="1597819"/>
            <a:ext cx="7772400" cy="1102519"/>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15"/>
          <p:cNvSpPr txBox="1"/>
          <p:nvPr>
            <p:ph idx="1" type="subTitle"/>
          </p:nvPr>
        </p:nvSpPr>
        <p:spPr>
          <a:xfrm>
            <a:off x="1371600" y="2914650"/>
            <a:ext cx="6400800" cy="1314450"/>
          </a:xfrm>
          <a:prstGeom prst="rect">
            <a:avLst/>
          </a:prstGeom>
          <a:noFill/>
          <a:ln>
            <a:noFill/>
          </a:ln>
        </p:spPr>
        <p:txBody>
          <a:bodyPr anchorCtr="0" anchor="t" bIns="45700" lIns="91425" spcFirstLastPara="1" rIns="91425" wrap="square" tIns="4570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p:txBody>
      </p:sp>
      <p:sp>
        <p:nvSpPr>
          <p:cNvPr id="66" name="Google Shape;66;p15"/>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5"/>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8" name="Shape 68"/>
        <p:cNvGrpSpPr/>
        <p:nvPr/>
      </p:nvGrpSpPr>
      <p:grpSpPr>
        <a:xfrm>
          <a:off x="0" y="0"/>
          <a:ext cx="0" cy="0"/>
          <a:chOff x="0" y="0"/>
          <a:chExt cx="0" cy="0"/>
        </a:xfrm>
      </p:grpSpPr>
      <p:sp>
        <p:nvSpPr>
          <p:cNvPr id="69" name="Google Shape;69;p16"/>
          <p:cNvSpPr txBox="1"/>
          <p:nvPr>
            <p:ph type="title"/>
          </p:nvPr>
        </p:nvSpPr>
        <p:spPr>
          <a:xfrm>
            <a:off x="722313" y="3305176"/>
            <a:ext cx="7772400" cy="1021556"/>
          </a:xfrm>
          <a:prstGeom prst="rect">
            <a:avLst/>
          </a:prstGeom>
          <a:noFill/>
          <a:ln>
            <a:noFill/>
          </a:ln>
        </p:spPr>
        <p:txBody>
          <a:bodyPr anchorCtr="0" anchor="t" bIns="45700" lIns="91425" spcFirstLastPara="1" rIns="91425" wrap="square" tIns="45700">
            <a:normAutofit/>
          </a:bodyPr>
          <a:lstStyle>
            <a:lvl1pPr lvl="0" algn="l">
              <a:lnSpc>
                <a:spcPct val="100000"/>
              </a:lnSpc>
              <a:spcBef>
                <a:spcPts val="0"/>
              </a:spcBef>
              <a:spcAft>
                <a:spcPts val="0"/>
              </a:spcAft>
              <a:buClr>
                <a:schemeClr val="dk1"/>
              </a:buClr>
              <a:buSzPts val="4000"/>
              <a:buFont typeface="Calibri"/>
              <a:buNone/>
              <a:defRPr b="1" sz="4000"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16"/>
          <p:cNvSpPr txBox="1"/>
          <p:nvPr>
            <p:ph idx="1" type="body"/>
          </p:nvPr>
        </p:nvSpPr>
        <p:spPr>
          <a:xfrm>
            <a:off x="722313" y="2180035"/>
            <a:ext cx="7772400" cy="1125140"/>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00"/>
              </a:spcBef>
              <a:spcAft>
                <a:spcPts val="0"/>
              </a:spcAft>
              <a:buClr>
                <a:srgbClr val="888888"/>
              </a:buClr>
              <a:buSzPts val="2000"/>
              <a:buNone/>
              <a:defRPr sz="2000">
                <a:solidFill>
                  <a:srgbClr val="888888"/>
                </a:solidFill>
              </a:defRPr>
            </a:lvl1pPr>
            <a:lvl2pPr indent="-228600" lvl="1" marL="914400" algn="l">
              <a:lnSpc>
                <a:spcPct val="100000"/>
              </a:lnSpc>
              <a:spcBef>
                <a:spcPts val="360"/>
              </a:spcBef>
              <a:spcAft>
                <a:spcPts val="0"/>
              </a:spcAft>
              <a:buClr>
                <a:srgbClr val="888888"/>
              </a:buClr>
              <a:buSzPts val="1800"/>
              <a:buNone/>
              <a:defRPr sz="1800">
                <a:solidFill>
                  <a:srgbClr val="888888"/>
                </a:solidFill>
              </a:defRPr>
            </a:lvl2pPr>
            <a:lvl3pPr indent="-228600" lvl="2" marL="1371600" algn="l">
              <a:lnSpc>
                <a:spcPct val="100000"/>
              </a:lnSpc>
              <a:spcBef>
                <a:spcPts val="320"/>
              </a:spcBef>
              <a:spcAft>
                <a:spcPts val="0"/>
              </a:spcAft>
              <a:buClr>
                <a:srgbClr val="888888"/>
              </a:buClr>
              <a:buSzPts val="1600"/>
              <a:buNone/>
              <a:defRPr sz="1600">
                <a:solidFill>
                  <a:srgbClr val="888888"/>
                </a:solidFill>
              </a:defRPr>
            </a:lvl3pPr>
            <a:lvl4pPr indent="-228600" lvl="3" marL="1828800" algn="l">
              <a:lnSpc>
                <a:spcPct val="100000"/>
              </a:lnSpc>
              <a:spcBef>
                <a:spcPts val="280"/>
              </a:spcBef>
              <a:spcAft>
                <a:spcPts val="0"/>
              </a:spcAft>
              <a:buClr>
                <a:srgbClr val="888888"/>
              </a:buClr>
              <a:buSzPts val="1400"/>
              <a:buNone/>
              <a:defRPr sz="1400">
                <a:solidFill>
                  <a:srgbClr val="888888"/>
                </a:solidFill>
              </a:defRPr>
            </a:lvl4pPr>
            <a:lvl5pPr indent="-228600" lvl="4" marL="2286000" algn="l">
              <a:lnSpc>
                <a:spcPct val="100000"/>
              </a:lnSpc>
              <a:spcBef>
                <a:spcPts val="280"/>
              </a:spcBef>
              <a:spcAft>
                <a:spcPts val="0"/>
              </a:spcAft>
              <a:buClr>
                <a:srgbClr val="888888"/>
              </a:buClr>
              <a:buSzPts val="1400"/>
              <a:buNone/>
              <a:defRPr sz="1400">
                <a:solidFill>
                  <a:srgbClr val="888888"/>
                </a:solidFill>
              </a:defRPr>
            </a:lvl5pPr>
            <a:lvl6pPr indent="-228600" lvl="5" marL="2743200" algn="l">
              <a:lnSpc>
                <a:spcPct val="100000"/>
              </a:lnSpc>
              <a:spcBef>
                <a:spcPts val="280"/>
              </a:spcBef>
              <a:spcAft>
                <a:spcPts val="0"/>
              </a:spcAft>
              <a:buClr>
                <a:srgbClr val="888888"/>
              </a:buClr>
              <a:buSzPts val="1400"/>
              <a:buNone/>
              <a:defRPr sz="1400">
                <a:solidFill>
                  <a:srgbClr val="888888"/>
                </a:solidFill>
              </a:defRPr>
            </a:lvl6pPr>
            <a:lvl7pPr indent="-228600" lvl="6" marL="3200400" algn="l">
              <a:lnSpc>
                <a:spcPct val="100000"/>
              </a:lnSpc>
              <a:spcBef>
                <a:spcPts val="280"/>
              </a:spcBef>
              <a:spcAft>
                <a:spcPts val="0"/>
              </a:spcAft>
              <a:buClr>
                <a:srgbClr val="888888"/>
              </a:buClr>
              <a:buSzPts val="1400"/>
              <a:buNone/>
              <a:defRPr sz="1400">
                <a:solidFill>
                  <a:srgbClr val="888888"/>
                </a:solidFill>
              </a:defRPr>
            </a:lvl7pPr>
            <a:lvl8pPr indent="-228600" lvl="7" marL="3657600" algn="l">
              <a:lnSpc>
                <a:spcPct val="100000"/>
              </a:lnSpc>
              <a:spcBef>
                <a:spcPts val="280"/>
              </a:spcBef>
              <a:spcAft>
                <a:spcPts val="0"/>
              </a:spcAft>
              <a:buClr>
                <a:srgbClr val="888888"/>
              </a:buClr>
              <a:buSzPts val="1400"/>
              <a:buNone/>
              <a:defRPr sz="1400">
                <a:solidFill>
                  <a:srgbClr val="888888"/>
                </a:solidFill>
              </a:defRPr>
            </a:lvl8pPr>
            <a:lvl9pPr indent="-228600" lvl="8" marL="4114800" algn="l">
              <a:lnSpc>
                <a:spcPct val="100000"/>
              </a:lnSpc>
              <a:spcBef>
                <a:spcPts val="280"/>
              </a:spcBef>
              <a:spcAft>
                <a:spcPts val="0"/>
              </a:spcAft>
              <a:buClr>
                <a:srgbClr val="888888"/>
              </a:buClr>
              <a:buSzPts val="1400"/>
              <a:buNone/>
              <a:defRPr sz="1400">
                <a:solidFill>
                  <a:srgbClr val="888888"/>
                </a:solidFill>
              </a:defRPr>
            </a:lvl9pPr>
          </a:lstStyle>
          <a:p/>
        </p:txBody>
      </p:sp>
      <p:sp>
        <p:nvSpPr>
          <p:cNvPr id="71" name="Google Shape;71;p16"/>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16"/>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73" name="Shape 73"/>
        <p:cNvGrpSpPr/>
        <p:nvPr/>
      </p:nvGrpSpPr>
      <p:grpSpPr>
        <a:xfrm>
          <a:off x="0" y="0"/>
          <a:ext cx="0" cy="0"/>
          <a:chOff x="0" y="0"/>
          <a:chExt cx="0" cy="0"/>
        </a:xfrm>
      </p:grpSpPr>
      <p:sp>
        <p:nvSpPr>
          <p:cNvPr id="74" name="Google Shape;74;p17"/>
          <p:cNvSpPr txBox="1"/>
          <p:nvPr>
            <p:ph type="title"/>
          </p:nvPr>
        </p:nvSpPr>
        <p:spPr>
          <a:xfrm>
            <a:off x="457200" y="702644"/>
            <a:ext cx="8229600" cy="64406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17"/>
          <p:cNvSpPr txBox="1"/>
          <p:nvPr>
            <p:ph idx="1" type="body"/>
          </p:nvPr>
        </p:nvSpPr>
        <p:spPr>
          <a:xfrm>
            <a:off x="457200" y="1451426"/>
            <a:ext cx="4038600" cy="3173395"/>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76" name="Google Shape;76;p17"/>
          <p:cNvSpPr txBox="1"/>
          <p:nvPr>
            <p:ph idx="2" type="body"/>
          </p:nvPr>
        </p:nvSpPr>
        <p:spPr>
          <a:xfrm>
            <a:off x="4648200" y="1451426"/>
            <a:ext cx="4038600" cy="3173395"/>
          </a:xfrm>
          <a:prstGeom prst="rect">
            <a:avLst/>
          </a:prstGeom>
          <a:noFill/>
          <a:ln>
            <a:noFill/>
          </a:ln>
        </p:spPr>
        <p:txBody>
          <a:bodyPr anchorCtr="0" anchor="t" bIns="45700" lIns="91425" spcFirstLastPara="1" rIns="91425" wrap="square" tIns="45700">
            <a:normAutofit/>
          </a:bodyPr>
          <a:lstStyle>
            <a:lvl1pPr indent="-406400" lvl="0" marL="457200" algn="l">
              <a:lnSpc>
                <a:spcPct val="100000"/>
              </a:lnSpc>
              <a:spcBef>
                <a:spcPts val="560"/>
              </a:spcBef>
              <a:spcAft>
                <a:spcPts val="0"/>
              </a:spcAft>
              <a:buClr>
                <a:schemeClr val="dk1"/>
              </a:buClr>
              <a:buSzPts val="2800"/>
              <a:buChar char="•"/>
              <a:defRPr sz="2800"/>
            </a:lvl1pPr>
            <a:lvl2pPr indent="-381000" lvl="1" marL="914400" algn="l">
              <a:lnSpc>
                <a:spcPct val="100000"/>
              </a:lnSpc>
              <a:spcBef>
                <a:spcPts val="480"/>
              </a:spcBef>
              <a:spcAft>
                <a:spcPts val="0"/>
              </a:spcAft>
              <a:buClr>
                <a:schemeClr val="dk1"/>
              </a:buClr>
              <a:buSzPts val="2400"/>
              <a:buChar char="–"/>
              <a:defRPr sz="2400"/>
            </a:lvl2pPr>
            <a:lvl3pPr indent="-355600" lvl="2" marL="1371600" algn="l">
              <a:lnSpc>
                <a:spcPct val="100000"/>
              </a:lnSpc>
              <a:spcBef>
                <a:spcPts val="400"/>
              </a:spcBef>
              <a:spcAft>
                <a:spcPts val="0"/>
              </a:spcAft>
              <a:buClr>
                <a:schemeClr val="dk1"/>
              </a:buClr>
              <a:buSzPts val="2000"/>
              <a:buChar char="•"/>
              <a:defRPr sz="2000"/>
            </a:lvl3pPr>
            <a:lvl4pPr indent="-342900" lvl="3" marL="1828800" algn="l">
              <a:lnSpc>
                <a:spcPct val="100000"/>
              </a:lnSpc>
              <a:spcBef>
                <a:spcPts val="360"/>
              </a:spcBef>
              <a:spcAft>
                <a:spcPts val="0"/>
              </a:spcAft>
              <a:buClr>
                <a:schemeClr val="dk1"/>
              </a:buClr>
              <a:buSzPts val="1800"/>
              <a:buChar char="–"/>
              <a:defRPr sz="1800"/>
            </a:lvl4pPr>
            <a:lvl5pPr indent="-342900" lvl="4" marL="2286000" algn="l">
              <a:lnSpc>
                <a:spcPct val="100000"/>
              </a:lnSpc>
              <a:spcBef>
                <a:spcPts val="360"/>
              </a:spcBef>
              <a:spcAft>
                <a:spcPts val="0"/>
              </a:spcAft>
              <a:buClr>
                <a:schemeClr val="dk1"/>
              </a:buClr>
              <a:buSzPts val="1800"/>
              <a:buChar char="»"/>
              <a:defRPr sz="1800"/>
            </a:lvl5pPr>
            <a:lvl6pPr indent="-342900" lvl="5" marL="2743200" algn="l">
              <a:lnSpc>
                <a:spcPct val="100000"/>
              </a:lnSpc>
              <a:spcBef>
                <a:spcPts val="360"/>
              </a:spcBef>
              <a:spcAft>
                <a:spcPts val="0"/>
              </a:spcAft>
              <a:buClr>
                <a:schemeClr val="dk1"/>
              </a:buClr>
              <a:buSzPts val="1800"/>
              <a:buChar char="•"/>
              <a:defRPr sz="1800"/>
            </a:lvl6pPr>
            <a:lvl7pPr indent="-342900" lvl="6" marL="3200400" algn="l">
              <a:lnSpc>
                <a:spcPct val="100000"/>
              </a:lnSpc>
              <a:spcBef>
                <a:spcPts val="360"/>
              </a:spcBef>
              <a:spcAft>
                <a:spcPts val="0"/>
              </a:spcAft>
              <a:buClr>
                <a:schemeClr val="dk1"/>
              </a:buClr>
              <a:buSzPts val="1800"/>
              <a:buChar char="•"/>
              <a:defRPr sz="1800"/>
            </a:lvl7pPr>
            <a:lvl8pPr indent="-342900" lvl="7" marL="3657600" algn="l">
              <a:lnSpc>
                <a:spcPct val="100000"/>
              </a:lnSpc>
              <a:spcBef>
                <a:spcPts val="360"/>
              </a:spcBef>
              <a:spcAft>
                <a:spcPts val="0"/>
              </a:spcAft>
              <a:buClr>
                <a:schemeClr val="dk1"/>
              </a:buClr>
              <a:buSzPts val="1800"/>
              <a:buChar char="•"/>
              <a:defRPr sz="1800"/>
            </a:lvl8pPr>
            <a:lvl9pPr indent="-342900" lvl="8" marL="4114800" algn="l">
              <a:lnSpc>
                <a:spcPct val="100000"/>
              </a:lnSpc>
              <a:spcBef>
                <a:spcPts val="360"/>
              </a:spcBef>
              <a:spcAft>
                <a:spcPts val="0"/>
              </a:spcAft>
              <a:buClr>
                <a:schemeClr val="dk1"/>
              </a:buClr>
              <a:buSzPts val="1800"/>
              <a:buChar char="•"/>
              <a:defRPr sz="1800"/>
            </a:lvl9pPr>
          </a:lstStyle>
          <a:p/>
        </p:txBody>
      </p:sp>
      <p:sp>
        <p:nvSpPr>
          <p:cNvPr id="77" name="Google Shape;77;p17"/>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17"/>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79" name="Shape 79"/>
        <p:cNvGrpSpPr/>
        <p:nvPr/>
      </p:nvGrpSpPr>
      <p:grpSpPr>
        <a:xfrm>
          <a:off x="0" y="0"/>
          <a:ext cx="0" cy="0"/>
          <a:chOff x="0" y="0"/>
          <a:chExt cx="0" cy="0"/>
        </a:xfrm>
      </p:grpSpPr>
      <p:sp>
        <p:nvSpPr>
          <p:cNvPr id="80" name="Google Shape;80;p18"/>
          <p:cNvSpPr txBox="1"/>
          <p:nvPr>
            <p:ph type="title"/>
          </p:nvPr>
        </p:nvSpPr>
        <p:spPr>
          <a:xfrm>
            <a:off x="457200" y="702644"/>
            <a:ext cx="8229600" cy="64406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1" name="Google Shape;81;p18"/>
          <p:cNvSpPr txBox="1"/>
          <p:nvPr>
            <p:ph idx="1" type="body"/>
          </p:nvPr>
        </p:nvSpPr>
        <p:spPr>
          <a:xfrm>
            <a:off x="457199" y="1397255"/>
            <a:ext cx="4040188" cy="43620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82" name="Google Shape;82;p18"/>
          <p:cNvSpPr txBox="1"/>
          <p:nvPr>
            <p:ph idx="2" type="body"/>
          </p:nvPr>
        </p:nvSpPr>
        <p:spPr>
          <a:xfrm>
            <a:off x="457199" y="1989969"/>
            <a:ext cx="4040188" cy="2694060"/>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83" name="Google Shape;83;p18"/>
          <p:cNvSpPr txBox="1"/>
          <p:nvPr>
            <p:ph idx="3" type="body"/>
          </p:nvPr>
        </p:nvSpPr>
        <p:spPr>
          <a:xfrm>
            <a:off x="4645025" y="1397255"/>
            <a:ext cx="4041775" cy="436202"/>
          </a:xfrm>
          <a:prstGeom prst="rect">
            <a:avLst/>
          </a:prstGeom>
          <a:noFill/>
          <a:ln>
            <a:noFill/>
          </a:ln>
        </p:spPr>
        <p:txBody>
          <a:bodyPr anchorCtr="0" anchor="b" bIns="45700" lIns="91425" spcFirstLastPara="1" rIns="91425" wrap="square" tIns="45700">
            <a:normAutofit/>
          </a:bodyPr>
          <a:lstStyle>
            <a:lvl1pPr indent="-228600" lvl="0" marL="457200" algn="l">
              <a:lnSpc>
                <a:spcPct val="100000"/>
              </a:lnSpc>
              <a:spcBef>
                <a:spcPts val="480"/>
              </a:spcBef>
              <a:spcAft>
                <a:spcPts val="0"/>
              </a:spcAft>
              <a:buClr>
                <a:schemeClr val="dk1"/>
              </a:buClr>
              <a:buSzPts val="2400"/>
              <a:buNone/>
              <a:defRPr b="1" sz="2400"/>
            </a:lvl1pPr>
            <a:lvl2pPr indent="-228600" lvl="1" marL="914400" algn="l">
              <a:lnSpc>
                <a:spcPct val="100000"/>
              </a:lnSpc>
              <a:spcBef>
                <a:spcPts val="400"/>
              </a:spcBef>
              <a:spcAft>
                <a:spcPts val="0"/>
              </a:spcAft>
              <a:buClr>
                <a:schemeClr val="dk1"/>
              </a:buClr>
              <a:buSzPts val="2000"/>
              <a:buNone/>
              <a:defRPr b="1" sz="2000"/>
            </a:lvl2pPr>
            <a:lvl3pPr indent="-228600" lvl="2" marL="1371600" algn="l">
              <a:lnSpc>
                <a:spcPct val="100000"/>
              </a:lnSpc>
              <a:spcBef>
                <a:spcPts val="360"/>
              </a:spcBef>
              <a:spcAft>
                <a:spcPts val="0"/>
              </a:spcAft>
              <a:buClr>
                <a:schemeClr val="dk1"/>
              </a:buClr>
              <a:buSzPts val="1800"/>
              <a:buNone/>
              <a:defRPr b="1" sz="1800"/>
            </a:lvl3pPr>
            <a:lvl4pPr indent="-228600" lvl="3" marL="1828800" algn="l">
              <a:lnSpc>
                <a:spcPct val="100000"/>
              </a:lnSpc>
              <a:spcBef>
                <a:spcPts val="320"/>
              </a:spcBef>
              <a:spcAft>
                <a:spcPts val="0"/>
              </a:spcAft>
              <a:buClr>
                <a:schemeClr val="dk1"/>
              </a:buClr>
              <a:buSzPts val="1600"/>
              <a:buNone/>
              <a:defRPr b="1" sz="1600"/>
            </a:lvl4pPr>
            <a:lvl5pPr indent="-228600" lvl="4" marL="2286000" algn="l">
              <a:lnSpc>
                <a:spcPct val="100000"/>
              </a:lnSpc>
              <a:spcBef>
                <a:spcPts val="320"/>
              </a:spcBef>
              <a:spcAft>
                <a:spcPts val="0"/>
              </a:spcAft>
              <a:buClr>
                <a:schemeClr val="dk1"/>
              </a:buClr>
              <a:buSzPts val="1600"/>
              <a:buNone/>
              <a:defRPr b="1" sz="1600"/>
            </a:lvl5pPr>
            <a:lvl6pPr indent="-228600" lvl="5" marL="2743200" algn="l">
              <a:lnSpc>
                <a:spcPct val="100000"/>
              </a:lnSpc>
              <a:spcBef>
                <a:spcPts val="320"/>
              </a:spcBef>
              <a:spcAft>
                <a:spcPts val="0"/>
              </a:spcAft>
              <a:buClr>
                <a:schemeClr val="dk1"/>
              </a:buClr>
              <a:buSzPts val="1600"/>
              <a:buNone/>
              <a:defRPr b="1" sz="1600"/>
            </a:lvl6pPr>
            <a:lvl7pPr indent="-228600" lvl="6" marL="3200400" algn="l">
              <a:lnSpc>
                <a:spcPct val="100000"/>
              </a:lnSpc>
              <a:spcBef>
                <a:spcPts val="320"/>
              </a:spcBef>
              <a:spcAft>
                <a:spcPts val="0"/>
              </a:spcAft>
              <a:buClr>
                <a:schemeClr val="dk1"/>
              </a:buClr>
              <a:buSzPts val="1600"/>
              <a:buNone/>
              <a:defRPr b="1" sz="1600"/>
            </a:lvl7pPr>
            <a:lvl8pPr indent="-228600" lvl="7" marL="3657600" algn="l">
              <a:lnSpc>
                <a:spcPct val="100000"/>
              </a:lnSpc>
              <a:spcBef>
                <a:spcPts val="320"/>
              </a:spcBef>
              <a:spcAft>
                <a:spcPts val="0"/>
              </a:spcAft>
              <a:buClr>
                <a:schemeClr val="dk1"/>
              </a:buClr>
              <a:buSzPts val="1600"/>
              <a:buNone/>
              <a:defRPr b="1" sz="1600"/>
            </a:lvl8pPr>
            <a:lvl9pPr indent="-228600" lvl="8" marL="4114800" algn="l">
              <a:lnSpc>
                <a:spcPct val="100000"/>
              </a:lnSpc>
              <a:spcBef>
                <a:spcPts val="320"/>
              </a:spcBef>
              <a:spcAft>
                <a:spcPts val="0"/>
              </a:spcAft>
              <a:buClr>
                <a:schemeClr val="dk1"/>
              </a:buClr>
              <a:buSzPts val="1600"/>
              <a:buNone/>
              <a:defRPr b="1" sz="1600"/>
            </a:lvl9pPr>
          </a:lstStyle>
          <a:p/>
        </p:txBody>
      </p:sp>
      <p:sp>
        <p:nvSpPr>
          <p:cNvPr id="84" name="Google Shape;84;p18"/>
          <p:cNvSpPr txBox="1"/>
          <p:nvPr>
            <p:ph idx="4" type="body"/>
          </p:nvPr>
        </p:nvSpPr>
        <p:spPr>
          <a:xfrm>
            <a:off x="4645025" y="1989969"/>
            <a:ext cx="4041775" cy="2694060"/>
          </a:xfrm>
          <a:prstGeom prst="rect">
            <a:avLst/>
          </a:prstGeom>
          <a:noFill/>
          <a:ln>
            <a:noFill/>
          </a:ln>
        </p:spPr>
        <p:txBody>
          <a:bodyPr anchorCtr="0" anchor="t" bIns="45700" lIns="91425" spcFirstLastPara="1" rIns="91425" wrap="square" tIns="45700">
            <a:normAutofit/>
          </a:bodyPr>
          <a:lstStyle>
            <a:lvl1pPr indent="-381000" lvl="0" marL="457200" algn="l">
              <a:lnSpc>
                <a:spcPct val="100000"/>
              </a:lnSpc>
              <a:spcBef>
                <a:spcPts val="480"/>
              </a:spcBef>
              <a:spcAft>
                <a:spcPts val="0"/>
              </a:spcAft>
              <a:buClr>
                <a:schemeClr val="dk1"/>
              </a:buClr>
              <a:buSzPts val="2400"/>
              <a:buChar char="•"/>
              <a:defRPr sz="2400"/>
            </a:lvl1pPr>
            <a:lvl2pPr indent="-355600" lvl="1" marL="914400" algn="l">
              <a:lnSpc>
                <a:spcPct val="100000"/>
              </a:lnSpc>
              <a:spcBef>
                <a:spcPts val="400"/>
              </a:spcBef>
              <a:spcAft>
                <a:spcPts val="0"/>
              </a:spcAft>
              <a:buClr>
                <a:schemeClr val="dk1"/>
              </a:buClr>
              <a:buSzPts val="2000"/>
              <a:buChar char="–"/>
              <a:defRPr sz="2000"/>
            </a:lvl2pPr>
            <a:lvl3pPr indent="-342900" lvl="2" marL="1371600" algn="l">
              <a:lnSpc>
                <a:spcPct val="100000"/>
              </a:lnSpc>
              <a:spcBef>
                <a:spcPts val="360"/>
              </a:spcBef>
              <a:spcAft>
                <a:spcPts val="0"/>
              </a:spcAft>
              <a:buClr>
                <a:schemeClr val="dk1"/>
              </a:buClr>
              <a:buSzPts val="1800"/>
              <a:buChar char="•"/>
              <a:defRPr sz="1800"/>
            </a:lvl3pPr>
            <a:lvl4pPr indent="-330200" lvl="3" marL="1828800" algn="l">
              <a:lnSpc>
                <a:spcPct val="100000"/>
              </a:lnSpc>
              <a:spcBef>
                <a:spcPts val="320"/>
              </a:spcBef>
              <a:spcAft>
                <a:spcPts val="0"/>
              </a:spcAft>
              <a:buClr>
                <a:schemeClr val="dk1"/>
              </a:buClr>
              <a:buSzPts val="1600"/>
              <a:buChar char="–"/>
              <a:defRPr sz="1600"/>
            </a:lvl4pPr>
            <a:lvl5pPr indent="-330200" lvl="4" marL="2286000" algn="l">
              <a:lnSpc>
                <a:spcPct val="100000"/>
              </a:lnSpc>
              <a:spcBef>
                <a:spcPts val="320"/>
              </a:spcBef>
              <a:spcAft>
                <a:spcPts val="0"/>
              </a:spcAft>
              <a:buClr>
                <a:schemeClr val="dk1"/>
              </a:buClr>
              <a:buSzPts val="1600"/>
              <a:buChar char="»"/>
              <a:defRPr sz="1600"/>
            </a:lvl5pPr>
            <a:lvl6pPr indent="-330200" lvl="5" marL="2743200" algn="l">
              <a:lnSpc>
                <a:spcPct val="100000"/>
              </a:lnSpc>
              <a:spcBef>
                <a:spcPts val="320"/>
              </a:spcBef>
              <a:spcAft>
                <a:spcPts val="0"/>
              </a:spcAft>
              <a:buClr>
                <a:schemeClr val="dk1"/>
              </a:buClr>
              <a:buSzPts val="1600"/>
              <a:buChar char="•"/>
              <a:defRPr sz="1600"/>
            </a:lvl6pPr>
            <a:lvl7pPr indent="-330200" lvl="6" marL="3200400" algn="l">
              <a:lnSpc>
                <a:spcPct val="100000"/>
              </a:lnSpc>
              <a:spcBef>
                <a:spcPts val="320"/>
              </a:spcBef>
              <a:spcAft>
                <a:spcPts val="0"/>
              </a:spcAft>
              <a:buClr>
                <a:schemeClr val="dk1"/>
              </a:buClr>
              <a:buSzPts val="1600"/>
              <a:buChar char="•"/>
              <a:defRPr sz="1600"/>
            </a:lvl7pPr>
            <a:lvl8pPr indent="-330200" lvl="7" marL="3657600" algn="l">
              <a:lnSpc>
                <a:spcPct val="100000"/>
              </a:lnSpc>
              <a:spcBef>
                <a:spcPts val="320"/>
              </a:spcBef>
              <a:spcAft>
                <a:spcPts val="0"/>
              </a:spcAft>
              <a:buClr>
                <a:schemeClr val="dk1"/>
              </a:buClr>
              <a:buSzPts val="1600"/>
              <a:buChar char="•"/>
              <a:defRPr sz="1600"/>
            </a:lvl8pPr>
            <a:lvl9pPr indent="-330200" lvl="8" marL="4114800" algn="l">
              <a:lnSpc>
                <a:spcPct val="100000"/>
              </a:lnSpc>
              <a:spcBef>
                <a:spcPts val="320"/>
              </a:spcBef>
              <a:spcAft>
                <a:spcPts val="0"/>
              </a:spcAft>
              <a:buClr>
                <a:schemeClr val="dk1"/>
              </a:buClr>
              <a:buSzPts val="1600"/>
              <a:buChar char="•"/>
              <a:defRPr sz="1600"/>
            </a:lvl9pPr>
          </a:lstStyle>
          <a:p/>
        </p:txBody>
      </p:sp>
      <p:sp>
        <p:nvSpPr>
          <p:cNvPr id="85" name="Google Shape;85;p18"/>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6" name="Google Shape;86;p18"/>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87" name="Shape 87"/>
        <p:cNvGrpSpPr/>
        <p:nvPr/>
      </p:nvGrpSpPr>
      <p:grpSpPr>
        <a:xfrm>
          <a:off x="0" y="0"/>
          <a:ext cx="0" cy="0"/>
          <a:chOff x="0" y="0"/>
          <a:chExt cx="0" cy="0"/>
        </a:xfrm>
      </p:grpSpPr>
      <p:sp>
        <p:nvSpPr>
          <p:cNvPr id="88" name="Google Shape;88;p19"/>
          <p:cNvSpPr txBox="1"/>
          <p:nvPr>
            <p:ph type="title"/>
          </p:nvPr>
        </p:nvSpPr>
        <p:spPr>
          <a:xfrm>
            <a:off x="457200" y="702644"/>
            <a:ext cx="8229600" cy="644065"/>
          </a:xfrm>
          <a:prstGeom prst="rect">
            <a:avLst/>
          </a:prstGeom>
          <a:noFill/>
          <a:ln>
            <a:noFill/>
          </a:ln>
        </p:spPr>
        <p:txBody>
          <a:bodyPr anchorCtr="0" anchor="ctr" bIns="45700" lIns="91425" spcFirstLastPara="1" rIns="91425" wrap="square" tIns="4570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9" name="Google Shape;89;p19"/>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0" name="Google Shape;90;p19"/>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1" name="Shape 91"/>
        <p:cNvGrpSpPr/>
        <p:nvPr/>
      </p:nvGrpSpPr>
      <p:grpSpPr>
        <a:xfrm>
          <a:off x="0" y="0"/>
          <a:ext cx="0" cy="0"/>
          <a:chOff x="0" y="0"/>
          <a:chExt cx="0" cy="0"/>
        </a:xfrm>
      </p:grpSpPr>
      <p:sp>
        <p:nvSpPr>
          <p:cNvPr id="92" name="Google Shape;92;p20"/>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3" name="Google Shape;93;p20"/>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94" name="Shape 94"/>
        <p:cNvGrpSpPr/>
        <p:nvPr/>
      </p:nvGrpSpPr>
      <p:grpSpPr>
        <a:xfrm>
          <a:off x="0" y="0"/>
          <a:ext cx="0" cy="0"/>
          <a:chOff x="0" y="0"/>
          <a:chExt cx="0" cy="0"/>
        </a:xfrm>
      </p:grpSpPr>
      <p:sp>
        <p:nvSpPr>
          <p:cNvPr id="95" name="Google Shape;95;p21"/>
          <p:cNvSpPr txBox="1"/>
          <p:nvPr>
            <p:ph type="title"/>
          </p:nvPr>
        </p:nvSpPr>
        <p:spPr>
          <a:xfrm>
            <a:off x="457200" y="679122"/>
            <a:ext cx="3008313" cy="777366"/>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6" name="Google Shape;96;p21"/>
          <p:cNvSpPr txBox="1"/>
          <p:nvPr>
            <p:ph idx="1" type="body"/>
          </p:nvPr>
        </p:nvSpPr>
        <p:spPr>
          <a:xfrm>
            <a:off x="3575050" y="679122"/>
            <a:ext cx="5111750" cy="3915501"/>
          </a:xfrm>
          <a:prstGeom prst="rect">
            <a:avLst/>
          </a:prstGeom>
          <a:noFill/>
          <a:ln>
            <a:noFill/>
          </a:ln>
        </p:spPr>
        <p:txBody>
          <a:bodyPr anchorCtr="0" anchor="t" bIns="45700" lIns="91425" spcFirstLastPara="1" rIns="91425" wrap="square" tIns="45700">
            <a:normAutofit/>
          </a:bodyPr>
          <a:lstStyle>
            <a:lvl1pPr indent="-431800" lvl="0" marL="457200" algn="l">
              <a:lnSpc>
                <a:spcPct val="100000"/>
              </a:lnSpc>
              <a:spcBef>
                <a:spcPts val="640"/>
              </a:spcBef>
              <a:spcAft>
                <a:spcPts val="0"/>
              </a:spcAft>
              <a:buClr>
                <a:schemeClr val="dk1"/>
              </a:buClr>
              <a:buSzPts val="3200"/>
              <a:buChar char="•"/>
              <a:defRPr sz="3200"/>
            </a:lvl1pPr>
            <a:lvl2pPr indent="-406400" lvl="1" marL="914400" algn="l">
              <a:lnSpc>
                <a:spcPct val="100000"/>
              </a:lnSpc>
              <a:spcBef>
                <a:spcPts val="560"/>
              </a:spcBef>
              <a:spcAft>
                <a:spcPts val="0"/>
              </a:spcAft>
              <a:buClr>
                <a:schemeClr val="dk1"/>
              </a:buClr>
              <a:buSzPts val="2800"/>
              <a:buChar char="–"/>
              <a:defRPr sz="2800"/>
            </a:lvl2pPr>
            <a:lvl3pPr indent="-381000" lvl="2" marL="1371600" algn="l">
              <a:lnSpc>
                <a:spcPct val="100000"/>
              </a:lnSpc>
              <a:spcBef>
                <a:spcPts val="480"/>
              </a:spcBef>
              <a:spcAft>
                <a:spcPts val="0"/>
              </a:spcAft>
              <a:buClr>
                <a:schemeClr val="dk1"/>
              </a:buClr>
              <a:buSzPts val="2400"/>
              <a:buChar char="•"/>
              <a:defRPr sz="2400"/>
            </a:lvl3pPr>
            <a:lvl4pPr indent="-355600" lvl="3" marL="1828800" algn="l">
              <a:lnSpc>
                <a:spcPct val="100000"/>
              </a:lnSpc>
              <a:spcBef>
                <a:spcPts val="400"/>
              </a:spcBef>
              <a:spcAft>
                <a:spcPts val="0"/>
              </a:spcAft>
              <a:buClr>
                <a:schemeClr val="dk1"/>
              </a:buClr>
              <a:buSzPts val="2000"/>
              <a:buChar char="–"/>
              <a:defRPr sz="2000"/>
            </a:lvl4pPr>
            <a:lvl5pPr indent="-355600" lvl="4" marL="2286000" algn="l">
              <a:lnSpc>
                <a:spcPct val="100000"/>
              </a:lnSpc>
              <a:spcBef>
                <a:spcPts val="400"/>
              </a:spcBef>
              <a:spcAft>
                <a:spcPts val="0"/>
              </a:spcAft>
              <a:buClr>
                <a:schemeClr val="dk1"/>
              </a:buClr>
              <a:buSzPts val="2000"/>
              <a:buChar char="»"/>
              <a:defRPr sz="2000"/>
            </a:lvl5pPr>
            <a:lvl6pPr indent="-355600" lvl="5" marL="2743200" algn="l">
              <a:lnSpc>
                <a:spcPct val="100000"/>
              </a:lnSpc>
              <a:spcBef>
                <a:spcPts val="400"/>
              </a:spcBef>
              <a:spcAft>
                <a:spcPts val="0"/>
              </a:spcAft>
              <a:buClr>
                <a:schemeClr val="dk1"/>
              </a:buClr>
              <a:buSzPts val="2000"/>
              <a:buChar char="•"/>
              <a:defRPr sz="2000"/>
            </a:lvl6pPr>
            <a:lvl7pPr indent="-355600" lvl="6" marL="3200400" algn="l">
              <a:lnSpc>
                <a:spcPct val="100000"/>
              </a:lnSpc>
              <a:spcBef>
                <a:spcPts val="400"/>
              </a:spcBef>
              <a:spcAft>
                <a:spcPts val="0"/>
              </a:spcAft>
              <a:buClr>
                <a:schemeClr val="dk1"/>
              </a:buClr>
              <a:buSzPts val="2000"/>
              <a:buChar char="•"/>
              <a:defRPr sz="2000"/>
            </a:lvl7pPr>
            <a:lvl8pPr indent="-355600" lvl="7" marL="3657600" algn="l">
              <a:lnSpc>
                <a:spcPct val="100000"/>
              </a:lnSpc>
              <a:spcBef>
                <a:spcPts val="400"/>
              </a:spcBef>
              <a:spcAft>
                <a:spcPts val="0"/>
              </a:spcAft>
              <a:buClr>
                <a:schemeClr val="dk1"/>
              </a:buClr>
              <a:buSzPts val="2000"/>
              <a:buChar char="•"/>
              <a:defRPr sz="2000"/>
            </a:lvl8pPr>
            <a:lvl9pPr indent="-355600" lvl="8" marL="4114800" algn="l">
              <a:lnSpc>
                <a:spcPct val="100000"/>
              </a:lnSpc>
              <a:spcBef>
                <a:spcPts val="400"/>
              </a:spcBef>
              <a:spcAft>
                <a:spcPts val="0"/>
              </a:spcAft>
              <a:buClr>
                <a:schemeClr val="dk1"/>
              </a:buClr>
              <a:buSzPts val="2000"/>
              <a:buChar char="•"/>
              <a:defRPr sz="2000"/>
            </a:lvl9pPr>
          </a:lstStyle>
          <a:p/>
        </p:txBody>
      </p:sp>
      <p:sp>
        <p:nvSpPr>
          <p:cNvPr id="97" name="Google Shape;97;p21"/>
          <p:cNvSpPr txBox="1"/>
          <p:nvPr>
            <p:ph idx="2" type="body"/>
          </p:nvPr>
        </p:nvSpPr>
        <p:spPr>
          <a:xfrm>
            <a:off x="457201" y="1609519"/>
            <a:ext cx="3008313" cy="2985104"/>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
        <p:nvSpPr>
          <p:cNvPr id="98" name="Google Shape;98;p21"/>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9" name="Google Shape;99;p21"/>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00" name="Shape 100"/>
        <p:cNvGrpSpPr/>
        <p:nvPr/>
      </p:nvGrpSpPr>
      <p:grpSpPr>
        <a:xfrm>
          <a:off x="0" y="0"/>
          <a:ext cx="0" cy="0"/>
          <a:chOff x="0" y="0"/>
          <a:chExt cx="0" cy="0"/>
        </a:xfrm>
      </p:grpSpPr>
      <p:sp>
        <p:nvSpPr>
          <p:cNvPr id="101" name="Google Shape;101;p22"/>
          <p:cNvSpPr txBox="1"/>
          <p:nvPr>
            <p:ph type="title"/>
          </p:nvPr>
        </p:nvSpPr>
        <p:spPr>
          <a:xfrm>
            <a:off x="1792288" y="3858517"/>
            <a:ext cx="5486400" cy="425054"/>
          </a:xfrm>
          <a:prstGeom prst="rect">
            <a:avLst/>
          </a:prstGeom>
          <a:noFill/>
          <a:ln>
            <a:noFill/>
          </a:ln>
        </p:spPr>
        <p:txBody>
          <a:bodyPr anchorCtr="0" anchor="b" bIns="45700" lIns="91425" spcFirstLastPara="1" rIns="91425" wrap="square" tIns="45700">
            <a:normAutofit/>
          </a:bodyPr>
          <a:lstStyle>
            <a:lvl1pPr lvl="0" algn="l">
              <a:lnSpc>
                <a:spcPct val="100000"/>
              </a:lnSpc>
              <a:spcBef>
                <a:spcPts val="0"/>
              </a:spcBef>
              <a:spcAft>
                <a:spcPts val="0"/>
              </a:spcAft>
              <a:buClr>
                <a:schemeClr val="dk1"/>
              </a:buClr>
              <a:buSzPts val="2000"/>
              <a:buFont typeface="Calibri"/>
              <a:buNone/>
              <a:defRPr b="1" sz="2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2" name="Google Shape;102;p22"/>
          <p:cNvSpPr/>
          <p:nvPr>
            <p:ph idx="2" type="pic"/>
          </p:nvPr>
        </p:nvSpPr>
        <p:spPr>
          <a:xfrm>
            <a:off x="1792288" y="717648"/>
            <a:ext cx="5486400" cy="3086100"/>
          </a:xfrm>
          <a:prstGeom prst="rect">
            <a:avLst/>
          </a:prstGeom>
          <a:noFill/>
          <a:ln>
            <a:noFill/>
          </a:ln>
        </p:spPr>
      </p:sp>
      <p:sp>
        <p:nvSpPr>
          <p:cNvPr id="103" name="Google Shape;103;p22"/>
          <p:cNvSpPr txBox="1"/>
          <p:nvPr>
            <p:ph idx="1" type="body"/>
          </p:nvPr>
        </p:nvSpPr>
        <p:spPr>
          <a:xfrm>
            <a:off x="1792288" y="4283570"/>
            <a:ext cx="5486400" cy="603647"/>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280"/>
              </a:spcBef>
              <a:spcAft>
                <a:spcPts val="0"/>
              </a:spcAft>
              <a:buClr>
                <a:schemeClr val="dk1"/>
              </a:buClr>
              <a:buSzPts val="1400"/>
              <a:buNone/>
              <a:defRPr sz="1400"/>
            </a:lvl1pPr>
            <a:lvl2pPr indent="-228600" lvl="1" marL="914400" algn="l">
              <a:lnSpc>
                <a:spcPct val="100000"/>
              </a:lnSpc>
              <a:spcBef>
                <a:spcPts val="240"/>
              </a:spcBef>
              <a:spcAft>
                <a:spcPts val="0"/>
              </a:spcAft>
              <a:buClr>
                <a:schemeClr val="dk1"/>
              </a:buClr>
              <a:buSzPts val="1200"/>
              <a:buNone/>
              <a:defRPr sz="1200"/>
            </a:lvl2pPr>
            <a:lvl3pPr indent="-228600" lvl="2" marL="1371600" algn="l">
              <a:lnSpc>
                <a:spcPct val="100000"/>
              </a:lnSpc>
              <a:spcBef>
                <a:spcPts val="200"/>
              </a:spcBef>
              <a:spcAft>
                <a:spcPts val="0"/>
              </a:spcAft>
              <a:buClr>
                <a:schemeClr val="dk1"/>
              </a:buClr>
              <a:buSzPts val="1000"/>
              <a:buNone/>
              <a:defRPr sz="1000"/>
            </a:lvl3pPr>
            <a:lvl4pPr indent="-228600" lvl="3" marL="1828800" algn="l">
              <a:lnSpc>
                <a:spcPct val="100000"/>
              </a:lnSpc>
              <a:spcBef>
                <a:spcPts val="180"/>
              </a:spcBef>
              <a:spcAft>
                <a:spcPts val="0"/>
              </a:spcAft>
              <a:buClr>
                <a:schemeClr val="dk1"/>
              </a:buClr>
              <a:buSzPts val="900"/>
              <a:buNone/>
              <a:defRPr sz="900"/>
            </a:lvl4pPr>
            <a:lvl5pPr indent="-228600" lvl="4" marL="2286000" algn="l">
              <a:lnSpc>
                <a:spcPct val="100000"/>
              </a:lnSpc>
              <a:spcBef>
                <a:spcPts val="180"/>
              </a:spcBef>
              <a:spcAft>
                <a:spcPts val="0"/>
              </a:spcAft>
              <a:buClr>
                <a:schemeClr val="dk1"/>
              </a:buClr>
              <a:buSzPts val="900"/>
              <a:buNone/>
              <a:defRPr sz="900"/>
            </a:lvl5pPr>
            <a:lvl6pPr indent="-228600" lvl="5" marL="2743200" algn="l">
              <a:lnSpc>
                <a:spcPct val="100000"/>
              </a:lnSpc>
              <a:spcBef>
                <a:spcPts val="180"/>
              </a:spcBef>
              <a:spcAft>
                <a:spcPts val="0"/>
              </a:spcAft>
              <a:buClr>
                <a:schemeClr val="dk1"/>
              </a:buClr>
              <a:buSzPts val="900"/>
              <a:buNone/>
              <a:defRPr sz="900"/>
            </a:lvl6pPr>
            <a:lvl7pPr indent="-228600" lvl="6" marL="3200400" algn="l">
              <a:lnSpc>
                <a:spcPct val="100000"/>
              </a:lnSpc>
              <a:spcBef>
                <a:spcPts val="180"/>
              </a:spcBef>
              <a:spcAft>
                <a:spcPts val="0"/>
              </a:spcAft>
              <a:buClr>
                <a:schemeClr val="dk1"/>
              </a:buClr>
              <a:buSzPts val="900"/>
              <a:buNone/>
              <a:defRPr sz="900"/>
            </a:lvl7pPr>
            <a:lvl8pPr indent="-228600" lvl="7" marL="3657600" algn="l">
              <a:lnSpc>
                <a:spcPct val="100000"/>
              </a:lnSpc>
              <a:spcBef>
                <a:spcPts val="180"/>
              </a:spcBef>
              <a:spcAft>
                <a:spcPts val="0"/>
              </a:spcAft>
              <a:buClr>
                <a:schemeClr val="dk1"/>
              </a:buClr>
              <a:buSzPts val="900"/>
              <a:buNone/>
              <a:defRPr sz="900"/>
            </a:lvl8pPr>
            <a:lvl9pPr indent="-228600" lvl="8" marL="4114800" algn="l">
              <a:lnSpc>
                <a:spcPct val="100000"/>
              </a:lnSpc>
              <a:spcBef>
                <a:spcPts val="180"/>
              </a:spcBef>
              <a:spcAft>
                <a:spcPts val="0"/>
              </a:spcAft>
              <a:buClr>
                <a:schemeClr val="dk1"/>
              </a:buClr>
              <a:buSzPts val="900"/>
              <a:buNone/>
              <a:defRPr sz="900"/>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19.xml"/><Relationship Id="rId10" Type="http://schemas.openxmlformats.org/officeDocument/2006/relationships/slideLayout" Target="../slideLayouts/slideLayout18.xml"/><Relationship Id="rId13" Type="http://schemas.openxmlformats.org/officeDocument/2006/relationships/theme" Target="../theme/theme1.xml"/><Relationship Id="rId12" Type="http://schemas.openxmlformats.org/officeDocument/2006/relationships/slideLayout" Target="../slideLayouts/slideLayout20.xml"/><Relationship Id="rId1" Type="http://schemas.openxmlformats.org/officeDocument/2006/relationships/image" Target="../media/image3.png"/><Relationship Id="rId2" Type="http://schemas.openxmlformats.org/officeDocument/2006/relationships/image" Target="../media/image10.png"/><Relationship Id="rId3" Type="http://schemas.openxmlformats.org/officeDocument/2006/relationships/image" Target="../media/image8.png"/><Relationship Id="rId4" Type="http://schemas.openxmlformats.org/officeDocument/2006/relationships/slideLayout" Target="../slideLayouts/slideLayout12.xml"/><Relationship Id="rId9" Type="http://schemas.openxmlformats.org/officeDocument/2006/relationships/slideLayout" Target="../slideLayouts/slideLayout17.xml"/><Relationship Id="rId5" Type="http://schemas.openxmlformats.org/officeDocument/2006/relationships/slideLayout" Target="../slideLayouts/slideLayout13.xml"/><Relationship Id="rId6" Type="http://schemas.openxmlformats.org/officeDocument/2006/relationships/slideLayout" Target="../slideLayouts/slideLayout14.xml"/><Relationship Id="rId7" Type="http://schemas.openxmlformats.org/officeDocument/2006/relationships/slideLayout" Target="../slideLayouts/slideLayout15.xml"/><Relationship Id="rId8" Type="http://schemas.openxmlformats.org/officeDocument/2006/relationships/slideLayout" Target="../slideLayouts/slideLayout16.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457200" y="702644"/>
            <a:ext cx="8229600" cy="644065"/>
          </a:xfrm>
          <a:prstGeom prst="rect">
            <a:avLst/>
          </a:prstGeom>
          <a:noFill/>
          <a:ln>
            <a:noFill/>
          </a:ln>
        </p:spPr>
        <p:txBody>
          <a:bodyPr anchorCtr="0" anchor="ctr" bIns="45700" lIns="91425" spcFirstLastPara="1" rIns="91425" wrap="square" tIns="45700">
            <a:normAutofit/>
          </a:bodyPr>
          <a:lstStyle>
            <a:lvl1pPr lvl="0" marR="0" rtl="0" algn="ctr">
              <a:lnSpc>
                <a:spcPct val="10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2" name="Google Shape;52;p13"/>
          <p:cNvSpPr txBox="1"/>
          <p:nvPr>
            <p:ph idx="1" type="body"/>
          </p:nvPr>
        </p:nvSpPr>
        <p:spPr>
          <a:xfrm>
            <a:off x="457200" y="1610179"/>
            <a:ext cx="8229600" cy="2984444"/>
          </a:xfrm>
          <a:prstGeom prst="rect">
            <a:avLst/>
          </a:prstGeom>
          <a:noFill/>
          <a:ln>
            <a:noFill/>
          </a:ln>
        </p:spPr>
        <p:txBody>
          <a:bodyPr anchorCtr="0" anchor="t" bIns="45700" lIns="91425" spcFirstLastPara="1" rIns="91425" wrap="square" tIns="45700">
            <a:normAutofit/>
          </a:bodyPr>
          <a:lstStyle>
            <a:lvl1pPr indent="-431800" lvl="0" marL="457200" marR="0" rtl="0" algn="l">
              <a:lnSpc>
                <a:spcPct val="100000"/>
              </a:lnSpc>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100000"/>
              </a:lnSpc>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100000"/>
              </a:lnSpc>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10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53" name="Google Shape;53;p13"/>
          <p:cNvSpPr txBox="1"/>
          <p:nvPr>
            <p:ph idx="10" type="dt"/>
          </p:nvPr>
        </p:nvSpPr>
        <p:spPr>
          <a:xfrm>
            <a:off x="457200" y="4767263"/>
            <a:ext cx="2133600" cy="273844"/>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4" name="Google Shape;54;p13"/>
          <p:cNvSpPr txBox="1"/>
          <p:nvPr>
            <p:ph idx="11" type="ftr"/>
          </p:nvPr>
        </p:nvSpPr>
        <p:spPr>
          <a:xfrm>
            <a:off x="3124200" y="4767263"/>
            <a:ext cx="2895600" cy="273844"/>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pic>
        <p:nvPicPr>
          <p:cNvPr descr="MD-flag-background-ppt.png" id="55" name="Google Shape;55;p13"/>
          <p:cNvPicPr preferRelativeResize="0"/>
          <p:nvPr/>
        </p:nvPicPr>
        <p:blipFill rotWithShape="1">
          <a:blip r:embed="rId1">
            <a:alphaModFix/>
          </a:blip>
          <a:srcRect b="0" l="0" r="0" t="0"/>
          <a:stretch/>
        </p:blipFill>
        <p:spPr>
          <a:xfrm>
            <a:off x="0" y="0"/>
            <a:ext cx="9143999" cy="571500"/>
          </a:xfrm>
          <a:prstGeom prst="rect">
            <a:avLst/>
          </a:prstGeom>
          <a:noFill/>
          <a:ln>
            <a:noFill/>
          </a:ln>
        </p:spPr>
      </p:pic>
      <p:pic>
        <p:nvPicPr>
          <p:cNvPr descr="UMBC-primary-logo-CMYK-on-black.png" id="56" name="Google Shape;56;p13"/>
          <p:cNvPicPr preferRelativeResize="0"/>
          <p:nvPr/>
        </p:nvPicPr>
        <p:blipFill rotWithShape="1">
          <a:blip r:embed="rId2">
            <a:alphaModFix/>
          </a:blip>
          <a:srcRect b="0" l="0" r="0" t="0"/>
          <a:stretch/>
        </p:blipFill>
        <p:spPr>
          <a:xfrm>
            <a:off x="294287" y="86177"/>
            <a:ext cx="1749252" cy="402989"/>
          </a:xfrm>
          <a:prstGeom prst="rect">
            <a:avLst/>
          </a:prstGeom>
          <a:noFill/>
          <a:ln>
            <a:noFill/>
          </a:ln>
        </p:spPr>
      </p:pic>
      <p:pic>
        <p:nvPicPr>
          <p:cNvPr descr="corner-element.png" id="57" name="Google Shape;57;p13"/>
          <p:cNvPicPr preferRelativeResize="0"/>
          <p:nvPr/>
        </p:nvPicPr>
        <p:blipFill rotWithShape="1">
          <a:blip r:embed="rId3">
            <a:alphaModFix/>
          </a:blip>
          <a:srcRect b="0" l="0" r="0" t="0"/>
          <a:stretch/>
        </p:blipFill>
        <p:spPr>
          <a:xfrm>
            <a:off x="7919918" y="3901058"/>
            <a:ext cx="1224081" cy="1242442"/>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59" r:id="rId4"/>
    <p:sldLayoutId id="2147483660" r:id="rId5"/>
    <p:sldLayoutId id="2147483661" r:id="rId6"/>
    <p:sldLayoutId id="2147483662" r:id="rId7"/>
    <p:sldLayoutId id="2147483663" r:id="rId8"/>
    <p:sldLayoutId id="2147483664" r:id="rId9"/>
    <p:sldLayoutId id="2147483665" r:id="rId10"/>
    <p:sldLayoutId id="2147483666" r:id="rId11"/>
    <p:sldLayoutId id="2147483667"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9.png"/><Relationship Id="rId4" Type="http://schemas.openxmlformats.org/officeDocument/2006/relationships/image" Target="../media/image5.png"/><Relationship Id="rId5" Type="http://schemas.openxmlformats.org/officeDocument/2006/relationships/image" Target="../media/image2.png"/><Relationship Id="rId6"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 Id="rId3" Type="http://schemas.openxmlformats.org/officeDocument/2006/relationships/image" Target="../media/image13.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13.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 Id="rId3" Type="http://schemas.openxmlformats.org/officeDocument/2006/relationships/image" Target="../media/image7.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 Id="rId3" Type="http://schemas.openxmlformats.org/officeDocument/2006/relationships/hyperlink" Target="https://github.com/ChaturyaYarradoddi/UMBC_CP/tree/main" TargetMode="Externa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4.png"/><Relationship Id="rId4" Type="http://schemas.openxmlformats.org/officeDocument/2006/relationships/image" Target="../media/image12.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23"/>
          <p:cNvSpPr/>
          <p:nvPr/>
        </p:nvSpPr>
        <p:spPr>
          <a:xfrm>
            <a:off x="0" y="0"/>
            <a:ext cx="5530200" cy="5143500"/>
          </a:xfrm>
          <a:prstGeom prst="rect">
            <a:avLst/>
          </a:prstGeom>
          <a:solidFill>
            <a:srgbClr val="980000"/>
          </a:solidFill>
          <a:ln cap="flat" cmpd="sng" w="9525">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1200"/>
              </a:spcBef>
              <a:spcAft>
                <a:spcPts val="1200"/>
              </a:spcAft>
              <a:buClr>
                <a:schemeClr val="dk1"/>
              </a:buClr>
              <a:buSzPts val="1100"/>
              <a:buFont typeface="Arial"/>
              <a:buNone/>
            </a:pPr>
            <a:r>
              <a:t/>
            </a:r>
            <a:endParaRPr b="1" sz="3000">
              <a:solidFill>
                <a:schemeClr val="lt1"/>
              </a:solidFill>
              <a:latin typeface="Gill Sans"/>
              <a:ea typeface="Gill Sans"/>
              <a:cs typeface="Gill Sans"/>
              <a:sym typeface="Gill Sans"/>
            </a:endParaRPr>
          </a:p>
        </p:txBody>
      </p:sp>
      <p:pic>
        <p:nvPicPr>
          <p:cNvPr id="109" name="Google Shape;109;p23"/>
          <p:cNvPicPr preferRelativeResize="0"/>
          <p:nvPr/>
        </p:nvPicPr>
        <p:blipFill>
          <a:blip r:embed="rId3">
            <a:alphaModFix/>
          </a:blip>
          <a:stretch>
            <a:fillRect/>
          </a:stretch>
        </p:blipFill>
        <p:spPr>
          <a:xfrm>
            <a:off x="6165250" y="4462471"/>
            <a:ext cx="2978750" cy="681025"/>
          </a:xfrm>
          <a:prstGeom prst="rect">
            <a:avLst/>
          </a:prstGeom>
          <a:noFill/>
          <a:ln>
            <a:noFill/>
          </a:ln>
        </p:spPr>
      </p:pic>
      <p:cxnSp>
        <p:nvCxnSpPr>
          <p:cNvPr id="110" name="Google Shape;110;p23"/>
          <p:cNvCxnSpPr/>
          <p:nvPr/>
        </p:nvCxnSpPr>
        <p:spPr>
          <a:xfrm flipH="1" rot="10800000">
            <a:off x="0" y="2886825"/>
            <a:ext cx="4951800" cy="38400"/>
          </a:xfrm>
          <a:prstGeom prst="straightConnector1">
            <a:avLst/>
          </a:prstGeom>
          <a:noFill/>
          <a:ln cap="flat" cmpd="sng" w="28575">
            <a:solidFill>
              <a:srgbClr val="D9D9D9"/>
            </a:solidFill>
            <a:prstDash val="solid"/>
            <a:round/>
            <a:headEnd len="med" w="med" type="none"/>
            <a:tailEnd len="med" w="med" type="none"/>
          </a:ln>
        </p:spPr>
      </p:cxnSp>
      <p:sp>
        <p:nvSpPr>
          <p:cNvPr id="111" name="Google Shape;111;p23"/>
          <p:cNvSpPr txBox="1"/>
          <p:nvPr/>
        </p:nvSpPr>
        <p:spPr>
          <a:xfrm>
            <a:off x="0" y="889725"/>
            <a:ext cx="5797500" cy="1997100"/>
          </a:xfrm>
          <a:prstGeom prst="rect">
            <a:avLst/>
          </a:prstGeom>
          <a:noFill/>
          <a:ln>
            <a:noFill/>
          </a:ln>
        </p:spPr>
        <p:txBody>
          <a:bodyPr anchorCtr="0" anchor="ctr" bIns="68575" lIns="68575" spcFirstLastPara="1" rIns="68575" wrap="square" tIns="68575">
            <a:noAutofit/>
          </a:bodyPr>
          <a:lstStyle/>
          <a:p>
            <a:pPr indent="0" lvl="0" marL="0" marR="0" rtl="0" algn="l">
              <a:lnSpc>
                <a:spcPct val="115000"/>
              </a:lnSpc>
              <a:spcBef>
                <a:spcPts val="1200"/>
              </a:spcBef>
              <a:spcAft>
                <a:spcPts val="1200"/>
              </a:spcAft>
              <a:buClr>
                <a:srgbClr val="000000"/>
              </a:buClr>
              <a:buSzPts val="1100"/>
              <a:buFont typeface="Arial"/>
              <a:buNone/>
            </a:pPr>
            <a:r>
              <a:rPr b="1" i="0" lang="en" sz="2400" u="none" cap="none" strike="noStrike">
                <a:solidFill>
                  <a:srgbClr val="FFFFFF"/>
                </a:solidFill>
                <a:latin typeface="Gill Sans"/>
                <a:ea typeface="Gill Sans"/>
                <a:cs typeface="Gill Sans"/>
                <a:sym typeface="Gill Sans"/>
              </a:rPr>
              <a:t>The Impact of Financial Aid and Academic Pathways on Student Success</a:t>
            </a:r>
            <a:br>
              <a:rPr b="1" lang="en" sz="3000">
                <a:solidFill>
                  <a:srgbClr val="FFFFFF"/>
                </a:solidFill>
                <a:latin typeface="Gill Sans"/>
                <a:ea typeface="Gill Sans"/>
                <a:cs typeface="Gill Sans"/>
                <a:sym typeface="Gill Sans"/>
              </a:rPr>
            </a:br>
            <a:r>
              <a:rPr b="1" lang="en" sz="1700">
                <a:solidFill>
                  <a:schemeClr val="lt1"/>
                </a:solidFill>
                <a:latin typeface="Gill Sans"/>
                <a:ea typeface="Gill Sans"/>
                <a:cs typeface="Gill Sans"/>
                <a:sym typeface="Gill Sans"/>
              </a:rPr>
              <a:t>(Predictive Analytics and Interactive Tools for Graduation Outcomes)</a:t>
            </a:r>
            <a:endParaRPr b="1" sz="3000">
              <a:solidFill>
                <a:schemeClr val="lt1"/>
              </a:solidFill>
              <a:latin typeface="Gill Sans"/>
              <a:ea typeface="Gill Sans"/>
              <a:cs typeface="Gill Sans"/>
              <a:sym typeface="Gill Sans"/>
            </a:endParaRPr>
          </a:p>
        </p:txBody>
      </p:sp>
      <p:sp>
        <p:nvSpPr>
          <p:cNvPr id="112" name="Google Shape;112;p23"/>
          <p:cNvSpPr txBox="1"/>
          <p:nvPr/>
        </p:nvSpPr>
        <p:spPr>
          <a:xfrm>
            <a:off x="6144000" y="2451175"/>
            <a:ext cx="3000000" cy="1947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b="1" lang="en">
                <a:solidFill>
                  <a:schemeClr val="dk1"/>
                </a:solidFill>
              </a:rPr>
              <a:t>Course: </a:t>
            </a:r>
            <a:r>
              <a:rPr lang="en">
                <a:solidFill>
                  <a:srgbClr val="262626"/>
                </a:solidFill>
                <a:highlight>
                  <a:schemeClr val="lt1"/>
                </a:highlight>
              </a:rPr>
              <a:t>DATA 606 Capstone in Data Science </a:t>
            </a:r>
            <a:endParaRPr>
              <a:solidFill>
                <a:schemeClr val="dk1"/>
              </a:solidFill>
            </a:endParaRPr>
          </a:p>
          <a:p>
            <a:pPr indent="0" lvl="0" marL="0" rtl="0" algn="l">
              <a:lnSpc>
                <a:spcPct val="115000"/>
              </a:lnSpc>
              <a:spcBef>
                <a:spcPts val="1200"/>
              </a:spcBef>
              <a:spcAft>
                <a:spcPts val="0"/>
              </a:spcAft>
              <a:buNone/>
            </a:pPr>
            <a:r>
              <a:rPr b="1" lang="en">
                <a:solidFill>
                  <a:schemeClr val="dk1"/>
                </a:solidFill>
              </a:rPr>
              <a:t>Student: </a:t>
            </a:r>
            <a:r>
              <a:rPr i="1" lang="en">
                <a:solidFill>
                  <a:schemeClr val="dk1"/>
                </a:solidFill>
              </a:rPr>
              <a:t>Chaturya Yarradoddi</a:t>
            </a:r>
            <a:br>
              <a:rPr i="1" lang="en">
                <a:solidFill>
                  <a:schemeClr val="dk1"/>
                </a:solidFill>
              </a:rPr>
            </a:br>
            <a:r>
              <a:rPr b="1" i="1" lang="en">
                <a:solidFill>
                  <a:schemeClr val="dk1"/>
                </a:solidFill>
              </a:rPr>
              <a:t>Faculty Advisor:</a:t>
            </a:r>
            <a:r>
              <a:rPr i="1" lang="en">
                <a:solidFill>
                  <a:schemeClr val="dk1"/>
                </a:solidFill>
              </a:rPr>
              <a:t> Dr. Anupam Joshi </a:t>
            </a:r>
            <a:endParaRPr i="1">
              <a:solidFill>
                <a:schemeClr val="dk1"/>
              </a:solidFill>
            </a:endParaRPr>
          </a:p>
          <a:p>
            <a:pPr indent="0" lvl="0" marL="0" rtl="0" algn="l">
              <a:lnSpc>
                <a:spcPct val="115000"/>
              </a:lnSpc>
              <a:spcBef>
                <a:spcPts val="1200"/>
              </a:spcBef>
              <a:spcAft>
                <a:spcPts val="1200"/>
              </a:spcAft>
              <a:buNone/>
            </a:pPr>
            <a:r>
              <a:t/>
            </a:r>
            <a:endParaRPr i="1">
              <a:solidFill>
                <a:schemeClr val="dk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4"/>
          <p:cNvSpPr txBox="1"/>
          <p:nvPr>
            <p:ph type="title"/>
          </p:nvPr>
        </p:nvSpPr>
        <p:spPr>
          <a:xfrm>
            <a:off x="457200" y="702644"/>
            <a:ext cx="8229600" cy="644100"/>
          </a:xfrm>
          <a:prstGeom prst="rect">
            <a:avLst/>
          </a:prstGeom>
        </p:spPr>
        <p:txBody>
          <a:bodyPr anchorCtr="0" anchor="ctr" bIns="45700" lIns="91425" spcFirstLastPara="1" rIns="91425" wrap="square" tIns="45700">
            <a:normAutofit fontScale="90000"/>
          </a:bodyPr>
          <a:lstStyle/>
          <a:p>
            <a:pPr indent="0" lvl="0" marL="0" rtl="0" algn="ctr">
              <a:spcBef>
                <a:spcPts val="0"/>
              </a:spcBef>
              <a:spcAft>
                <a:spcPts val="0"/>
              </a:spcAft>
              <a:buNone/>
            </a:pPr>
            <a:r>
              <a:rPr lang="en"/>
              <a:t>Motivation &amp; Problem Statement</a:t>
            </a:r>
            <a:endParaRPr/>
          </a:p>
        </p:txBody>
      </p:sp>
      <p:sp>
        <p:nvSpPr>
          <p:cNvPr id="118" name="Google Shape;118;p24"/>
          <p:cNvSpPr txBox="1"/>
          <p:nvPr>
            <p:ph idx="1" type="body"/>
          </p:nvPr>
        </p:nvSpPr>
        <p:spPr>
          <a:xfrm>
            <a:off x="798300" y="3001800"/>
            <a:ext cx="5138400" cy="1647600"/>
          </a:xfrm>
          <a:prstGeom prst="rect">
            <a:avLst/>
          </a:prstGeom>
          <a:ln cap="flat" cmpd="sng" w="9525">
            <a:solidFill>
              <a:srgbClr val="EBB531"/>
            </a:solidFill>
            <a:prstDash val="solid"/>
            <a:round/>
            <a:headEnd len="sm" w="sm" type="none"/>
            <a:tailEnd len="sm" w="sm" type="none"/>
          </a:ln>
        </p:spPr>
        <p:txBody>
          <a:bodyPr anchorCtr="0" anchor="t" bIns="45700" lIns="91425" spcFirstLastPara="1" rIns="91425" wrap="square" tIns="45700">
            <a:normAutofit fontScale="85000" lnSpcReduction="20000"/>
          </a:bodyPr>
          <a:lstStyle/>
          <a:p>
            <a:pPr indent="0" lvl="0" marL="0" rtl="0" algn="l">
              <a:lnSpc>
                <a:spcPct val="115000"/>
              </a:lnSpc>
              <a:spcBef>
                <a:spcPts val="1200"/>
              </a:spcBef>
              <a:spcAft>
                <a:spcPts val="0"/>
              </a:spcAft>
              <a:buNone/>
            </a:pPr>
            <a:r>
              <a:t/>
            </a:r>
            <a:endParaRPr sz="800">
              <a:latin typeface="Arial"/>
              <a:ea typeface="Arial"/>
              <a:cs typeface="Arial"/>
              <a:sym typeface="Arial"/>
            </a:endParaRPr>
          </a:p>
          <a:p>
            <a:pPr indent="0" lvl="0" marL="0" rtl="0" algn="ctr">
              <a:lnSpc>
                <a:spcPct val="115000"/>
              </a:lnSpc>
              <a:spcBef>
                <a:spcPts val="1400"/>
              </a:spcBef>
              <a:spcAft>
                <a:spcPts val="0"/>
              </a:spcAft>
              <a:buClr>
                <a:schemeClr val="dk1"/>
              </a:buClr>
              <a:buSzPct val="84090"/>
              <a:buFont typeface="Arial"/>
              <a:buNone/>
            </a:pPr>
            <a:r>
              <a:rPr b="1" lang="en" sz="1308">
                <a:latin typeface="Arial"/>
                <a:ea typeface="Arial"/>
                <a:cs typeface="Arial"/>
                <a:sym typeface="Arial"/>
              </a:rPr>
              <a:t>Problem Statement</a:t>
            </a:r>
            <a:endParaRPr b="1" sz="1308">
              <a:latin typeface="Arial"/>
              <a:ea typeface="Arial"/>
              <a:cs typeface="Arial"/>
              <a:sym typeface="Arial"/>
            </a:endParaRPr>
          </a:p>
          <a:p>
            <a:pPr indent="-277615" lvl="0" marL="457200" rtl="0" algn="l">
              <a:lnSpc>
                <a:spcPct val="115000"/>
              </a:lnSpc>
              <a:spcBef>
                <a:spcPts val="1200"/>
              </a:spcBef>
              <a:spcAft>
                <a:spcPts val="0"/>
              </a:spcAft>
              <a:buSzPct val="100000"/>
              <a:buChar char="●"/>
            </a:pPr>
            <a:r>
              <a:rPr lang="en" sz="908">
                <a:latin typeface="Arial"/>
                <a:ea typeface="Arial"/>
                <a:cs typeface="Arial"/>
                <a:sym typeface="Arial"/>
              </a:rPr>
              <a:t>Existing systems do not integrate high school data, placement tests, AP records, demographics, and multi-year financial aid into one modeling framework.</a:t>
            </a:r>
            <a:endParaRPr sz="908">
              <a:latin typeface="Arial"/>
              <a:ea typeface="Arial"/>
              <a:cs typeface="Arial"/>
              <a:sym typeface="Arial"/>
            </a:endParaRPr>
          </a:p>
          <a:p>
            <a:pPr indent="-277615" lvl="0" marL="457200" rtl="0" algn="l">
              <a:lnSpc>
                <a:spcPct val="115000"/>
              </a:lnSpc>
              <a:spcBef>
                <a:spcPts val="0"/>
              </a:spcBef>
              <a:spcAft>
                <a:spcPts val="0"/>
              </a:spcAft>
              <a:buSzPct val="100000"/>
              <a:buChar char="●"/>
            </a:pPr>
            <a:r>
              <a:rPr lang="en" sz="908">
                <a:latin typeface="Arial"/>
                <a:ea typeface="Arial"/>
                <a:cs typeface="Arial"/>
                <a:sym typeface="Arial"/>
              </a:rPr>
              <a:t>Without an integrated predictive model, universities cannot </a:t>
            </a:r>
            <a:r>
              <a:rPr b="1" lang="en" sz="908">
                <a:latin typeface="Arial"/>
                <a:ea typeface="Arial"/>
                <a:cs typeface="Arial"/>
                <a:sym typeface="Arial"/>
              </a:rPr>
              <a:t>identify at-risk students early</a:t>
            </a:r>
            <a:r>
              <a:rPr lang="en" sz="908">
                <a:latin typeface="Arial"/>
                <a:ea typeface="Arial"/>
                <a:cs typeface="Arial"/>
                <a:sym typeface="Arial"/>
              </a:rPr>
              <a:t>, </a:t>
            </a:r>
            <a:r>
              <a:rPr b="1" lang="en" sz="908">
                <a:latin typeface="Arial"/>
                <a:ea typeface="Arial"/>
                <a:cs typeface="Arial"/>
                <a:sym typeface="Arial"/>
              </a:rPr>
              <a:t>optimize aid allocation</a:t>
            </a:r>
            <a:r>
              <a:rPr lang="en" sz="908">
                <a:latin typeface="Arial"/>
                <a:ea typeface="Arial"/>
                <a:cs typeface="Arial"/>
                <a:sym typeface="Arial"/>
              </a:rPr>
              <a:t>, or </a:t>
            </a:r>
            <a:r>
              <a:rPr b="1" lang="en" sz="908">
                <a:latin typeface="Arial"/>
                <a:ea typeface="Arial"/>
                <a:cs typeface="Arial"/>
                <a:sym typeface="Arial"/>
              </a:rPr>
              <a:t>test policy scenarios</a:t>
            </a:r>
            <a:r>
              <a:rPr lang="en" sz="908">
                <a:latin typeface="Arial"/>
                <a:ea typeface="Arial"/>
                <a:cs typeface="Arial"/>
                <a:sym typeface="Arial"/>
              </a:rPr>
              <a:t>.</a:t>
            </a:r>
            <a:endParaRPr sz="908">
              <a:latin typeface="Arial"/>
              <a:ea typeface="Arial"/>
              <a:cs typeface="Arial"/>
              <a:sym typeface="Arial"/>
            </a:endParaRPr>
          </a:p>
          <a:p>
            <a:pPr indent="-277615" lvl="0" marL="457200" rtl="0" algn="l">
              <a:lnSpc>
                <a:spcPct val="115000"/>
              </a:lnSpc>
              <a:spcBef>
                <a:spcPts val="0"/>
              </a:spcBef>
              <a:spcAft>
                <a:spcPts val="0"/>
              </a:spcAft>
              <a:buSzPct val="100000"/>
              <a:buChar char="●"/>
            </a:pPr>
            <a:r>
              <a:rPr lang="en" sz="908">
                <a:latin typeface="Arial"/>
                <a:ea typeface="Arial"/>
                <a:cs typeface="Arial"/>
                <a:sym typeface="Arial"/>
              </a:rPr>
              <a:t>There is a need for a </a:t>
            </a:r>
            <a:r>
              <a:rPr b="1" lang="en" sz="908">
                <a:latin typeface="Arial"/>
                <a:ea typeface="Arial"/>
                <a:cs typeface="Arial"/>
                <a:sym typeface="Arial"/>
              </a:rPr>
              <a:t>unified, leakage-free, operational predictive system</a:t>
            </a:r>
            <a:r>
              <a:rPr lang="en" sz="908">
                <a:latin typeface="Arial"/>
                <a:ea typeface="Arial"/>
                <a:cs typeface="Arial"/>
                <a:sym typeface="Arial"/>
              </a:rPr>
              <a:t> that produces individualized graduation probabilities and supports institutional decision-making</a:t>
            </a:r>
            <a:endParaRPr sz="908">
              <a:latin typeface="Arial"/>
              <a:ea typeface="Arial"/>
              <a:cs typeface="Arial"/>
              <a:sym typeface="Arial"/>
            </a:endParaRPr>
          </a:p>
          <a:p>
            <a:pPr indent="0" lvl="0" marL="0" rtl="0" algn="l">
              <a:spcBef>
                <a:spcPts val="1200"/>
              </a:spcBef>
              <a:spcAft>
                <a:spcPts val="0"/>
              </a:spcAft>
              <a:buNone/>
            </a:pPr>
            <a:r>
              <a:t/>
            </a:r>
            <a:endParaRPr sz="800">
              <a:latin typeface="Arial"/>
              <a:ea typeface="Arial"/>
              <a:cs typeface="Arial"/>
              <a:sym typeface="Arial"/>
            </a:endParaRPr>
          </a:p>
        </p:txBody>
      </p:sp>
      <p:pic>
        <p:nvPicPr>
          <p:cNvPr id="119" name="Google Shape;119;p24"/>
          <p:cNvPicPr preferRelativeResize="0"/>
          <p:nvPr/>
        </p:nvPicPr>
        <p:blipFill>
          <a:blip r:embed="rId3">
            <a:alphaModFix/>
          </a:blip>
          <a:stretch>
            <a:fillRect/>
          </a:stretch>
        </p:blipFill>
        <p:spPr>
          <a:xfrm>
            <a:off x="6258963" y="2022038"/>
            <a:ext cx="2619375" cy="1743075"/>
          </a:xfrm>
          <a:prstGeom prst="rect">
            <a:avLst/>
          </a:prstGeom>
          <a:noFill/>
          <a:ln>
            <a:noFill/>
          </a:ln>
        </p:spPr>
      </p:pic>
      <p:sp>
        <p:nvSpPr>
          <p:cNvPr id="120" name="Google Shape;120;p24"/>
          <p:cNvSpPr txBox="1"/>
          <p:nvPr/>
        </p:nvSpPr>
        <p:spPr>
          <a:xfrm>
            <a:off x="798300" y="1684475"/>
            <a:ext cx="5138400" cy="1240500"/>
          </a:xfrm>
          <a:prstGeom prst="rect">
            <a:avLst/>
          </a:prstGeom>
          <a:noFill/>
          <a:ln cap="flat" cmpd="sng" w="9525">
            <a:solidFill>
              <a:srgbClr val="EBB531"/>
            </a:solidFill>
            <a:prstDash val="solid"/>
            <a:round/>
            <a:headEnd len="sm" w="sm" type="none"/>
            <a:tailEnd len="sm" w="sm" type="none"/>
          </a:ln>
        </p:spPr>
        <p:txBody>
          <a:bodyPr anchorCtr="0" anchor="t" bIns="91425" lIns="91425" spcFirstLastPara="1" rIns="91425" wrap="square" tIns="91425">
            <a:spAutoFit/>
          </a:bodyPr>
          <a:lstStyle/>
          <a:p>
            <a:pPr indent="0" lvl="0" marL="0" rtl="0" algn="ctr">
              <a:lnSpc>
                <a:spcPct val="115000"/>
              </a:lnSpc>
              <a:spcBef>
                <a:spcPts val="1400"/>
              </a:spcBef>
              <a:spcAft>
                <a:spcPts val="0"/>
              </a:spcAft>
              <a:buClr>
                <a:schemeClr val="dk1"/>
              </a:buClr>
              <a:buSzPts val="1100"/>
              <a:buFont typeface="Arial"/>
              <a:buNone/>
            </a:pPr>
            <a:r>
              <a:rPr b="1" lang="en" sz="1200">
                <a:solidFill>
                  <a:schemeClr val="dk1"/>
                </a:solidFill>
              </a:rPr>
              <a:t>Motivation</a:t>
            </a:r>
            <a:endParaRPr b="1" sz="1200">
              <a:solidFill>
                <a:schemeClr val="dk1"/>
              </a:solidFill>
            </a:endParaRPr>
          </a:p>
          <a:p>
            <a:pPr indent="-279400" lvl="0" marL="457200" rtl="0" algn="l">
              <a:lnSpc>
                <a:spcPct val="115000"/>
              </a:lnSpc>
              <a:spcBef>
                <a:spcPts val="1200"/>
              </a:spcBef>
              <a:spcAft>
                <a:spcPts val="0"/>
              </a:spcAft>
              <a:buClr>
                <a:schemeClr val="dk1"/>
              </a:buClr>
              <a:buSzPts val="800"/>
              <a:buChar char="●"/>
            </a:pPr>
            <a:r>
              <a:rPr lang="en" sz="800">
                <a:solidFill>
                  <a:schemeClr val="dk1"/>
                </a:solidFill>
              </a:rPr>
              <a:t>Universities must improve graduation outcomes while managing financial and accountability pressures.</a:t>
            </a:r>
            <a:endParaRPr sz="800">
              <a:solidFill>
                <a:schemeClr val="dk1"/>
              </a:solidFill>
            </a:endParaRPr>
          </a:p>
          <a:p>
            <a:pPr indent="-279400" lvl="0" marL="457200" rtl="0" algn="l">
              <a:lnSpc>
                <a:spcPct val="115000"/>
              </a:lnSpc>
              <a:spcBef>
                <a:spcPts val="0"/>
              </a:spcBef>
              <a:spcAft>
                <a:spcPts val="0"/>
              </a:spcAft>
              <a:buClr>
                <a:schemeClr val="dk1"/>
              </a:buClr>
              <a:buSzPts val="800"/>
              <a:buChar char="●"/>
            </a:pPr>
            <a:r>
              <a:rPr lang="en" sz="800">
                <a:solidFill>
                  <a:schemeClr val="dk1"/>
                </a:solidFill>
              </a:rPr>
              <a:t>Student success depends on </a:t>
            </a:r>
            <a:r>
              <a:rPr b="1" lang="en" sz="800">
                <a:solidFill>
                  <a:schemeClr val="dk1"/>
                </a:solidFill>
              </a:rPr>
              <a:t>financial aid</a:t>
            </a:r>
            <a:r>
              <a:rPr lang="en" sz="800">
                <a:solidFill>
                  <a:schemeClr val="dk1"/>
                </a:solidFill>
              </a:rPr>
              <a:t>, </a:t>
            </a:r>
            <a:r>
              <a:rPr b="1" lang="en" sz="800">
                <a:solidFill>
                  <a:schemeClr val="dk1"/>
                </a:solidFill>
              </a:rPr>
              <a:t>academic readiness</a:t>
            </a:r>
            <a:r>
              <a:rPr lang="en" sz="800">
                <a:solidFill>
                  <a:schemeClr val="dk1"/>
                </a:solidFill>
              </a:rPr>
              <a:t>, and </a:t>
            </a:r>
            <a:r>
              <a:rPr b="1" lang="en" sz="800">
                <a:solidFill>
                  <a:schemeClr val="dk1"/>
                </a:solidFill>
              </a:rPr>
              <a:t>entry pathways</a:t>
            </a:r>
            <a:r>
              <a:rPr lang="en" sz="800">
                <a:solidFill>
                  <a:schemeClr val="dk1"/>
                </a:solidFill>
              </a:rPr>
              <a:t>, but these factors are rarely analyzed together.</a:t>
            </a:r>
            <a:endParaRPr sz="800">
              <a:solidFill>
                <a:schemeClr val="dk1"/>
              </a:solidFill>
            </a:endParaRPr>
          </a:p>
          <a:p>
            <a:pPr indent="-279400" lvl="0" marL="457200" rtl="0" algn="l">
              <a:lnSpc>
                <a:spcPct val="115000"/>
              </a:lnSpc>
              <a:spcBef>
                <a:spcPts val="0"/>
              </a:spcBef>
              <a:spcAft>
                <a:spcPts val="0"/>
              </a:spcAft>
              <a:buClr>
                <a:schemeClr val="dk1"/>
              </a:buClr>
              <a:buSzPts val="800"/>
              <a:buChar char="●"/>
            </a:pPr>
            <a:r>
              <a:rPr lang="en" sz="800">
                <a:solidFill>
                  <a:schemeClr val="dk1"/>
                </a:solidFill>
              </a:rPr>
              <a:t>Institutions need tools that move beyond static reporting toward </a:t>
            </a:r>
            <a:r>
              <a:rPr b="1" lang="en" sz="800">
                <a:solidFill>
                  <a:schemeClr val="dk1"/>
                </a:solidFill>
              </a:rPr>
              <a:t>predictive, actionable insights</a:t>
            </a:r>
            <a:r>
              <a:rPr lang="en" sz="800">
                <a:solidFill>
                  <a:schemeClr val="dk1"/>
                </a:solidFill>
              </a:rPr>
              <a:t>.</a:t>
            </a:r>
            <a:endParaRPr sz="800">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5"/>
          <p:cNvSpPr txBox="1"/>
          <p:nvPr>
            <p:ph type="title"/>
          </p:nvPr>
        </p:nvSpPr>
        <p:spPr>
          <a:xfrm>
            <a:off x="457200" y="702644"/>
            <a:ext cx="8229600" cy="644100"/>
          </a:xfrm>
          <a:prstGeom prst="rect">
            <a:avLst/>
          </a:prstGeom>
        </p:spPr>
        <p:txBody>
          <a:bodyPr anchorCtr="0" anchor="ctr" bIns="45700" lIns="91425" spcFirstLastPara="1" rIns="91425" wrap="square" tIns="45700">
            <a:normAutofit fontScale="90000"/>
          </a:bodyPr>
          <a:lstStyle/>
          <a:p>
            <a:pPr indent="0" lvl="0" marL="0" rtl="0" algn="ctr">
              <a:spcBef>
                <a:spcPts val="0"/>
              </a:spcBef>
              <a:spcAft>
                <a:spcPts val="0"/>
              </a:spcAft>
              <a:buNone/>
            </a:pPr>
            <a:r>
              <a:rPr lang="en">
                <a:latin typeface="Arial"/>
                <a:ea typeface="Arial"/>
                <a:cs typeface="Arial"/>
                <a:sym typeface="Arial"/>
              </a:rPr>
              <a:t>Data Sources</a:t>
            </a:r>
            <a:endParaRPr>
              <a:latin typeface="Arial"/>
              <a:ea typeface="Arial"/>
              <a:cs typeface="Arial"/>
              <a:sym typeface="Arial"/>
            </a:endParaRPr>
          </a:p>
        </p:txBody>
      </p:sp>
      <p:sp>
        <p:nvSpPr>
          <p:cNvPr id="126" name="Google Shape;126;p25"/>
          <p:cNvSpPr/>
          <p:nvPr/>
        </p:nvSpPr>
        <p:spPr>
          <a:xfrm>
            <a:off x="682550" y="1511125"/>
            <a:ext cx="8229600" cy="322164"/>
          </a:xfrm>
          <a:prstGeom prst="flowChartTerminator">
            <a:avLst/>
          </a:prstGeom>
          <a:solidFill>
            <a:srgbClr val="EBB53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lt1"/>
                </a:solidFill>
              </a:rPr>
              <a:t>DataSet</a:t>
            </a:r>
            <a:endParaRPr b="1">
              <a:solidFill>
                <a:schemeClr val="lt1"/>
              </a:solidFill>
            </a:endParaRPr>
          </a:p>
        </p:txBody>
      </p:sp>
      <p:sp>
        <p:nvSpPr>
          <p:cNvPr id="127" name="Google Shape;127;p25"/>
          <p:cNvSpPr/>
          <p:nvPr/>
        </p:nvSpPr>
        <p:spPr>
          <a:xfrm>
            <a:off x="729775" y="2698797"/>
            <a:ext cx="8135154" cy="322164"/>
          </a:xfrm>
          <a:prstGeom prst="flowChartTerminator">
            <a:avLst/>
          </a:prstGeom>
          <a:solidFill>
            <a:srgbClr val="EBB53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lt1"/>
                </a:solidFill>
              </a:rPr>
              <a:t>Key columns</a:t>
            </a:r>
            <a:endParaRPr b="1">
              <a:solidFill>
                <a:schemeClr val="lt1"/>
              </a:solidFill>
            </a:endParaRPr>
          </a:p>
        </p:txBody>
      </p:sp>
      <p:sp>
        <p:nvSpPr>
          <p:cNvPr id="128" name="Google Shape;128;p25"/>
          <p:cNvSpPr/>
          <p:nvPr/>
        </p:nvSpPr>
        <p:spPr>
          <a:xfrm>
            <a:off x="1090525" y="3185350"/>
            <a:ext cx="3026700" cy="1684200"/>
          </a:xfrm>
          <a:prstGeom prst="roundRect">
            <a:avLst>
              <a:gd fmla="val 16667" name="adj"/>
            </a:avLst>
          </a:prstGeom>
          <a:solidFill>
            <a:srgbClr val="A6A6A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1200"/>
              </a:spcBef>
              <a:spcAft>
                <a:spcPts val="0"/>
              </a:spcAft>
              <a:buNone/>
            </a:pPr>
            <a:r>
              <a:rPr b="1" lang="en" sz="800">
                <a:solidFill>
                  <a:schemeClr val="dk1"/>
                </a:solidFill>
              </a:rPr>
              <a:t>                            </a:t>
            </a:r>
            <a:r>
              <a:rPr b="1" lang="en" sz="900">
                <a:solidFill>
                  <a:schemeClr val="dk1"/>
                </a:solidFill>
              </a:rPr>
              <a:t> </a:t>
            </a:r>
            <a:r>
              <a:rPr b="1" lang="en" sz="900">
                <a:solidFill>
                  <a:schemeClr val="dk1"/>
                </a:solidFill>
              </a:rPr>
              <a:t>AP Courses</a:t>
            </a:r>
            <a:endParaRPr sz="900">
              <a:solidFill>
                <a:schemeClr val="dk1"/>
              </a:solidFill>
            </a:endParaRPr>
          </a:p>
          <a:p>
            <a:pPr indent="-279400" lvl="0" marL="457200" rtl="0" algn="l">
              <a:lnSpc>
                <a:spcPct val="115000"/>
              </a:lnSpc>
              <a:spcBef>
                <a:spcPts val="1200"/>
              </a:spcBef>
              <a:spcAft>
                <a:spcPts val="0"/>
              </a:spcAft>
              <a:buClr>
                <a:schemeClr val="dk1"/>
              </a:buClr>
              <a:buSzPts val="800"/>
              <a:buChar char="●"/>
            </a:pPr>
            <a:r>
              <a:rPr b="1" lang="en" sz="800">
                <a:solidFill>
                  <a:schemeClr val="dk1"/>
                </a:solidFill>
              </a:rPr>
              <a:t>EmployeeID:</a:t>
            </a:r>
            <a:r>
              <a:rPr lang="en" sz="800">
                <a:solidFill>
                  <a:schemeClr val="dk1"/>
                </a:solidFill>
              </a:rPr>
              <a:t> unique student identifier</a:t>
            </a:r>
            <a:endParaRPr sz="800">
              <a:solidFill>
                <a:schemeClr val="dk1"/>
              </a:solidFill>
            </a:endParaRPr>
          </a:p>
          <a:p>
            <a:pPr indent="-279400" lvl="0" marL="457200" rtl="0" algn="l">
              <a:lnSpc>
                <a:spcPct val="115000"/>
              </a:lnSpc>
              <a:spcBef>
                <a:spcPts val="0"/>
              </a:spcBef>
              <a:spcAft>
                <a:spcPts val="0"/>
              </a:spcAft>
              <a:buClr>
                <a:schemeClr val="dk1"/>
              </a:buClr>
              <a:buSzPts val="800"/>
              <a:buChar char="●"/>
            </a:pPr>
            <a:r>
              <a:rPr b="1" lang="en" sz="800">
                <a:solidFill>
                  <a:schemeClr val="dk1"/>
                </a:solidFill>
              </a:rPr>
              <a:t>TEST_ID, TEST_COMPONENT</a:t>
            </a:r>
            <a:r>
              <a:rPr lang="en" sz="800">
                <a:solidFill>
                  <a:schemeClr val="dk1"/>
                </a:solidFill>
              </a:rPr>
              <a:t>:  AP exam code</a:t>
            </a:r>
            <a:endParaRPr sz="800">
              <a:solidFill>
                <a:schemeClr val="dk1"/>
              </a:solidFill>
            </a:endParaRPr>
          </a:p>
          <a:p>
            <a:pPr indent="-279400" lvl="0" marL="457200" rtl="0" algn="l">
              <a:lnSpc>
                <a:spcPct val="115000"/>
              </a:lnSpc>
              <a:spcBef>
                <a:spcPts val="0"/>
              </a:spcBef>
              <a:spcAft>
                <a:spcPts val="0"/>
              </a:spcAft>
              <a:buClr>
                <a:schemeClr val="dk1"/>
              </a:buClr>
              <a:buSzPts val="800"/>
              <a:buChar char="●"/>
            </a:pPr>
            <a:r>
              <a:rPr b="1" lang="en" sz="800">
                <a:solidFill>
                  <a:schemeClr val="dk1"/>
                </a:solidFill>
              </a:rPr>
              <a:t>TestDescription</a:t>
            </a:r>
            <a:r>
              <a:rPr lang="en" sz="800">
                <a:solidFill>
                  <a:schemeClr val="dk1"/>
                </a:solidFill>
              </a:rPr>
              <a:t>: official AP exam title</a:t>
            </a:r>
            <a:endParaRPr sz="800">
              <a:solidFill>
                <a:schemeClr val="dk1"/>
              </a:solidFill>
            </a:endParaRPr>
          </a:p>
          <a:p>
            <a:pPr indent="-279400" lvl="0" marL="457200" rtl="0" algn="l">
              <a:lnSpc>
                <a:spcPct val="115000"/>
              </a:lnSpc>
              <a:spcBef>
                <a:spcPts val="0"/>
              </a:spcBef>
              <a:spcAft>
                <a:spcPts val="0"/>
              </a:spcAft>
              <a:buClr>
                <a:schemeClr val="dk1"/>
              </a:buClr>
              <a:buSzPts val="800"/>
              <a:buChar char="●"/>
            </a:pPr>
            <a:r>
              <a:rPr b="1" lang="en" sz="800">
                <a:solidFill>
                  <a:schemeClr val="dk1"/>
                </a:solidFill>
              </a:rPr>
              <a:t>SCORE</a:t>
            </a:r>
            <a:r>
              <a:rPr lang="en" sz="800">
                <a:solidFill>
                  <a:schemeClr val="dk1"/>
                </a:solidFill>
              </a:rPr>
              <a:t>: student’s AP score</a:t>
            </a:r>
            <a:endParaRPr sz="800">
              <a:solidFill>
                <a:schemeClr val="dk1"/>
              </a:solidFill>
            </a:endParaRPr>
          </a:p>
          <a:p>
            <a:pPr indent="-279400" lvl="0" marL="457200" rtl="0" algn="l">
              <a:lnSpc>
                <a:spcPct val="115000"/>
              </a:lnSpc>
              <a:spcBef>
                <a:spcPts val="0"/>
              </a:spcBef>
              <a:spcAft>
                <a:spcPts val="0"/>
              </a:spcAft>
              <a:buClr>
                <a:schemeClr val="dk1"/>
              </a:buClr>
              <a:buSzPts val="800"/>
              <a:buChar char="●"/>
            </a:pPr>
            <a:r>
              <a:rPr b="1" lang="en" sz="800">
                <a:solidFill>
                  <a:schemeClr val="dk1"/>
                </a:solidFill>
              </a:rPr>
              <a:t>EARN_CREDIT</a:t>
            </a:r>
            <a:r>
              <a:rPr lang="en" sz="800">
                <a:solidFill>
                  <a:schemeClr val="dk1"/>
                </a:solidFill>
              </a:rPr>
              <a:t>: whether UMBC awarded credit (Y/N)</a:t>
            </a:r>
            <a:endParaRPr sz="800">
              <a:solidFill>
                <a:schemeClr val="dk1"/>
              </a:solidFill>
            </a:endParaRPr>
          </a:p>
          <a:p>
            <a:pPr indent="-279400" lvl="0" marL="457200" rtl="0" algn="l">
              <a:lnSpc>
                <a:spcPct val="115000"/>
              </a:lnSpc>
              <a:spcBef>
                <a:spcPts val="0"/>
              </a:spcBef>
              <a:spcAft>
                <a:spcPts val="0"/>
              </a:spcAft>
              <a:buClr>
                <a:schemeClr val="dk1"/>
              </a:buClr>
              <a:buSzPts val="800"/>
              <a:buChar char="●"/>
            </a:pPr>
            <a:r>
              <a:rPr b="1" lang="en" sz="800">
                <a:solidFill>
                  <a:schemeClr val="dk1"/>
                </a:solidFill>
              </a:rPr>
              <a:t>UNT_TRNSFR</a:t>
            </a:r>
            <a:r>
              <a:rPr lang="en" sz="800">
                <a:solidFill>
                  <a:schemeClr val="dk1"/>
                </a:solidFill>
              </a:rPr>
              <a:t>:  number of credits transferred</a:t>
            </a:r>
            <a:endParaRPr sz="800">
              <a:solidFill>
                <a:schemeClr val="dk1"/>
              </a:solidFill>
            </a:endParaRPr>
          </a:p>
          <a:p>
            <a:pPr indent="0" lvl="0" marL="0" rtl="0" algn="ctr">
              <a:spcBef>
                <a:spcPts val="1200"/>
              </a:spcBef>
              <a:spcAft>
                <a:spcPts val="0"/>
              </a:spcAft>
              <a:buNone/>
            </a:pPr>
            <a:r>
              <a:t/>
            </a:r>
            <a:endParaRPr sz="800"/>
          </a:p>
        </p:txBody>
      </p:sp>
      <p:sp>
        <p:nvSpPr>
          <p:cNvPr id="129" name="Google Shape;129;p25"/>
          <p:cNvSpPr/>
          <p:nvPr/>
        </p:nvSpPr>
        <p:spPr>
          <a:xfrm>
            <a:off x="4572000" y="3185350"/>
            <a:ext cx="4002600" cy="1779900"/>
          </a:xfrm>
          <a:prstGeom prst="roundRect">
            <a:avLst>
              <a:gd fmla="val 16667" name="adj"/>
            </a:avLst>
          </a:prstGeom>
          <a:solidFill>
            <a:srgbClr val="A6A6A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457200" rtl="0" algn="l">
              <a:lnSpc>
                <a:spcPct val="115000"/>
              </a:lnSpc>
              <a:spcBef>
                <a:spcPts val="1200"/>
              </a:spcBef>
              <a:spcAft>
                <a:spcPts val="0"/>
              </a:spcAft>
              <a:buNone/>
            </a:pPr>
            <a:r>
              <a:rPr b="1" lang="en" sz="900">
                <a:solidFill>
                  <a:schemeClr val="dk1"/>
                </a:solidFill>
              </a:rPr>
              <a:t>                            </a:t>
            </a:r>
            <a:r>
              <a:rPr b="1" lang="en" sz="900">
                <a:solidFill>
                  <a:schemeClr val="dk1"/>
                </a:solidFill>
              </a:rPr>
              <a:t>FA Student Success</a:t>
            </a:r>
            <a:endParaRPr b="1" sz="900">
              <a:solidFill>
                <a:schemeClr val="dk1"/>
              </a:solidFill>
            </a:endParaRPr>
          </a:p>
          <a:p>
            <a:pPr indent="-279400" lvl="0" marL="457200" rtl="0" algn="l">
              <a:lnSpc>
                <a:spcPct val="115000"/>
              </a:lnSpc>
              <a:spcBef>
                <a:spcPts val="1200"/>
              </a:spcBef>
              <a:spcAft>
                <a:spcPts val="0"/>
              </a:spcAft>
              <a:buClr>
                <a:schemeClr val="dk1"/>
              </a:buClr>
              <a:buSzPts val="800"/>
              <a:buChar char="●"/>
            </a:pPr>
            <a:r>
              <a:rPr b="1" lang="en" sz="800">
                <a:solidFill>
                  <a:schemeClr val="dk1"/>
                </a:solidFill>
              </a:rPr>
              <a:t>Demographics:</a:t>
            </a:r>
            <a:r>
              <a:rPr lang="en" sz="800">
                <a:solidFill>
                  <a:schemeClr val="dk1"/>
                </a:solidFill>
              </a:rPr>
              <a:t> gender, ethnicity, residency, ZIP, housing</a:t>
            </a:r>
            <a:endParaRPr sz="800">
              <a:solidFill>
                <a:schemeClr val="dk1"/>
              </a:solidFill>
            </a:endParaRPr>
          </a:p>
          <a:p>
            <a:pPr indent="-279400" lvl="0" marL="457200" rtl="0" algn="l">
              <a:lnSpc>
                <a:spcPct val="115000"/>
              </a:lnSpc>
              <a:spcBef>
                <a:spcPts val="0"/>
              </a:spcBef>
              <a:spcAft>
                <a:spcPts val="0"/>
              </a:spcAft>
              <a:buClr>
                <a:schemeClr val="dk1"/>
              </a:buClr>
              <a:buSzPts val="800"/>
              <a:buChar char="●"/>
            </a:pPr>
            <a:r>
              <a:rPr b="1" lang="en" sz="800">
                <a:solidFill>
                  <a:schemeClr val="dk1"/>
                </a:solidFill>
              </a:rPr>
              <a:t>Matriculation details:</a:t>
            </a:r>
            <a:r>
              <a:rPr lang="en" sz="800">
                <a:solidFill>
                  <a:schemeClr val="dk1"/>
                </a:solidFill>
              </a:rPr>
              <a:t> entry term, transfer/freshman status</a:t>
            </a:r>
            <a:endParaRPr sz="800">
              <a:solidFill>
                <a:schemeClr val="dk1"/>
              </a:solidFill>
            </a:endParaRPr>
          </a:p>
          <a:p>
            <a:pPr indent="-279400" lvl="0" marL="457200" rtl="0" algn="l">
              <a:lnSpc>
                <a:spcPct val="115000"/>
              </a:lnSpc>
              <a:spcBef>
                <a:spcPts val="0"/>
              </a:spcBef>
              <a:spcAft>
                <a:spcPts val="0"/>
              </a:spcAft>
              <a:buClr>
                <a:schemeClr val="dk1"/>
              </a:buClr>
              <a:buSzPts val="800"/>
              <a:buChar char="●"/>
            </a:pPr>
            <a:r>
              <a:rPr b="1" lang="en" sz="800">
                <a:solidFill>
                  <a:schemeClr val="dk1"/>
                </a:solidFill>
              </a:rPr>
              <a:t>High-school data:</a:t>
            </a:r>
            <a:r>
              <a:rPr lang="en" sz="800">
                <a:solidFill>
                  <a:schemeClr val="dk1"/>
                </a:solidFill>
              </a:rPr>
              <a:t> GPA, GPA bands, percentile ranks</a:t>
            </a:r>
            <a:endParaRPr sz="800">
              <a:solidFill>
                <a:schemeClr val="dk1"/>
              </a:solidFill>
            </a:endParaRPr>
          </a:p>
          <a:p>
            <a:pPr indent="-279400" lvl="0" marL="457200" rtl="0" algn="l">
              <a:lnSpc>
                <a:spcPct val="115000"/>
              </a:lnSpc>
              <a:spcBef>
                <a:spcPts val="0"/>
              </a:spcBef>
              <a:spcAft>
                <a:spcPts val="0"/>
              </a:spcAft>
              <a:buClr>
                <a:schemeClr val="dk1"/>
              </a:buClr>
              <a:buSzPts val="800"/>
              <a:buChar char="●"/>
            </a:pPr>
            <a:r>
              <a:rPr b="1" lang="en" sz="800">
                <a:solidFill>
                  <a:schemeClr val="dk1"/>
                </a:solidFill>
              </a:rPr>
              <a:t>Placement scores:</a:t>
            </a:r>
            <a:r>
              <a:rPr lang="en" sz="800">
                <a:solidFill>
                  <a:schemeClr val="dk1"/>
                </a:solidFill>
              </a:rPr>
              <a:t> ALEKS, English, Algebra, Calculus</a:t>
            </a:r>
            <a:endParaRPr sz="800">
              <a:solidFill>
                <a:schemeClr val="dk1"/>
              </a:solidFill>
            </a:endParaRPr>
          </a:p>
          <a:p>
            <a:pPr indent="-279400" lvl="0" marL="457200" rtl="0" algn="l">
              <a:lnSpc>
                <a:spcPct val="115000"/>
              </a:lnSpc>
              <a:spcBef>
                <a:spcPts val="0"/>
              </a:spcBef>
              <a:spcAft>
                <a:spcPts val="0"/>
              </a:spcAft>
              <a:buClr>
                <a:schemeClr val="dk1"/>
              </a:buClr>
              <a:buSzPts val="800"/>
              <a:buChar char="●"/>
            </a:pPr>
            <a:r>
              <a:rPr b="1" lang="en" sz="800">
                <a:solidFill>
                  <a:schemeClr val="dk1"/>
                </a:solidFill>
              </a:rPr>
              <a:t>SAT scores:</a:t>
            </a:r>
            <a:r>
              <a:rPr lang="en" sz="800">
                <a:solidFill>
                  <a:schemeClr val="dk1"/>
                </a:solidFill>
              </a:rPr>
              <a:t> Math, Reading/Writing, combined scores</a:t>
            </a:r>
            <a:endParaRPr sz="800">
              <a:solidFill>
                <a:schemeClr val="dk1"/>
              </a:solidFill>
            </a:endParaRPr>
          </a:p>
          <a:p>
            <a:pPr indent="-279400" lvl="0" marL="457200" rtl="0" algn="l">
              <a:lnSpc>
                <a:spcPct val="115000"/>
              </a:lnSpc>
              <a:spcBef>
                <a:spcPts val="0"/>
              </a:spcBef>
              <a:spcAft>
                <a:spcPts val="0"/>
              </a:spcAft>
              <a:buClr>
                <a:schemeClr val="dk1"/>
              </a:buClr>
              <a:buSzPts val="800"/>
              <a:buChar char="●"/>
            </a:pPr>
            <a:r>
              <a:rPr b="1" lang="en" sz="800">
                <a:solidFill>
                  <a:schemeClr val="dk1"/>
                </a:solidFill>
              </a:rPr>
              <a:t>Financial aid for 6 years: </a:t>
            </a:r>
            <a:r>
              <a:rPr lang="en" sz="800">
                <a:solidFill>
                  <a:schemeClr val="dk1"/>
                </a:solidFill>
              </a:rPr>
              <a:t>Y1–Y6 Need indicators,  Grant amounts,  Merit amount, Scholarship program amounts</a:t>
            </a:r>
            <a:endParaRPr sz="800">
              <a:solidFill>
                <a:schemeClr val="dk1"/>
              </a:solidFill>
            </a:endParaRPr>
          </a:p>
          <a:p>
            <a:pPr indent="-279400" lvl="0" marL="457200" rtl="0" algn="l">
              <a:lnSpc>
                <a:spcPct val="115000"/>
              </a:lnSpc>
              <a:spcBef>
                <a:spcPts val="0"/>
              </a:spcBef>
              <a:spcAft>
                <a:spcPts val="0"/>
              </a:spcAft>
              <a:buClr>
                <a:schemeClr val="dk1"/>
              </a:buClr>
              <a:buSzPts val="800"/>
              <a:buChar char="●"/>
            </a:pPr>
            <a:r>
              <a:rPr b="1" lang="en" sz="800">
                <a:solidFill>
                  <a:schemeClr val="dk1"/>
                </a:solidFill>
              </a:rPr>
              <a:t>Enrollment behavior:</a:t>
            </a:r>
            <a:r>
              <a:rPr lang="en" sz="800">
                <a:solidFill>
                  <a:schemeClr val="dk1"/>
                </a:solidFill>
              </a:rPr>
              <a:t> full-time/part-time across multiple semesters</a:t>
            </a:r>
            <a:endParaRPr sz="800">
              <a:solidFill>
                <a:schemeClr val="dk1"/>
              </a:solidFill>
            </a:endParaRPr>
          </a:p>
          <a:p>
            <a:pPr indent="-266700" lvl="0" marL="457200" rtl="0" algn="l">
              <a:lnSpc>
                <a:spcPct val="115000"/>
              </a:lnSpc>
              <a:spcBef>
                <a:spcPts val="0"/>
              </a:spcBef>
              <a:spcAft>
                <a:spcPts val="0"/>
              </a:spcAft>
              <a:buClr>
                <a:schemeClr val="dk1"/>
              </a:buClr>
              <a:buSzPts val="600"/>
              <a:buChar char="●"/>
            </a:pPr>
            <a:r>
              <a:rPr b="1" lang="en" sz="800">
                <a:solidFill>
                  <a:schemeClr val="dk1"/>
                </a:solidFill>
              </a:rPr>
              <a:t>Degree completion fields:</a:t>
            </a:r>
            <a:r>
              <a:rPr lang="en" sz="800">
                <a:solidFill>
                  <a:schemeClr val="dk1"/>
                </a:solidFill>
              </a:rPr>
              <a:t> years to degree, terms to degree</a:t>
            </a:r>
            <a:br>
              <a:rPr lang="en" sz="600">
                <a:solidFill>
                  <a:schemeClr val="dk1"/>
                </a:solidFill>
              </a:rPr>
            </a:br>
            <a:endParaRPr sz="600"/>
          </a:p>
        </p:txBody>
      </p:sp>
      <p:sp>
        <p:nvSpPr>
          <p:cNvPr id="130" name="Google Shape;130;p25"/>
          <p:cNvSpPr txBox="1"/>
          <p:nvPr/>
        </p:nvSpPr>
        <p:spPr>
          <a:xfrm>
            <a:off x="870200" y="1899750"/>
            <a:ext cx="7854300" cy="732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b="1" lang="en" sz="800">
                <a:solidFill>
                  <a:schemeClr val="dk1"/>
                </a:solidFill>
              </a:rPr>
              <a:t>FA Stdnt Success</a:t>
            </a:r>
            <a:r>
              <a:rPr lang="en" sz="800">
                <a:solidFill>
                  <a:schemeClr val="dk1"/>
                </a:solidFill>
              </a:rPr>
              <a:t>  </a:t>
            </a:r>
            <a:r>
              <a:rPr i="1" lang="en" sz="800">
                <a:solidFill>
                  <a:schemeClr val="dk1"/>
                </a:solidFill>
              </a:rPr>
              <a:t>25,960 rows × 131 columns</a:t>
            </a:r>
            <a:br>
              <a:rPr i="1" lang="en" sz="800">
                <a:solidFill>
                  <a:schemeClr val="dk1"/>
                </a:solidFill>
              </a:rPr>
            </a:br>
            <a:r>
              <a:rPr lang="en" sz="800">
                <a:solidFill>
                  <a:schemeClr val="dk1"/>
                </a:solidFill>
              </a:rPr>
              <a:t>Complete student records: demographics, high-school metrics, placement tests, SAT scores, and six-year financial aid history.</a:t>
            </a:r>
            <a:br>
              <a:rPr lang="en" sz="800">
                <a:solidFill>
                  <a:schemeClr val="dk1"/>
                </a:solidFill>
              </a:rPr>
            </a:br>
            <a:r>
              <a:rPr b="1" lang="en" sz="800">
                <a:solidFill>
                  <a:schemeClr val="dk1"/>
                </a:solidFill>
              </a:rPr>
              <a:t>AP Courses</a:t>
            </a:r>
            <a:r>
              <a:rPr lang="en" sz="800">
                <a:solidFill>
                  <a:schemeClr val="dk1"/>
                </a:solidFill>
              </a:rPr>
              <a:t>  </a:t>
            </a:r>
            <a:r>
              <a:rPr i="1" lang="en" sz="800">
                <a:solidFill>
                  <a:schemeClr val="dk1"/>
                </a:solidFill>
              </a:rPr>
              <a:t>58,246 rows × 13 columns</a:t>
            </a:r>
            <a:br>
              <a:rPr i="1" lang="en" sz="800">
                <a:solidFill>
                  <a:schemeClr val="dk1"/>
                </a:solidFill>
              </a:rPr>
            </a:br>
            <a:r>
              <a:rPr lang="en" sz="800">
                <a:solidFill>
                  <a:schemeClr val="dk1"/>
                </a:solidFill>
              </a:rPr>
              <a:t>AP exam-level data: test components, scores, credit earned, and transfer credits.</a:t>
            </a:r>
            <a:endParaRPr sz="800">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6"/>
          <p:cNvSpPr txBox="1"/>
          <p:nvPr>
            <p:ph type="title"/>
          </p:nvPr>
        </p:nvSpPr>
        <p:spPr>
          <a:xfrm>
            <a:off x="457200" y="702644"/>
            <a:ext cx="8229600" cy="644100"/>
          </a:xfrm>
          <a:prstGeom prst="rect">
            <a:avLst/>
          </a:prstGeom>
        </p:spPr>
        <p:txBody>
          <a:bodyPr anchorCtr="0" anchor="ctr" bIns="45700" lIns="91425" spcFirstLastPara="1" rIns="91425" wrap="square" tIns="45700">
            <a:normAutofit fontScale="90000"/>
          </a:bodyPr>
          <a:lstStyle/>
          <a:p>
            <a:pPr indent="0" lvl="0" marL="0" rtl="0" algn="ctr">
              <a:spcBef>
                <a:spcPts val="0"/>
              </a:spcBef>
              <a:spcAft>
                <a:spcPts val="0"/>
              </a:spcAft>
              <a:buNone/>
            </a:pPr>
            <a:r>
              <a:rPr lang="en"/>
              <a:t>Model Architecture</a:t>
            </a:r>
            <a:endParaRPr/>
          </a:p>
        </p:txBody>
      </p:sp>
      <p:sp>
        <p:nvSpPr>
          <p:cNvPr id="136" name="Google Shape;136;p26"/>
          <p:cNvSpPr/>
          <p:nvPr/>
        </p:nvSpPr>
        <p:spPr>
          <a:xfrm>
            <a:off x="885750" y="1639650"/>
            <a:ext cx="1517700" cy="490500"/>
          </a:xfrm>
          <a:prstGeom prst="roundRect">
            <a:avLst>
              <a:gd fmla="val 16667" name="adj"/>
            </a:avLst>
          </a:prstGeom>
          <a:solidFill>
            <a:srgbClr val="EBB53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lt1"/>
                </a:solidFill>
              </a:rPr>
              <a:t>Data Ingestion</a:t>
            </a:r>
            <a:endParaRPr b="1">
              <a:solidFill>
                <a:schemeClr val="lt1"/>
              </a:solidFill>
            </a:endParaRPr>
          </a:p>
        </p:txBody>
      </p:sp>
      <p:sp>
        <p:nvSpPr>
          <p:cNvPr id="137" name="Google Shape;137;p26"/>
          <p:cNvSpPr/>
          <p:nvPr/>
        </p:nvSpPr>
        <p:spPr>
          <a:xfrm>
            <a:off x="4994750" y="2784175"/>
            <a:ext cx="1517700" cy="490500"/>
          </a:xfrm>
          <a:prstGeom prst="roundRect">
            <a:avLst>
              <a:gd fmla="val 16667" name="adj"/>
            </a:avLst>
          </a:prstGeom>
          <a:solidFill>
            <a:srgbClr val="EBB53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lt1"/>
                </a:solidFill>
              </a:rPr>
              <a:t>PCA Variant</a:t>
            </a:r>
            <a:endParaRPr b="1">
              <a:solidFill>
                <a:schemeClr val="lt1"/>
              </a:solidFill>
            </a:endParaRPr>
          </a:p>
        </p:txBody>
      </p:sp>
      <p:sp>
        <p:nvSpPr>
          <p:cNvPr id="138" name="Google Shape;138;p26"/>
          <p:cNvSpPr/>
          <p:nvPr/>
        </p:nvSpPr>
        <p:spPr>
          <a:xfrm>
            <a:off x="7169100" y="2784175"/>
            <a:ext cx="1517700" cy="490500"/>
          </a:xfrm>
          <a:prstGeom prst="roundRect">
            <a:avLst>
              <a:gd fmla="val 16667" name="adj"/>
            </a:avLst>
          </a:prstGeom>
          <a:solidFill>
            <a:srgbClr val="A6A6A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t>Model Training</a:t>
            </a:r>
            <a:endParaRPr b="1"/>
          </a:p>
        </p:txBody>
      </p:sp>
      <p:sp>
        <p:nvSpPr>
          <p:cNvPr id="139" name="Google Shape;139;p26"/>
          <p:cNvSpPr/>
          <p:nvPr/>
        </p:nvSpPr>
        <p:spPr>
          <a:xfrm>
            <a:off x="7169100" y="1591700"/>
            <a:ext cx="1517700" cy="567300"/>
          </a:xfrm>
          <a:prstGeom prst="roundRect">
            <a:avLst>
              <a:gd fmla="val 16667" name="adj"/>
            </a:avLst>
          </a:prstGeom>
          <a:solidFill>
            <a:srgbClr val="A6A6A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t>Modeling Pipeline</a:t>
            </a:r>
            <a:endParaRPr b="1"/>
          </a:p>
        </p:txBody>
      </p:sp>
      <p:sp>
        <p:nvSpPr>
          <p:cNvPr id="140" name="Google Shape;140;p26"/>
          <p:cNvSpPr/>
          <p:nvPr/>
        </p:nvSpPr>
        <p:spPr>
          <a:xfrm>
            <a:off x="4994750" y="1633988"/>
            <a:ext cx="1517700" cy="490500"/>
          </a:xfrm>
          <a:prstGeom prst="roundRect">
            <a:avLst>
              <a:gd fmla="val 16667" name="adj"/>
            </a:avLst>
          </a:prstGeom>
          <a:solidFill>
            <a:srgbClr val="EBB53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lt1"/>
                </a:solidFill>
              </a:rPr>
              <a:t>Exploratory Data Analysis</a:t>
            </a:r>
            <a:endParaRPr b="1">
              <a:solidFill>
                <a:schemeClr val="lt1"/>
              </a:solidFill>
            </a:endParaRPr>
          </a:p>
        </p:txBody>
      </p:sp>
      <p:sp>
        <p:nvSpPr>
          <p:cNvPr id="141" name="Google Shape;141;p26"/>
          <p:cNvSpPr/>
          <p:nvPr/>
        </p:nvSpPr>
        <p:spPr>
          <a:xfrm>
            <a:off x="2940250" y="1639650"/>
            <a:ext cx="1517700" cy="490500"/>
          </a:xfrm>
          <a:prstGeom prst="roundRect">
            <a:avLst>
              <a:gd fmla="val 16667" name="adj"/>
            </a:avLst>
          </a:prstGeom>
          <a:solidFill>
            <a:srgbClr val="A6A6A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t>Feature Engineering</a:t>
            </a:r>
            <a:endParaRPr b="1"/>
          </a:p>
        </p:txBody>
      </p:sp>
      <p:sp>
        <p:nvSpPr>
          <p:cNvPr id="142" name="Google Shape;142;p26"/>
          <p:cNvSpPr/>
          <p:nvPr/>
        </p:nvSpPr>
        <p:spPr>
          <a:xfrm>
            <a:off x="2940250" y="2784163"/>
            <a:ext cx="1517700" cy="490500"/>
          </a:xfrm>
          <a:prstGeom prst="roundRect">
            <a:avLst>
              <a:gd fmla="val 16667" name="adj"/>
            </a:avLst>
          </a:prstGeom>
          <a:solidFill>
            <a:srgbClr val="A6A6A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t>Hyperparameter Tuning</a:t>
            </a:r>
            <a:endParaRPr b="1"/>
          </a:p>
        </p:txBody>
      </p:sp>
      <p:sp>
        <p:nvSpPr>
          <p:cNvPr id="143" name="Google Shape;143;p26"/>
          <p:cNvSpPr/>
          <p:nvPr/>
        </p:nvSpPr>
        <p:spPr>
          <a:xfrm>
            <a:off x="4994750" y="3934375"/>
            <a:ext cx="1517700" cy="567300"/>
          </a:xfrm>
          <a:prstGeom prst="roundRect">
            <a:avLst>
              <a:gd fmla="val 16667" name="adj"/>
            </a:avLst>
          </a:prstGeom>
          <a:solidFill>
            <a:srgbClr val="A6A6A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t> Deployment into Power BI</a:t>
            </a:r>
            <a:endParaRPr b="1"/>
          </a:p>
        </p:txBody>
      </p:sp>
      <p:sp>
        <p:nvSpPr>
          <p:cNvPr id="144" name="Google Shape;144;p26"/>
          <p:cNvSpPr/>
          <p:nvPr/>
        </p:nvSpPr>
        <p:spPr>
          <a:xfrm>
            <a:off x="2940250" y="3972775"/>
            <a:ext cx="1517700" cy="490500"/>
          </a:xfrm>
          <a:prstGeom prst="roundRect">
            <a:avLst>
              <a:gd fmla="val 16667" name="adj"/>
            </a:avLst>
          </a:prstGeom>
          <a:solidFill>
            <a:srgbClr val="EBB53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lt1"/>
                </a:solidFill>
              </a:rPr>
              <a:t>Model Interpretability</a:t>
            </a:r>
            <a:endParaRPr b="1">
              <a:solidFill>
                <a:schemeClr val="lt1"/>
              </a:solidFill>
            </a:endParaRPr>
          </a:p>
        </p:txBody>
      </p:sp>
      <p:sp>
        <p:nvSpPr>
          <p:cNvPr id="145" name="Google Shape;145;p26"/>
          <p:cNvSpPr/>
          <p:nvPr/>
        </p:nvSpPr>
        <p:spPr>
          <a:xfrm>
            <a:off x="885750" y="2784175"/>
            <a:ext cx="1517700" cy="490500"/>
          </a:xfrm>
          <a:prstGeom prst="roundRect">
            <a:avLst>
              <a:gd fmla="val 16667" name="adj"/>
            </a:avLst>
          </a:prstGeom>
          <a:solidFill>
            <a:srgbClr val="EBB53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a:solidFill>
                  <a:schemeClr val="lt1"/>
                </a:solidFill>
              </a:rPr>
              <a:t>Model Selection</a:t>
            </a:r>
            <a:endParaRPr b="1">
              <a:solidFill>
                <a:schemeClr val="lt1"/>
              </a:solidFill>
            </a:endParaRPr>
          </a:p>
        </p:txBody>
      </p:sp>
      <p:cxnSp>
        <p:nvCxnSpPr>
          <p:cNvPr id="146" name="Google Shape;146;p26"/>
          <p:cNvCxnSpPr>
            <a:stCxn id="136" idx="3"/>
            <a:endCxn id="141" idx="1"/>
          </p:cNvCxnSpPr>
          <p:nvPr/>
        </p:nvCxnSpPr>
        <p:spPr>
          <a:xfrm>
            <a:off x="2403450" y="1884900"/>
            <a:ext cx="536700" cy="0"/>
          </a:xfrm>
          <a:prstGeom prst="straightConnector1">
            <a:avLst/>
          </a:prstGeom>
          <a:noFill/>
          <a:ln cap="flat" cmpd="sng" w="9525">
            <a:solidFill>
              <a:schemeClr val="dk2"/>
            </a:solidFill>
            <a:prstDash val="solid"/>
            <a:round/>
            <a:headEnd len="med" w="med" type="none"/>
            <a:tailEnd len="med" w="med" type="triangle"/>
          </a:ln>
        </p:spPr>
      </p:cxnSp>
      <p:cxnSp>
        <p:nvCxnSpPr>
          <p:cNvPr id="147" name="Google Shape;147;p26"/>
          <p:cNvCxnSpPr>
            <a:stCxn id="141" idx="3"/>
            <a:endCxn id="140" idx="1"/>
          </p:cNvCxnSpPr>
          <p:nvPr/>
        </p:nvCxnSpPr>
        <p:spPr>
          <a:xfrm flipH="1" rot="10800000">
            <a:off x="4457950" y="1879200"/>
            <a:ext cx="536700" cy="5700"/>
          </a:xfrm>
          <a:prstGeom prst="straightConnector1">
            <a:avLst/>
          </a:prstGeom>
          <a:noFill/>
          <a:ln cap="flat" cmpd="sng" w="9525">
            <a:solidFill>
              <a:schemeClr val="dk2"/>
            </a:solidFill>
            <a:prstDash val="solid"/>
            <a:round/>
            <a:headEnd len="med" w="med" type="none"/>
            <a:tailEnd len="med" w="med" type="triangle"/>
          </a:ln>
        </p:spPr>
      </p:cxnSp>
      <p:cxnSp>
        <p:nvCxnSpPr>
          <p:cNvPr id="148" name="Google Shape;148;p26"/>
          <p:cNvCxnSpPr>
            <a:stCxn id="140" idx="3"/>
          </p:cNvCxnSpPr>
          <p:nvPr/>
        </p:nvCxnSpPr>
        <p:spPr>
          <a:xfrm flipH="1" rot="10800000">
            <a:off x="6512450" y="1871438"/>
            <a:ext cx="644400" cy="7800"/>
          </a:xfrm>
          <a:prstGeom prst="straightConnector1">
            <a:avLst/>
          </a:prstGeom>
          <a:noFill/>
          <a:ln cap="flat" cmpd="sng" w="9525">
            <a:solidFill>
              <a:schemeClr val="dk2"/>
            </a:solidFill>
            <a:prstDash val="solid"/>
            <a:round/>
            <a:headEnd len="med" w="med" type="none"/>
            <a:tailEnd len="med" w="med" type="triangle"/>
          </a:ln>
        </p:spPr>
      </p:cxnSp>
      <p:cxnSp>
        <p:nvCxnSpPr>
          <p:cNvPr id="149" name="Google Shape;149;p26"/>
          <p:cNvCxnSpPr>
            <a:stCxn id="139" idx="3"/>
            <a:endCxn id="138" idx="3"/>
          </p:cNvCxnSpPr>
          <p:nvPr/>
        </p:nvCxnSpPr>
        <p:spPr>
          <a:xfrm>
            <a:off x="8686800" y="1875350"/>
            <a:ext cx="600" cy="1154100"/>
          </a:xfrm>
          <a:prstGeom prst="bentConnector3">
            <a:avLst>
              <a:gd fmla="val 39687500" name="adj1"/>
            </a:avLst>
          </a:prstGeom>
          <a:noFill/>
          <a:ln cap="flat" cmpd="sng" w="9525">
            <a:solidFill>
              <a:schemeClr val="dk2"/>
            </a:solidFill>
            <a:prstDash val="solid"/>
            <a:round/>
            <a:headEnd len="med" w="med" type="none"/>
            <a:tailEnd len="med" w="med" type="none"/>
          </a:ln>
        </p:spPr>
      </p:cxnSp>
      <p:cxnSp>
        <p:nvCxnSpPr>
          <p:cNvPr id="150" name="Google Shape;150;p26"/>
          <p:cNvCxnSpPr>
            <a:stCxn id="138" idx="1"/>
            <a:endCxn id="137" idx="3"/>
          </p:cNvCxnSpPr>
          <p:nvPr/>
        </p:nvCxnSpPr>
        <p:spPr>
          <a:xfrm rot="10800000">
            <a:off x="6512400" y="3029425"/>
            <a:ext cx="656700" cy="0"/>
          </a:xfrm>
          <a:prstGeom prst="straightConnector1">
            <a:avLst/>
          </a:prstGeom>
          <a:noFill/>
          <a:ln cap="flat" cmpd="sng" w="9525">
            <a:solidFill>
              <a:schemeClr val="dk2"/>
            </a:solidFill>
            <a:prstDash val="solid"/>
            <a:round/>
            <a:headEnd len="med" w="med" type="none"/>
            <a:tailEnd len="med" w="med" type="triangle"/>
          </a:ln>
        </p:spPr>
      </p:cxnSp>
      <p:cxnSp>
        <p:nvCxnSpPr>
          <p:cNvPr id="151" name="Google Shape;151;p26"/>
          <p:cNvCxnSpPr>
            <a:stCxn id="137" idx="1"/>
            <a:endCxn id="142" idx="3"/>
          </p:cNvCxnSpPr>
          <p:nvPr/>
        </p:nvCxnSpPr>
        <p:spPr>
          <a:xfrm rot="10800000">
            <a:off x="4458050" y="3029425"/>
            <a:ext cx="536700" cy="0"/>
          </a:xfrm>
          <a:prstGeom prst="straightConnector1">
            <a:avLst/>
          </a:prstGeom>
          <a:noFill/>
          <a:ln cap="flat" cmpd="sng" w="9525">
            <a:solidFill>
              <a:schemeClr val="dk2"/>
            </a:solidFill>
            <a:prstDash val="solid"/>
            <a:round/>
            <a:headEnd len="med" w="med" type="none"/>
            <a:tailEnd len="med" w="med" type="triangle"/>
          </a:ln>
        </p:spPr>
      </p:cxnSp>
      <p:cxnSp>
        <p:nvCxnSpPr>
          <p:cNvPr id="152" name="Google Shape;152;p26"/>
          <p:cNvCxnSpPr>
            <a:stCxn id="142" idx="1"/>
            <a:endCxn id="145" idx="3"/>
          </p:cNvCxnSpPr>
          <p:nvPr/>
        </p:nvCxnSpPr>
        <p:spPr>
          <a:xfrm rot="10800000">
            <a:off x="2403550" y="3029413"/>
            <a:ext cx="536700" cy="0"/>
          </a:xfrm>
          <a:prstGeom prst="straightConnector1">
            <a:avLst/>
          </a:prstGeom>
          <a:noFill/>
          <a:ln cap="flat" cmpd="sng" w="9525">
            <a:solidFill>
              <a:schemeClr val="dk2"/>
            </a:solidFill>
            <a:prstDash val="solid"/>
            <a:round/>
            <a:headEnd len="med" w="med" type="none"/>
            <a:tailEnd len="med" w="med" type="triangle"/>
          </a:ln>
        </p:spPr>
      </p:cxnSp>
      <p:cxnSp>
        <p:nvCxnSpPr>
          <p:cNvPr id="153" name="Google Shape;153;p26"/>
          <p:cNvCxnSpPr>
            <a:stCxn id="145" idx="1"/>
            <a:endCxn id="144" idx="1"/>
          </p:cNvCxnSpPr>
          <p:nvPr/>
        </p:nvCxnSpPr>
        <p:spPr>
          <a:xfrm>
            <a:off x="885750" y="3029425"/>
            <a:ext cx="2054400" cy="1188600"/>
          </a:xfrm>
          <a:prstGeom prst="bentConnector3">
            <a:avLst>
              <a:gd fmla="val -11591" name="adj1"/>
            </a:avLst>
          </a:prstGeom>
          <a:noFill/>
          <a:ln cap="flat" cmpd="sng" w="9525">
            <a:solidFill>
              <a:schemeClr val="dk2"/>
            </a:solidFill>
            <a:prstDash val="solid"/>
            <a:round/>
            <a:headEnd len="med" w="med" type="none"/>
            <a:tailEnd len="med" w="med" type="none"/>
          </a:ln>
        </p:spPr>
      </p:cxnSp>
      <p:cxnSp>
        <p:nvCxnSpPr>
          <p:cNvPr id="154" name="Google Shape;154;p26"/>
          <p:cNvCxnSpPr>
            <a:stCxn id="144" idx="3"/>
            <a:endCxn id="143" idx="1"/>
          </p:cNvCxnSpPr>
          <p:nvPr/>
        </p:nvCxnSpPr>
        <p:spPr>
          <a:xfrm>
            <a:off x="4457950" y="4218025"/>
            <a:ext cx="536700" cy="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7"/>
          <p:cNvSpPr txBox="1"/>
          <p:nvPr>
            <p:ph type="title"/>
          </p:nvPr>
        </p:nvSpPr>
        <p:spPr>
          <a:xfrm>
            <a:off x="457200" y="702644"/>
            <a:ext cx="8229600" cy="644100"/>
          </a:xfrm>
          <a:prstGeom prst="rect">
            <a:avLst/>
          </a:prstGeom>
        </p:spPr>
        <p:txBody>
          <a:bodyPr anchorCtr="0" anchor="ctr" bIns="45700" lIns="91425" spcFirstLastPara="1" rIns="91425" wrap="square" tIns="45700">
            <a:normAutofit fontScale="90000"/>
          </a:bodyPr>
          <a:lstStyle/>
          <a:p>
            <a:pPr indent="0" lvl="0" marL="0" rtl="0" algn="ctr">
              <a:spcBef>
                <a:spcPts val="0"/>
              </a:spcBef>
              <a:spcAft>
                <a:spcPts val="0"/>
              </a:spcAft>
              <a:buNone/>
            </a:pPr>
            <a:r>
              <a:rPr lang="en"/>
              <a:t>Feature Engineering</a:t>
            </a:r>
            <a:endParaRPr/>
          </a:p>
        </p:txBody>
      </p:sp>
      <p:sp>
        <p:nvSpPr>
          <p:cNvPr id="160" name="Google Shape;160;p27"/>
          <p:cNvSpPr/>
          <p:nvPr/>
        </p:nvSpPr>
        <p:spPr>
          <a:xfrm>
            <a:off x="457200" y="2402950"/>
            <a:ext cx="3143394" cy="554094"/>
          </a:xfrm>
          <a:prstGeom prst="flowChartTerminator">
            <a:avLst/>
          </a:prstGeom>
          <a:solidFill>
            <a:srgbClr val="A6A6A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t>AP FEATURE ENGINEERING</a:t>
            </a:r>
            <a:endParaRPr b="1" sz="1200"/>
          </a:p>
        </p:txBody>
      </p:sp>
      <p:sp>
        <p:nvSpPr>
          <p:cNvPr id="161" name="Google Shape;161;p27"/>
          <p:cNvSpPr txBox="1"/>
          <p:nvPr/>
        </p:nvSpPr>
        <p:spPr>
          <a:xfrm>
            <a:off x="3902525" y="1507125"/>
            <a:ext cx="49689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solidFill>
                  <a:schemeClr val="dk1"/>
                </a:solidFill>
              </a:rPr>
              <a:t>The AP dataset was cleaned by standardizing TEST_ID and TEST_COMPONENT fields, constructing a unified AP_Code, and normalizing TestDescription text. Each exam was then mapped into one of seven subject categories social, language, English, STEM, math, computer, or art/music using a standardized AP subject dictionary.</a:t>
            </a:r>
            <a:endParaRPr sz="800">
              <a:solidFill>
                <a:schemeClr val="dk1"/>
              </a:solidFill>
            </a:endParaRPr>
          </a:p>
        </p:txBody>
      </p:sp>
      <p:sp>
        <p:nvSpPr>
          <p:cNvPr id="162" name="Google Shape;162;p27"/>
          <p:cNvSpPr txBox="1"/>
          <p:nvPr/>
        </p:nvSpPr>
        <p:spPr>
          <a:xfrm>
            <a:off x="3902525" y="2277100"/>
            <a:ext cx="49689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solidFill>
                  <a:schemeClr val="dk1"/>
                </a:solidFill>
              </a:rPr>
              <a:t>We aggregated all AP rows per student to compute total tests, unique codes, AP credits, and score summaries (avg/max). Subject-level AP counts were generated for seven domains, along with composite STEM features such as AP_ct_STEM_like and AP_STEM_ratio. The final engineered AP dataset was saved as CSV and Parquet files.</a:t>
            </a:r>
            <a:endParaRPr sz="800">
              <a:solidFill>
                <a:schemeClr val="dk1"/>
              </a:solidFill>
            </a:endParaRPr>
          </a:p>
        </p:txBody>
      </p:sp>
      <p:sp>
        <p:nvSpPr>
          <p:cNvPr id="163" name="Google Shape;163;p27"/>
          <p:cNvSpPr txBox="1"/>
          <p:nvPr/>
        </p:nvSpPr>
        <p:spPr>
          <a:xfrm>
            <a:off x="3926375" y="3047063"/>
            <a:ext cx="49689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solidFill>
                  <a:schemeClr val="dk1"/>
                </a:solidFill>
              </a:rPr>
              <a:t>Financial variables were created by summing six years of grant and merit amounts into TotalSupport and generating Supported/NeedStatus indicators. Students were grouped into SupportBin ranges (NoSup to &gt;20K) to capture practical funding levels, and the engineered aid dataset was stored in CSV and Parquet formats.</a:t>
            </a:r>
            <a:endParaRPr sz="800">
              <a:solidFill>
                <a:schemeClr val="dk1"/>
              </a:solidFill>
            </a:endParaRPr>
          </a:p>
        </p:txBody>
      </p:sp>
      <p:sp>
        <p:nvSpPr>
          <p:cNvPr id="164" name="Google Shape;164;p27"/>
          <p:cNvSpPr txBox="1"/>
          <p:nvPr/>
        </p:nvSpPr>
        <p:spPr>
          <a:xfrm>
            <a:off x="3902525" y="4074450"/>
            <a:ext cx="49689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solidFill>
                  <a:schemeClr val="dk1"/>
                </a:solidFill>
              </a:rPr>
              <a:t>EmployeeID values were standardized across datasets and merged using a left join, ensuring all aid records remained. The merge was validated through match-rate checks to confirm proper alignment of AP features with student profiles.</a:t>
            </a:r>
            <a:endParaRPr sz="800">
              <a:solidFill>
                <a:schemeClr val="dk1"/>
              </a:solidFill>
            </a:endParaRPr>
          </a:p>
        </p:txBody>
      </p:sp>
      <p:sp>
        <p:nvSpPr>
          <p:cNvPr id="165" name="Google Shape;165;p27"/>
          <p:cNvSpPr/>
          <p:nvPr/>
        </p:nvSpPr>
        <p:spPr>
          <a:xfrm>
            <a:off x="457200" y="4074425"/>
            <a:ext cx="3143394" cy="554094"/>
          </a:xfrm>
          <a:prstGeom prst="flowChartTerminator">
            <a:avLst/>
          </a:prstGeom>
          <a:solidFill>
            <a:srgbClr val="A6A6A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t>MERGING AP + AID DATA</a:t>
            </a:r>
            <a:endParaRPr b="1" sz="1200"/>
          </a:p>
        </p:txBody>
      </p:sp>
      <p:sp>
        <p:nvSpPr>
          <p:cNvPr id="166" name="Google Shape;166;p27"/>
          <p:cNvSpPr/>
          <p:nvPr/>
        </p:nvSpPr>
        <p:spPr>
          <a:xfrm>
            <a:off x="457200" y="3237311"/>
            <a:ext cx="3143394" cy="554094"/>
          </a:xfrm>
          <a:prstGeom prst="flowChartTerminator">
            <a:avLst/>
          </a:prstGeom>
          <a:solidFill>
            <a:srgbClr val="A6A6A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t>FINANCIAL AID FEATURE ENGINEERING</a:t>
            </a:r>
            <a:endParaRPr b="1" sz="1200"/>
          </a:p>
        </p:txBody>
      </p:sp>
      <p:sp>
        <p:nvSpPr>
          <p:cNvPr id="167" name="Google Shape;167;p27"/>
          <p:cNvSpPr/>
          <p:nvPr/>
        </p:nvSpPr>
        <p:spPr>
          <a:xfrm>
            <a:off x="457200" y="1597800"/>
            <a:ext cx="3143394" cy="554094"/>
          </a:xfrm>
          <a:prstGeom prst="flowChartTerminator">
            <a:avLst/>
          </a:prstGeom>
          <a:solidFill>
            <a:srgbClr val="A6A6A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t>INITIAL CLEANING OF AP DATA</a:t>
            </a:r>
            <a:endParaRPr b="1" sz="12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p28"/>
          <p:cNvSpPr txBox="1"/>
          <p:nvPr/>
        </p:nvSpPr>
        <p:spPr>
          <a:xfrm>
            <a:off x="4264225" y="2574275"/>
            <a:ext cx="43578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solidFill>
                  <a:schemeClr val="dk1"/>
                </a:solidFill>
              </a:rPr>
              <a:t>We detected 34 duplicated student IDs mostly due to AP test repetitions or administrative inconsistencies. Duplicates were resolved by taking maximum values for numeric fields and merging unique values for categorical fields, resulting in </a:t>
            </a:r>
            <a:r>
              <a:rPr b="1" lang="en" sz="800">
                <a:solidFill>
                  <a:schemeClr val="dk1"/>
                </a:solidFill>
              </a:rPr>
              <a:t>25,926 unique students</a:t>
            </a:r>
            <a:r>
              <a:rPr lang="en" sz="800">
                <a:solidFill>
                  <a:schemeClr val="dk1"/>
                </a:solidFill>
              </a:rPr>
              <a:t>.</a:t>
            </a:r>
            <a:endParaRPr sz="800"/>
          </a:p>
        </p:txBody>
      </p:sp>
      <p:sp>
        <p:nvSpPr>
          <p:cNvPr id="173" name="Google Shape;173;p28"/>
          <p:cNvSpPr txBox="1"/>
          <p:nvPr/>
        </p:nvSpPr>
        <p:spPr>
          <a:xfrm>
            <a:off x="4213525" y="3296725"/>
            <a:ext cx="43578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solidFill>
                  <a:schemeClr val="dk1"/>
                </a:solidFill>
              </a:rPr>
              <a:t>To prevent leakage, all post-enrollment, future-term, multi-year aid, and degree-progress columns were removed. Redundant indicators (HasScore flags), AP aggregates, SAT1600Score, and high-cardinality identifiers were dropped, leaving a clean schema of </a:t>
            </a:r>
            <a:r>
              <a:rPr b="1" lang="en" sz="800">
                <a:solidFill>
                  <a:schemeClr val="dk1"/>
                </a:solidFill>
              </a:rPr>
              <a:t>31 predictive features</a:t>
            </a:r>
            <a:r>
              <a:rPr lang="en" sz="800">
                <a:solidFill>
                  <a:schemeClr val="dk1"/>
                </a:solidFill>
              </a:rPr>
              <a:t> (20 numeric, 11 categorical).</a:t>
            </a:r>
            <a:endParaRPr sz="800"/>
          </a:p>
        </p:txBody>
      </p:sp>
      <p:sp>
        <p:nvSpPr>
          <p:cNvPr id="174" name="Google Shape;174;p28"/>
          <p:cNvSpPr txBox="1"/>
          <p:nvPr/>
        </p:nvSpPr>
        <p:spPr>
          <a:xfrm>
            <a:off x="4197175" y="4142175"/>
            <a:ext cx="4357800" cy="677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solidFill>
                  <a:schemeClr val="dk1"/>
                </a:solidFill>
              </a:rPr>
              <a:t>The final modeling dataset contains </a:t>
            </a:r>
            <a:r>
              <a:rPr b="1" lang="en" sz="800">
                <a:solidFill>
                  <a:schemeClr val="dk1"/>
                </a:solidFill>
              </a:rPr>
              <a:t>25,926 students</a:t>
            </a:r>
            <a:r>
              <a:rPr lang="en" sz="800">
                <a:solidFill>
                  <a:schemeClr val="dk1"/>
                </a:solidFill>
              </a:rPr>
              <a:t> and </a:t>
            </a:r>
            <a:r>
              <a:rPr b="1" lang="en" sz="800">
                <a:solidFill>
                  <a:schemeClr val="dk1"/>
                </a:solidFill>
              </a:rPr>
              <a:t>31 fully engineered, leakage-free features</a:t>
            </a:r>
            <a:r>
              <a:rPr lang="en" sz="800">
                <a:solidFill>
                  <a:schemeClr val="dk1"/>
                </a:solidFill>
              </a:rPr>
              <a:t>. These include high-school metrics, placement scores, AP subject indicators, financial support features, and matriculation characteristics forming the structured foundation for all predictive modeling.</a:t>
            </a:r>
            <a:endParaRPr sz="800"/>
          </a:p>
        </p:txBody>
      </p:sp>
      <p:sp>
        <p:nvSpPr>
          <p:cNvPr id="175" name="Google Shape;175;p28"/>
          <p:cNvSpPr/>
          <p:nvPr/>
        </p:nvSpPr>
        <p:spPr>
          <a:xfrm>
            <a:off x="593825" y="4171625"/>
            <a:ext cx="3143394" cy="554094"/>
          </a:xfrm>
          <a:prstGeom prst="flowChartTerminator">
            <a:avLst/>
          </a:prstGeom>
          <a:solidFill>
            <a:srgbClr val="A6A6A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t>FINAL DATASET</a:t>
            </a:r>
            <a:endParaRPr b="1" sz="1200"/>
          </a:p>
        </p:txBody>
      </p:sp>
      <p:sp>
        <p:nvSpPr>
          <p:cNvPr id="176" name="Google Shape;176;p28"/>
          <p:cNvSpPr txBox="1"/>
          <p:nvPr/>
        </p:nvSpPr>
        <p:spPr>
          <a:xfrm>
            <a:off x="4264225" y="1798475"/>
            <a:ext cx="43578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800">
                <a:solidFill>
                  <a:schemeClr val="dk1"/>
                </a:solidFill>
              </a:rPr>
              <a:t>All numeric fields (scores, credits, counts, support totals) were imputed with zero, and all categorical fields were filled with “Unknown.” After cleaning, the merged dataset contained </a:t>
            </a:r>
            <a:r>
              <a:rPr b="1" lang="en" sz="800">
                <a:solidFill>
                  <a:schemeClr val="dk1"/>
                </a:solidFill>
              </a:rPr>
              <a:t>zero missing values</a:t>
            </a:r>
            <a:r>
              <a:rPr lang="en" sz="800">
                <a:solidFill>
                  <a:schemeClr val="dk1"/>
                </a:solidFill>
              </a:rPr>
              <a:t>, ensuring full compatibility with machine-learning pipelines</a:t>
            </a:r>
            <a:endParaRPr sz="800">
              <a:solidFill>
                <a:schemeClr val="dk1"/>
              </a:solidFill>
            </a:endParaRPr>
          </a:p>
        </p:txBody>
      </p:sp>
      <p:sp>
        <p:nvSpPr>
          <p:cNvPr id="177" name="Google Shape;177;p28"/>
          <p:cNvSpPr/>
          <p:nvPr/>
        </p:nvSpPr>
        <p:spPr>
          <a:xfrm>
            <a:off x="593825" y="3358225"/>
            <a:ext cx="3143394" cy="554094"/>
          </a:xfrm>
          <a:prstGeom prst="flowChartTerminator">
            <a:avLst/>
          </a:prstGeom>
          <a:solidFill>
            <a:srgbClr val="A6A6A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lnSpc>
                <a:spcPct val="115000"/>
              </a:lnSpc>
              <a:spcBef>
                <a:spcPts val="1800"/>
              </a:spcBef>
              <a:spcAft>
                <a:spcPts val="0"/>
              </a:spcAft>
              <a:buClr>
                <a:schemeClr val="dk1"/>
              </a:buClr>
              <a:buSzPts val="1100"/>
              <a:buFont typeface="Arial"/>
              <a:buNone/>
            </a:pPr>
            <a:r>
              <a:rPr b="1" lang="en" sz="1200">
                <a:solidFill>
                  <a:schemeClr val="dk1"/>
                </a:solidFill>
              </a:rPr>
              <a:t>FEATURE SELECTION &amp; LEAKAGE REMOVAL</a:t>
            </a:r>
            <a:endParaRPr b="1" sz="1200">
              <a:solidFill>
                <a:schemeClr val="dk1"/>
              </a:solidFill>
            </a:endParaRPr>
          </a:p>
          <a:p>
            <a:pPr indent="0" lvl="0" marL="0" rtl="0" algn="ctr">
              <a:spcBef>
                <a:spcPts val="400"/>
              </a:spcBef>
              <a:spcAft>
                <a:spcPts val="0"/>
              </a:spcAft>
              <a:buNone/>
            </a:pPr>
            <a:r>
              <a:t/>
            </a:r>
            <a:endParaRPr sz="800"/>
          </a:p>
        </p:txBody>
      </p:sp>
      <p:sp>
        <p:nvSpPr>
          <p:cNvPr id="178" name="Google Shape;178;p28"/>
          <p:cNvSpPr/>
          <p:nvPr/>
        </p:nvSpPr>
        <p:spPr>
          <a:xfrm>
            <a:off x="593825" y="2544825"/>
            <a:ext cx="3143394" cy="554094"/>
          </a:xfrm>
          <a:prstGeom prst="flowChartTerminator">
            <a:avLst/>
          </a:prstGeom>
          <a:solidFill>
            <a:srgbClr val="A6A6A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t>DUPLICATE HANDLING</a:t>
            </a:r>
            <a:endParaRPr b="1" sz="1200"/>
          </a:p>
        </p:txBody>
      </p:sp>
      <p:sp>
        <p:nvSpPr>
          <p:cNvPr id="179" name="Google Shape;179;p28"/>
          <p:cNvSpPr/>
          <p:nvPr/>
        </p:nvSpPr>
        <p:spPr>
          <a:xfrm>
            <a:off x="593825" y="1731438"/>
            <a:ext cx="3143394" cy="554094"/>
          </a:xfrm>
          <a:prstGeom prst="flowChartTerminator">
            <a:avLst/>
          </a:prstGeom>
          <a:solidFill>
            <a:srgbClr val="A6A6A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solidFill>
                  <a:schemeClr val="dk1"/>
                </a:solidFill>
              </a:rPr>
              <a:t>HANDLING MISSING DATA</a:t>
            </a:r>
            <a:endParaRPr b="1" sz="1200"/>
          </a:p>
        </p:txBody>
      </p:sp>
      <p:sp>
        <p:nvSpPr>
          <p:cNvPr id="180" name="Google Shape;180;p28"/>
          <p:cNvSpPr txBox="1"/>
          <p:nvPr>
            <p:ph type="title"/>
          </p:nvPr>
        </p:nvSpPr>
        <p:spPr>
          <a:xfrm>
            <a:off x="457200" y="702644"/>
            <a:ext cx="8229600" cy="644100"/>
          </a:xfrm>
          <a:prstGeom prst="rect">
            <a:avLst/>
          </a:prstGeom>
        </p:spPr>
        <p:txBody>
          <a:bodyPr anchorCtr="0" anchor="ctr" bIns="45700" lIns="91425" spcFirstLastPara="1" rIns="91425" wrap="square" tIns="45700">
            <a:normAutofit fontScale="90000"/>
          </a:bodyPr>
          <a:lstStyle/>
          <a:p>
            <a:pPr indent="0" lvl="0" marL="0" rtl="0" algn="ctr">
              <a:spcBef>
                <a:spcPts val="0"/>
              </a:spcBef>
              <a:spcAft>
                <a:spcPts val="0"/>
              </a:spcAft>
              <a:buNone/>
            </a:pPr>
            <a:r>
              <a:rPr lang="en"/>
              <a:t>Feature Engineering</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p29"/>
          <p:cNvSpPr txBox="1"/>
          <p:nvPr>
            <p:ph type="title"/>
          </p:nvPr>
        </p:nvSpPr>
        <p:spPr>
          <a:xfrm>
            <a:off x="457200" y="702644"/>
            <a:ext cx="8229600" cy="644100"/>
          </a:xfrm>
          <a:prstGeom prst="rect">
            <a:avLst/>
          </a:prstGeom>
        </p:spPr>
        <p:txBody>
          <a:bodyPr anchorCtr="0" anchor="ctr" bIns="45700" lIns="91425" spcFirstLastPara="1" rIns="91425" wrap="square" tIns="45700">
            <a:normAutofit fontScale="90000"/>
          </a:bodyPr>
          <a:lstStyle/>
          <a:p>
            <a:pPr indent="0" lvl="0" marL="0" rtl="0" algn="ctr">
              <a:spcBef>
                <a:spcPts val="0"/>
              </a:spcBef>
              <a:spcAft>
                <a:spcPts val="0"/>
              </a:spcAft>
              <a:buNone/>
            </a:pPr>
            <a:r>
              <a:rPr lang="en"/>
              <a:t>EDA</a:t>
            </a:r>
            <a:endParaRPr/>
          </a:p>
        </p:txBody>
      </p:sp>
      <p:pic>
        <p:nvPicPr>
          <p:cNvPr id="186" name="Google Shape;186;p29"/>
          <p:cNvPicPr preferRelativeResize="0"/>
          <p:nvPr/>
        </p:nvPicPr>
        <p:blipFill>
          <a:blip r:embed="rId3">
            <a:alphaModFix/>
          </a:blip>
          <a:stretch>
            <a:fillRect/>
          </a:stretch>
        </p:blipFill>
        <p:spPr>
          <a:xfrm>
            <a:off x="1062350" y="1599638"/>
            <a:ext cx="3734301" cy="1459637"/>
          </a:xfrm>
          <a:prstGeom prst="rect">
            <a:avLst/>
          </a:prstGeom>
          <a:noFill/>
          <a:ln>
            <a:noFill/>
          </a:ln>
        </p:spPr>
      </p:pic>
      <p:pic>
        <p:nvPicPr>
          <p:cNvPr id="187" name="Google Shape;187;p29"/>
          <p:cNvPicPr preferRelativeResize="0"/>
          <p:nvPr/>
        </p:nvPicPr>
        <p:blipFill>
          <a:blip r:embed="rId4">
            <a:alphaModFix/>
          </a:blip>
          <a:stretch>
            <a:fillRect/>
          </a:stretch>
        </p:blipFill>
        <p:spPr>
          <a:xfrm>
            <a:off x="4992750" y="1599650"/>
            <a:ext cx="3476300" cy="1415475"/>
          </a:xfrm>
          <a:prstGeom prst="rect">
            <a:avLst/>
          </a:prstGeom>
          <a:noFill/>
          <a:ln>
            <a:noFill/>
          </a:ln>
        </p:spPr>
      </p:pic>
      <p:pic>
        <p:nvPicPr>
          <p:cNvPr id="188" name="Google Shape;188;p29"/>
          <p:cNvPicPr preferRelativeResize="0"/>
          <p:nvPr/>
        </p:nvPicPr>
        <p:blipFill>
          <a:blip r:embed="rId5">
            <a:alphaModFix/>
          </a:blip>
          <a:stretch>
            <a:fillRect/>
          </a:stretch>
        </p:blipFill>
        <p:spPr>
          <a:xfrm>
            <a:off x="1062350" y="3298825"/>
            <a:ext cx="3476300" cy="1415475"/>
          </a:xfrm>
          <a:prstGeom prst="rect">
            <a:avLst/>
          </a:prstGeom>
          <a:noFill/>
          <a:ln>
            <a:noFill/>
          </a:ln>
        </p:spPr>
      </p:pic>
      <p:pic>
        <p:nvPicPr>
          <p:cNvPr id="189" name="Google Shape;189;p29"/>
          <p:cNvPicPr preferRelativeResize="0"/>
          <p:nvPr/>
        </p:nvPicPr>
        <p:blipFill>
          <a:blip r:embed="rId6">
            <a:alphaModFix/>
          </a:blip>
          <a:stretch>
            <a:fillRect/>
          </a:stretch>
        </p:blipFill>
        <p:spPr>
          <a:xfrm>
            <a:off x="5107525" y="3212525"/>
            <a:ext cx="3361526" cy="15209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3" name="Shape 193"/>
        <p:cNvGrpSpPr/>
        <p:nvPr/>
      </p:nvGrpSpPr>
      <p:grpSpPr>
        <a:xfrm>
          <a:off x="0" y="0"/>
          <a:ext cx="0" cy="0"/>
          <a:chOff x="0" y="0"/>
          <a:chExt cx="0" cy="0"/>
        </a:xfrm>
      </p:grpSpPr>
      <p:sp>
        <p:nvSpPr>
          <p:cNvPr id="194" name="Google Shape;194;p30"/>
          <p:cNvSpPr txBox="1"/>
          <p:nvPr>
            <p:ph idx="1" type="body"/>
          </p:nvPr>
        </p:nvSpPr>
        <p:spPr>
          <a:xfrm>
            <a:off x="457200" y="1610174"/>
            <a:ext cx="8229600" cy="3533400"/>
          </a:xfrm>
          <a:prstGeom prst="rect">
            <a:avLst/>
          </a:prstGeom>
        </p:spPr>
        <p:txBody>
          <a:bodyPr anchorCtr="0" anchor="t" bIns="45700" lIns="91425" spcFirstLastPara="1" rIns="91425" wrap="square" tIns="45700">
            <a:noAutofit/>
          </a:bodyPr>
          <a:lstStyle/>
          <a:p>
            <a:pPr indent="-298450" lvl="0" marL="457200" rtl="0" algn="l">
              <a:spcBef>
                <a:spcPts val="360"/>
              </a:spcBef>
              <a:spcAft>
                <a:spcPts val="0"/>
              </a:spcAft>
              <a:buSzPts val="1100"/>
              <a:buFont typeface="Arial"/>
              <a:buChar char="•"/>
            </a:pPr>
            <a:r>
              <a:rPr lang="en" sz="1100">
                <a:latin typeface="Arial"/>
                <a:ea typeface="Arial"/>
                <a:cs typeface="Arial"/>
                <a:sym typeface="Arial"/>
              </a:rPr>
              <a:t>The dataset shows clear differences between freshmen and transfer students. First-time freshmen make up most of the population, but transfer students graduate at a much higher rate, reflecting stronger prior academic experience.</a:t>
            </a:r>
            <a:br>
              <a:rPr lang="en" sz="1100">
                <a:latin typeface="Arial"/>
                <a:ea typeface="Arial"/>
                <a:cs typeface="Arial"/>
                <a:sym typeface="Arial"/>
              </a:rPr>
            </a:br>
            <a:endParaRPr sz="1100">
              <a:latin typeface="Arial"/>
              <a:ea typeface="Arial"/>
              <a:cs typeface="Arial"/>
              <a:sym typeface="Arial"/>
            </a:endParaRPr>
          </a:p>
          <a:p>
            <a:pPr indent="-298450" lvl="0" marL="457200" rtl="0" algn="l">
              <a:spcBef>
                <a:spcPts val="0"/>
              </a:spcBef>
              <a:spcAft>
                <a:spcPts val="0"/>
              </a:spcAft>
              <a:buSzPts val="1100"/>
              <a:buFont typeface="Arial"/>
              <a:buChar char="•"/>
            </a:pPr>
            <a:r>
              <a:rPr lang="en" sz="1100">
                <a:latin typeface="Arial"/>
                <a:ea typeface="Arial"/>
                <a:cs typeface="Arial"/>
                <a:sym typeface="Arial"/>
              </a:rPr>
              <a:t>Gender patterns indicate that female students consistently graduate at higher rates than male students. Although the difference is moderate, it aligns with national trends showing stronger academic persistence among women.</a:t>
            </a:r>
            <a:br>
              <a:rPr lang="en" sz="1100">
                <a:latin typeface="Arial"/>
                <a:ea typeface="Arial"/>
                <a:cs typeface="Arial"/>
                <a:sym typeface="Arial"/>
              </a:rPr>
            </a:br>
            <a:endParaRPr sz="1100">
              <a:latin typeface="Arial"/>
              <a:ea typeface="Arial"/>
              <a:cs typeface="Arial"/>
              <a:sym typeface="Arial"/>
            </a:endParaRPr>
          </a:p>
          <a:p>
            <a:pPr indent="-298450" lvl="0" marL="457200" rtl="0" algn="l">
              <a:spcBef>
                <a:spcPts val="0"/>
              </a:spcBef>
              <a:spcAft>
                <a:spcPts val="0"/>
              </a:spcAft>
              <a:buSzPts val="1100"/>
              <a:buFont typeface="Arial"/>
              <a:buChar char="•"/>
            </a:pPr>
            <a:r>
              <a:rPr lang="en" sz="1100">
                <a:latin typeface="Arial"/>
                <a:ea typeface="Arial"/>
                <a:cs typeface="Arial"/>
                <a:sym typeface="Arial"/>
              </a:rPr>
              <a:t>Residence status has only a small effect on success. Commuter students show slightly higher graduation rates than on-campus students, suggesting that living arrangements do not significantly alter academic outcomes.</a:t>
            </a:r>
            <a:br>
              <a:rPr lang="en" sz="1100">
                <a:latin typeface="Arial"/>
                <a:ea typeface="Arial"/>
                <a:cs typeface="Arial"/>
                <a:sym typeface="Arial"/>
              </a:rPr>
            </a:br>
            <a:endParaRPr sz="1100">
              <a:latin typeface="Arial"/>
              <a:ea typeface="Arial"/>
              <a:cs typeface="Arial"/>
              <a:sym typeface="Arial"/>
            </a:endParaRPr>
          </a:p>
          <a:p>
            <a:pPr indent="-298450" lvl="0" marL="457200" rtl="0" algn="l">
              <a:spcBef>
                <a:spcPts val="0"/>
              </a:spcBef>
              <a:spcAft>
                <a:spcPts val="0"/>
              </a:spcAft>
              <a:buSzPts val="1100"/>
              <a:buFont typeface="Arial"/>
              <a:buChar char="•"/>
            </a:pPr>
            <a:r>
              <a:rPr lang="en" sz="1100">
                <a:latin typeface="Arial"/>
                <a:ea typeface="Arial"/>
                <a:cs typeface="Arial"/>
                <a:sym typeface="Arial"/>
              </a:rPr>
              <a:t>Graduation outcomes vary across ethnic groups. White and Asian students show the highest completion rates among major categories, while Black/African American and Hispanic/Latino students show lower rates, indicating persistent equity gaps.</a:t>
            </a:r>
            <a:br>
              <a:rPr lang="en" sz="1100">
                <a:latin typeface="Arial"/>
                <a:ea typeface="Arial"/>
                <a:cs typeface="Arial"/>
                <a:sym typeface="Arial"/>
              </a:rPr>
            </a:br>
            <a:endParaRPr sz="1100">
              <a:latin typeface="Arial"/>
              <a:ea typeface="Arial"/>
              <a:cs typeface="Arial"/>
              <a:sym typeface="Arial"/>
            </a:endParaRPr>
          </a:p>
          <a:p>
            <a:pPr indent="-298450" lvl="0" marL="457200" rtl="0" algn="l">
              <a:spcBef>
                <a:spcPts val="0"/>
              </a:spcBef>
              <a:spcAft>
                <a:spcPts val="0"/>
              </a:spcAft>
              <a:buSzPts val="1100"/>
              <a:buFont typeface="Arial"/>
              <a:buChar char="•"/>
            </a:pPr>
            <a:r>
              <a:rPr lang="en" sz="1100">
                <a:latin typeface="Arial"/>
                <a:ea typeface="Arial"/>
                <a:cs typeface="Arial"/>
                <a:sym typeface="Arial"/>
              </a:rPr>
              <a:t>The “Not Specified” ethnicity group shows unexpectedly high graduation rates because this subgroup contains many transfer students, high-aid recipients, full-time enrollees, and students with transfer credits factors that collectively drive strong outcomes.</a:t>
            </a:r>
            <a:br>
              <a:rPr lang="en" sz="1100">
                <a:latin typeface="Arial"/>
                <a:ea typeface="Arial"/>
                <a:cs typeface="Arial"/>
                <a:sym typeface="Arial"/>
              </a:rPr>
            </a:br>
            <a:endParaRPr sz="1100">
              <a:latin typeface="Arial"/>
              <a:ea typeface="Arial"/>
              <a:cs typeface="Arial"/>
              <a:sym typeface="Arial"/>
            </a:endParaRPr>
          </a:p>
          <a:p>
            <a:pPr indent="-298450" lvl="0" marL="457200" rtl="0" algn="l">
              <a:spcBef>
                <a:spcPts val="0"/>
              </a:spcBef>
              <a:spcAft>
                <a:spcPts val="0"/>
              </a:spcAft>
              <a:buSzPts val="1100"/>
              <a:buFont typeface="Arial"/>
              <a:buChar char="•"/>
            </a:pPr>
            <a:r>
              <a:rPr lang="en" sz="1100">
                <a:latin typeface="Arial"/>
                <a:ea typeface="Arial"/>
                <a:cs typeface="Arial"/>
                <a:sym typeface="Arial"/>
              </a:rPr>
              <a:t>Financial support levels show one of the strongest relationships with graduation. Students receiving high institutional support (&gt;$20K) graduate at far higher rates than those receiving minimal or no support, demonstrating that financial resources play a major role in degree completion.</a:t>
            </a:r>
            <a:endParaRPr sz="1100">
              <a:latin typeface="Arial"/>
              <a:ea typeface="Arial"/>
              <a:cs typeface="Arial"/>
              <a:sym typeface="Arial"/>
            </a:endParaRPr>
          </a:p>
          <a:p>
            <a:pPr indent="0" lvl="0" marL="0" rtl="0" algn="l">
              <a:spcBef>
                <a:spcPts val="360"/>
              </a:spcBef>
              <a:spcAft>
                <a:spcPts val="0"/>
              </a:spcAft>
              <a:buNone/>
            </a:pPr>
            <a:r>
              <a:t/>
            </a:r>
            <a:endParaRPr/>
          </a:p>
        </p:txBody>
      </p:sp>
      <p:sp>
        <p:nvSpPr>
          <p:cNvPr id="195" name="Google Shape;195;p30"/>
          <p:cNvSpPr txBox="1"/>
          <p:nvPr>
            <p:ph type="title"/>
          </p:nvPr>
        </p:nvSpPr>
        <p:spPr>
          <a:xfrm>
            <a:off x="457200" y="702644"/>
            <a:ext cx="8229600" cy="644100"/>
          </a:xfrm>
          <a:prstGeom prst="rect">
            <a:avLst/>
          </a:prstGeom>
        </p:spPr>
        <p:txBody>
          <a:bodyPr anchorCtr="0" anchor="ctr" bIns="45700" lIns="91425" spcFirstLastPara="1" rIns="91425" wrap="square" tIns="45700">
            <a:normAutofit fontScale="90000"/>
          </a:bodyPr>
          <a:lstStyle/>
          <a:p>
            <a:pPr indent="0" lvl="0" marL="0" rtl="0" algn="ctr">
              <a:spcBef>
                <a:spcPts val="0"/>
              </a:spcBef>
              <a:spcAft>
                <a:spcPts val="0"/>
              </a:spcAft>
              <a:buNone/>
            </a:pPr>
            <a:r>
              <a:rPr lang="en"/>
              <a:t>EDA</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graphicFrame>
        <p:nvGraphicFramePr>
          <p:cNvPr id="200" name="Google Shape;200;p31"/>
          <p:cNvGraphicFramePr/>
          <p:nvPr/>
        </p:nvGraphicFramePr>
        <p:xfrm>
          <a:off x="4572000" y="2741750"/>
          <a:ext cx="3000000" cy="3000000"/>
        </p:xfrm>
        <a:graphic>
          <a:graphicData uri="http://schemas.openxmlformats.org/drawingml/2006/table">
            <a:tbl>
              <a:tblPr>
                <a:noFill/>
                <a:tableStyleId>{24C009FF-336C-47B4-8BC5-F4C2A9347E70}</a:tableStyleId>
              </a:tblPr>
              <a:tblGrid>
                <a:gridCol w="1228725"/>
                <a:gridCol w="638175"/>
                <a:gridCol w="619125"/>
                <a:gridCol w="493450"/>
                <a:gridCol w="533925"/>
                <a:gridCol w="651025"/>
              </a:tblGrid>
              <a:tr h="210900">
                <a:tc>
                  <a:txBody>
                    <a:bodyPr/>
                    <a:lstStyle/>
                    <a:p>
                      <a:pPr indent="0" lvl="0" marL="0" rtl="0" algn="ctr">
                        <a:lnSpc>
                          <a:spcPct val="115000"/>
                        </a:lnSpc>
                        <a:spcBef>
                          <a:spcPts val="0"/>
                        </a:spcBef>
                        <a:spcAft>
                          <a:spcPts val="0"/>
                        </a:spcAft>
                        <a:buNone/>
                      </a:pPr>
                      <a:r>
                        <a:rPr b="1" lang="en" sz="700">
                          <a:solidFill>
                            <a:schemeClr val="lt1"/>
                          </a:solidFill>
                        </a:rPr>
                        <a:t>Model</a:t>
                      </a:r>
                      <a:endParaRPr b="1" sz="700">
                        <a:solidFill>
                          <a:schemeClr val="lt1"/>
                        </a:solidFill>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40000"/>
                    </a:solidFill>
                  </a:tcPr>
                </a:tc>
                <a:tc>
                  <a:txBody>
                    <a:bodyPr/>
                    <a:lstStyle/>
                    <a:p>
                      <a:pPr indent="0" lvl="0" marL="0" rtl="0" algn="ctr">
                        <a:lnSpc>
                          <a:spcPct val="115000"/>
                        </a:lnSpc>
                        <a:spcBef>
                          <a:spcPts val="0"/>
                        </a:spcBef>
                        <a:spcAft>
                          <a:spcPts val="0"/>
                        </a:spcAft>
                        <a:buNone/>
                      </a:pPr>
                      <a:r>
                        <a:rPr b="1" lang="en" sz="700">
                          <a:solidFill>
                            <a:schemeClr val="lt1"/>
                          </a:solidFill>
                        </a:rPr>
                        <a:t>Accuracy</a:t>
                      </a:r>
                      <a:endParaRPr b="1" sz="700">
                        <a:solidFill>
                          <a:schemeClr val="lt1"/>
                        </a:solidFill>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40000"/>
                    </a:solidFill>
                  </a:tcPr>
                </a:tc>
                <a:tc>
                  <a:txBody>
                    <a:bodyPr/>
                    <a:lstStyle/>
                    <a:p>
                      <a:pPr indent="0" lvl="0" marL="0" rtl="0" algn="ctr">
                        <a:lnSpc>
                          <a:spcPct val="115000"/>
                        </a:lnSpc>
                        <a:spcBef>
                          <a:spcPts val="0"/>
                        </a:spcBef>
                        <a:spcAft>
                          <a:spcPts val="0"/>
                        </a:spcAft>
                        <a:buNone/>
                      </a:pPr>
                      <a:r>
                        <a:rPr b="1" lang="en" sz="700">
                          <a:solidFill>
                            <a:schemeClr val="lt1"/>
                          </a:solidFill>
                        </a:rPr>
                        <a:t>Precision</a:t>
                      </a:r>
                      <a:endParaRPr b="1" sz="700">
                        <a:solidFill>
                          <a:schemeClr val="lt1"/>
                        </a:solidFill>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40000"/>
                    </a:solidFill>
                  </a:tcPr>
                </a:tc>
                <a:tc>
                  <a:txBody>
                    <a:bodyPr/>
                    <a:lstStyle/>
                    <a:p>
                      <a:pPr indent="0" lvl="0" marL="0" rtl="0" algn="ctr">
                        <a:lnSpc>
                          <a:spcPct val="115000"/>
                        </a:lnSpc>
                        <a:spcBef>
                          <a:spcPts val="0"/>
                        </a:spcBef>
                        <a:spcAft>
                          <a:spcPts val="0"/>
                        </a:spcAft>
                        <a:buNone/>
                      </a:pPr>
                      <a:r>
                        <a:rPr b="1" lang="en" sz="700">
                          <a:solidFill>
                            <a:schemeClr val="lt1"/>
                          </a:solidFill>
                        </a:rPr>
                        <a:t>Recall</a:t>
                      </a:r>
                      <a:endParaRPr b="1" sz="700">
                        <a:solidFill>
                          <a:schemeClr val="lt1"/>
                        </a:solidFill>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40000"/>
                    </a:solidFill>
                  </a:tcPr>
                </a:tc>
                <a:tc>
                  <a:txBody>
                    <a:bodyPr/>
                    <a:lstStyle/>
                    <a:p>
                      <a:pPr indent="0" lvl="0" marL="0" rtl="0" algn="ctr">
                        <a:lnSpc>
                          <a:spcPct val="115000"/>
                        </a:lnSpc>
                        <a:spcBef>
                          <a:spcPts val="0"/>
                        </a:spcBef>
                        <a:spcAft>
                          <a:spcPts val="0"/>
                        </a:spcAft>
                        <a:buNone/>
                      </a:pPr>
                      <a:r>
                        <a:rPr b="1" lang="en" sz="700">
                          <a:solidFill>
                            <a:schemeClr val="lt1"/>
                          </a:solidFill>
                        </a:rPr>
                        <a:t>F1</a:t>
                      </a:r>
                      <a:endParaRPr b="1" sz="700">
                        <a:solidFill>
                          <a:schemeClr val="lt1"/>
                        </a:solidFill>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40000"/>
                    </a:solidFill>
                  </a:tcPr>
                </a:tc>
                <a:tc>
                  <a:txBody>
                    <a:bodyPr/>
                    <a:lstStyle/>
                    <a:p>
                      <a:pPr indent="0" lvl="0" marL="0" rtl="0" algn="ctr">
                        <a:lnSpc>
                          <a:spcPct val="115000"/>
                        </a:lnSpc>
                        <a:spcBef>
                          <a:spcPts val="0"/>
                        </a:spcBef>
                        <a:spcAft>
                          <a:spcPts val="0"/>
                        </a:spcAft>
                        <a:buNone/>
                      </a:pPr>
                      <a:r>
                        <a:rPr b="1" lang="en" sz="700">
                          <a:solidFill>
                            <a:schemeClr val="lt1"/>
                          </a:solidFill>
                        </a:rPr>
                        <a:t>AUC</a:t>
                      </a:r>
                      <a:endParaRPr b="1" sz="700">
                        <a:solidFill>
                          <a:schemeClr val="lt1"/>
                        </a:solidFill>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40000"/>
                    </a:solidFill>
                  </a:tcPr>
                </a:tc>
              </a:tr>
              <a:tr h="225925">
                <a:tc>
                  <a:txBody>
                    <a:bodyPr/>
                    <a:lstStyle/>
                    <a:p>
                      <a:pPr indent="0" lvl="0" marL="0" rtl="0" algn="l">
                        <a:spcBef>
                          <a:spcPts val="0"/>
                        </a:spcBef>
                        <a:spcAft>
                          <a:spcPts val="0"/>
                        </a:spcAft>
                        <a:buNone/>
                      </a:pPr>
                      <a:r>
                        <a:rPr lang="en" sz="700"/>
                        <a:t>RF (Base)</a:t>
                      </a:r>
                      <a:endParaRPr sz="7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B531"/>
                    </a:solidFill>
                  </a:tcPr>
                </a:tc>
                <a:tc>
                  <a:txBody>
                    <a:bodyPr/>
                    <a:lstStyle/>
                    <a:p>
                      <a:pPr indent="0" lvl="0" marL="0" rtl="0" algn="l">
                        <a:spcBef>
                          <a:spcPts val="0"/>
                        </a:spcBef>
                        <a:spcAft>
                          <a:spcPts val="0"/>
                        </a:spcAft>
                        <a:buNone/>
                      </a:pPr>
                      <a:r>
                        <a:rPr lang="en" sz="700"/>
                        <a:t>0.7418</a:t>
                      </a:r>
                      <a:endParaRPr sz="7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B531"/>
                    </a:solidFill>
                  </a:tcPr>
                </a:tc>
                <a:tc>
                  <a:txBody>
                    <a:bodyPr/>
                    <a:lstStyle/>
                    <a:p>
                      <a:pPr indent="0" lvl="0" marL="0" rtl="0" algn="l">
                        <a:spcBef>
                          <a:spcPts val="0"/>
                        </a:spcBef>
                        <a:spcAft>
                          <a:spcPts val="0"/>
                        </a:spcAft>
                        <a:buNone/>
                      </a:pPr>
                      <a:r>
                        <a:rPr lang="en" sz="700"/>
                        <a:t>0.7268</a:t>
                      </a:r>
                      <a:endParaRPr sz="7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B531"/>
                    </a:solidFill>
                  </a:tcPr>
                </a:tc>
                <a:tc>
                  <a:txBody>
                    <a:bodyPr/>
                    <a:lstStyle/>
                    <a:p>
                      <a:pPr indent="0" lvl="0" marL="0" rtl="0" algn="l">
                        <a:spcBef>
                          <a:spcPts val="0"/>
                        </a:spcBef>
                        <a:spcAft>
                          <a:spcPts val="0"/>
                        </a:spcAft>
                        <a:buNone/>
                      </a:pPr>
                      <a:r>
                        <a:rPr lang="en" sz="700"/>
                        <a:t>0.7661</a:t>
                      </a:r>
                      <a:endParaRPr sz="7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B531"/>
                    </a:solidFill>
                  </a:tcPr>
                </a:tc>
                <a:tc>
                  <a:txBody>
                    <a:bodyPr/>
                    <a:lstStyle/>
                    <a:p>
                      <a:pPr indent="0" lvl="0" marL="0" rtl="0" algn="l">
                        <a:spcBef>
                          <a:spcPts val="0"/>
                        </a:spcBef>
                        <a:spcAft>
                          <a:spcPts val="0"/>
                        </a:spcAft>
                        <a:buNone/>
                      </a:pPr>
                      <a:r>
                        <a:rPr lang="en" sz="700"/>
                        <a:t>0.7460</a:t>
                      </a:r>
                      <a:endParaRPr sz="7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B531"/>
                    </a:solidFill>
                  </a:tcPr>
                </a:tc>
                <a:tc>
                  <a:txBody>
                    <a:bodyPr/>
                    <a:lstStyle/>
                    <a:p>
                      <a:pPr indent="0" lvl="0" marL="0" rtl="0" algn="l">
                        <a:spcBef>
                          <a:spcPts val="0"/>
                        </a:spcBef>
                        <a:spcAft>
                          <a:spcPts val="0"/>
                        </a:spcAft>
                        <a:buNone/>
                      </a:pPr>
                      <a:r>
                        <a:rPr lang="en" sz="700"/>
                        <a:t>0.8251</a:t>
                      </a:r>
                      <a:endParaRPr sz="7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B531"/>
                    </a:solidFill>
                  </a:tcPr>
                </a:tc>
              </a:tr>
              <a:tr h="220575">
                <a:tc>
                  <a:txBody>
                    <a:bodyPr/>
                    <a:lstStyle/>
                    <a:p>
                      <a:pPr indent="0" lvl="0" marL="0" rtl="0" algn="l">
                        <a:spcBef>
                          <a:spcPts val="0"/>
                        </a:spcBef>
                        <a:spcAft>
                          <a:spcPts val="0"/>
                        </a:spcAft>
                        <a:buNone/>
                      </a:pPr>
                      <a:r>
                        <a:rPr lang="en" sz="700"/>
                        <a:t>RF (PCA)</a:t>
                      </a:r>
                      <a:endParaRPr sz="7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B531"/>
                    </a:solidFill>
                  </a:tcPr>
                </a:tc>
                <a:tc>
                  <a:txBody>
                    <a:bodyPr/>
                    <a:lstStyle/>
                    <a:p>
                      <a:pPr indent="0" lvl="0" marL="0" rtl="0" algn="l">
                        <a:spcBef>
                          <a:spcPts val="0"/>
                        </a:spcBef>
                        <a:spcAft>
                          <a:spcPts val="0"/>
                        </a:spcAft>
                        <a:buNone/>
                      </a:pPr>
                      <a:r>
                        <a:rPr lang="en" sz="700"/>
                        <a:t>0.7377</a:t>
                      </a:r>
                      <a:endParaRPr sz="7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B531"/>
                    </a:solidFill>
                  </a:tcPr>
                </a:tc>
                <a:tc>
                  <a:txBody>
                    <a:bodyPr/>
                    <a:lstStyle/>
                    <a:p>
                      <a:pPr indent="0" lvl="0" marL="0" rtl="0" algn="l">
                        <a:spcBef>
                          <a:spcPts val="0"/>
                        </a:spcBef>
                        <a:spcAft>
                          <a:spcPts val="0"/>
                        </a:spcAft>
                        <a:buNone/>
                      </a:pPr>
                      <a:r>
                        <a:rPr lang="en" sz="700"/>
                        <a:t>0.7209</a:t>
                      </a:r>
                      <a:endParaRPr sz="7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B531"/>
                    </a:solidFill>
                  </a:tcPr>
                </a:tc>
                <a:tc>
                  <a:txBody>
                    <a:bodyPr/>
                    <a:lstStyle/>
                    <a:p>
                      <a:pPr indent="0" lvl="0" marL="0" rtl="0" algn="l">
                        <a:spcBef>
                          <a:spcPts val="0"/>
                        </a:spcBef>
                        <a:spcAft>
                          <a:spcPts val="0"/>
                        </a:spcAft>
                        <a:buNone/>
                      </a:pPr>
                      <a:r>
                        <a:rPr lang="en" sz="700"/>
                        <a:t>0.7666</a:t>
                      </a:r>
                      <a:endParaRPr sz="7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B531"/>
                    </a:solidFill>
                  </a:tcPr>
                </a:tc>
                <a:tc>
                  <a:txBody>
                    <a:bodyPr/>
                    <a:lstStyle/>
                    <a:p>
                      <a:pPr indent="0" lvl="0" marL="0" rtl="0" algn="l">
                        <a:spcBef>
                          <a:spcPts val="0"/>
                        </a:spcBef>
                        <a:spcAft>
                          <a:spcPts val="0"/>
                        </a:spcAft>
                        <a:buNone/>
                      </a:pPr>
                      <a:r>
                        <a:rPr lang="en" sz="700"/>
                        <a:t>0.7431</a:t>
                      </a:r>
                      <a:endParaRPr sz="7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B531"/>
                    </a:solidFill>
                  </a:tcPr>
                </a:tc>
                <a:tc>
                  <a:txBody>
                    <a:bodyPr/>
                    <a:lstStyle/>
                    <a:p>
                      <a:pPr indent="0" lvl="0" marL="0" rtl="0" algn="l">
                        <a:spcBef>
                          <a:spcPts val="0"/>
                        </a:spcBef>
                        <a:spcAft>
                          <a:spcPts val="0"/>
                        </a:spcAft>
                        <a:buNone/>
                      </a:pPr>
                      <a:r>
                        <a:rPr lang="en" sz="700"/>
                        <a:t>0.8149</a:t>
                      </a:r>
                      <a:endParaRPr sz="7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B531"/>
                    </a:solidFill>
                  </a:tcPr>
                </a:tc>
              </a:tr>
              <a:tr h="201425">
                <a:tc>
                  <a:txBody>
                    <a:bodyPr/>
                    <a:lstStyle/>
                    <a:p>
                      <a:pPr indent="0" lvl="0" marL="0" rtl="0" algn="l">
                        <a:spcBef>
                          <a:spcPts val="0"/>
                        </a:spcBef>
                        <a:spcAft>
                          <a:spcPts val="0"/>
                        </a:spcAft>
                        <a:buNone/>
                      </a:pPr>
                      <a:r>
                        <a:rPr lang="en" sz="700"/>
                        <a:t>LogReg (Tuned)</a:t>
                      </a:r>
                      <a:endParaRPr sz="7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B531"/>
                    </a:solidFill>
                  </a:tcPr>
                </a:tc>
                <a:tc>
                  <a:txBody>
                    <a:bodyPr/>
                    <a:lstStyle/>
                    <a:p>
                      <a:pPr indent="0" lvl="0" marL="0" rtl="0" algn="l">
                        <a:spcBef>
                          <a:spcPts val="0"/>
                        </a:spcBef>
                        <a:spcAft>
                          <a:spcPts val="0"/>
                        </a:spcAft>
                        <a:buNone/>
                      </a:pPr>
                      <a:r>
                        <a:rPr lang="en" sz="700"/>
                        <a:t>0.7303</a:t>
                      </a:r>
                      <a:endParaRPr sz="7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B531"/>
                    </a:solidFill>
                  </a:tcPr>
                </a:tc>
                <a:tc>
                  <a:txBody>
                    <a:bodyPr/>
                    <a:lstStyle/>
                    <a:p>
                      <a:pPr indent="0" lvl="0" marL="0" rtl="0" algn="l">
                        <a:spcBef>
                          <a:spcPts val="0"/>
                        </a:spcBef>
                        <a:spcAft>
                          <a:spcPts val="0"/>
                        </a:spcAft>
                        <a:buNone/>
                      </a:pPr>
                      <a:r>
                        <a:rPr lang="en" sz="700"/>
                        <a:t>0.7277</a:t>
                      </a:r>
                      <a:endParaRPr sz="7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B531"/>
                    </a:solidFill>
                  </a:tcPr>
                </a:tc>
                <a:tc>
                  <a:txBody>
                    <a:bodyPr/>
                    <a:lstStyle/>
                    <a:p>
                      <a:pPr indent="0" lvl="0" marL="0" rtl="0" algn="l">
                        <a:spcBef>
                          <a:spcPts val="0"/>
                        </a:spcBef>
                        <a:spcAft>
                          <a:spcPts val="0"/>
                        </a:spcAft>
                        <a:buNone/>
                      </a:pPr>
                      <a:r>
                        <a:rPr lang="en" sz="700"/>
                        <a:t>0.7266</a:t>
                      </a:r>
                      <a:endParaRPr sz="7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B531"/>
                    </a:solidFill>
                  </a:tcPr>
                </a:tc>
                <a:tc>
                  <a:txBody>
                    <a:bodyPr/>
                    <a:lstStyle/>
                    <a:p>
                      <a:pPr indent="0" lvl="0" marL="0" rtl="0" algn="l">
                        <a:spcBef>
                          <a:spcPts val="0"/>
                        </a:spcBef>
                        <a:spcAft>
                          <a:spcPts val="0"/>
                        </a:spcAft>
                        <a:buNone/>
                      </a:pPr>
                      <a:r>
                        <a:rPr lang="en" sz="700"/>
                        <a:t>0.7272</a:t>
                      </a:r>
                      <a:endParaRPr sz="7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B531"/>
                    </a:solidFill>
                  </a:tcPr>
                </a:tc>
                <a:tc>
                  <a:txBody>
                    <a:bodyPr/>
                    <a:lstStyle/>
                    <a:p>
                      <a:pPr indent="0" lvl="0" marL="0" rtl="0" algn="l">
                        <a:spcBef>
                          <a:spcPts val="0"/>
                        </a:spcBef>
                        <a:spcAft>
                          <a:spcPts val="0"/>
                        </a:spcAft>
                        <a:buNone/>
                      </a:pPr>
                      <a:r>
                        <a:rPr lang="en" sz="700"/>
                        <a:t>0.8099</a:t>
                      </a:r>
                      <a:endParaRPr sz="7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B531"/>
                    </a:solidFill>
                  </a:tcPr>
                </a:tc>
              </a:tr>
              <a:tr h="201425">
                <a:tc>
                  <a:txBody>
                    <a:bodyPr/>
                    <a:lstStyle/>
                    <a:p>
                      <a:pPr indent="0" lvl="0" marL="0" rtl="0" algn="l">
                        <a:spcBef>
                          <a:spcPts val="0"/>
                        </a:spcBef>
                        <a:spcAft>
                          <a:spcPts val="0"/>
                        </a:spcAft>
                        <a:buNone/>
                      </a:pPr>
                      <a:r>
                        <a:rPr lang="en" sz="700"/>
                        <a:t>LogReg (Base)</a:t>
                      </a:r>
                      <a:endParaRPr sz="7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B531"/>
                    </a:solidFill>
                  </a:tcPr>
                </a:tc>
                <a:tc>
                  <a:txBody>
                    <a:bodyPr/>
                    <a:lstStyle/>
                    <a:p>
                      <a:pPr indent="0" lvl="0" marL="0" rtl="0" algn="l">
                        <a:spcBef>
                          <a:spcPts val="0"/>
                        </a:spcBef>
                        <a:spcAft>
                          <a:spcPts val="0"/>
                        </a:spcAft>
                        <a:buNone/>
                      </a:pPr>
                      <a:r>
                        <a:rPr lang="en" sz="700"/>
                        <a:t>0.7308</a:t>
                      </a:r>
                      <a:endParaRPr sz="7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B531"/>
                    </a:solidFill>
                  </a:tcPr>
                </a:tc>
                <a:tc>
                  <a:txBody>
                    <a:bodyPr/>
                    <a:lstStyle/>
                    <a:p>
                      <a:pPr indent="0" lvl="0" marL="0" rtl="0" algn="l">
                        <a:spcBef>
                          <a:spcPts val="0"/>
                        </a:spcBef>
                        <a:spcAft>
                          <a:spcPts val="0"/>
                        </a:spcAft>
                        <a:buNone/>
                      </a:pPr>
                      <a:r>
                        <a:rPr lang="en" sz="700"/>
                        <a:t>0.7292</a:t>
                      </a:r>
                      <a:endParaRPr sz="7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B531"/>
                    </a:solidFill>
                  </a:tcPr>
                </a:tc>
                <a:tc>
                  <a:txBody>
                    <a:bodyPr/>
                    <a:lstStyle/>
                    <a:p>
                      <a:pPr indent="0" lvl="0" marL="0" rtl="0" algn="l">
                        <a:spcBef>
                          <a:spcPts val="0"/>
                        </a:spcBef>
                        <a:spcAft>
                          <a:spcPts val="0"/>
                        </a:spcAft>
                        <a:buNone/>
                      </a:pPr>
                      <a:r>
                        <a:rPr lang="en" sz="700"/>
                        <a:t>0.7251</a:t>
                      </a:r>
                      <a:endParaRPr sz="7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B531"/>
                    </a:solidFill>
                  </a:tcPr>
                </a:tc>
                <a:tc>
                  <a:txBody>
                    <a:bodyPr/>
                    <a:lstStyle/>
                    <a:p>
                      <a:pPr indent="0" lvl="0" marL="0" rtl="0" algn="l">
                        <a:spcBef>
                          <a:spcPts val="0"/>
                        </a:spcBef>
                        <a:spcAft>
                          <a:spcPts val="0"/>
                        </a:spcAft>
                        <a:buNone/>
                      </a:pPr>
                      <a:r>
                        <a:rPr lang="en" sz="700"/>
                        <a:t>0.7271</a:t>
                      </a:r>
                      <a:endParaRPr sz="7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B531"/>
                    </a:solidFill>
                  </a:tcPr>
                </a:tc>
                <a:tc>
                  <a:txBody>
                    <a:bodyPr/>
                    <a:lstStyle/>
                    <a:p>
                      <a:pPr indent="0" lvl="0" marL="0" rtl="0" algn="l">
                        <a:spcBef>
                          <a:spcPts val="0"/>
                        </a:spcBef>
                        <a:spcAft>
                          <a:spcPts val="0"/>
                        </a:spcAft>
                        <a:buNone/>
                      </a:pPr>
                      <a:r>
                        <a:rPr lang="en" sz="700"/>
                        <a:t>0.8096</a:t>
                      </a:r>
                      <a:endParaRPr sz="7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B531"/>
                    </a:solidFill>
                  </a:tcPr>
                </a:tc>
              </a:tr>
              <a:tr h="163125">
                <a:tc>
                  <a:txBody>
                    <a:bodyPr/>
                    <a:lstStyle/>
                    <a:p>
                      <a:pPr indent="0" lvl="0" marL="0" rtl="0" algn="l">
                        <a:spcBef>
                          <a:spcPts val="0"/>
                        </a:spcBef>
                        <a:spcAft>
                          <a:spcPts val="0"/>
                        </a:spcAft>
                        <a:buNone/>
                      </a:pPr>
                      <a:r>
                        <a:rPr lang="en" sz="700"/>
                        <a:t>LogReg (PCA)</a:t>
                      </a:r>
                      <a:endParaRPr sz="7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B531"/>
                    </a:solidFill>
                  </a:tcPr>
                </a:tc>
                <a:tc>
                  <a:txBody>
                    <a:bodyPr/>
                    <a:lstStyle/>
                    <a:p>
                      <a:pPr indent="0" lvl="0" marL="0" rtl="0" algn="l">
                        <a:spcBef>
                          <a:spcPts val="0"/>
                        </a:spcBef>
                        <a:spcAft>
                          <a:spcPts val="0"/>
                        </a:spcAft>
                        <a:buNone/>
                      </a:pPr>
                      <a:r>
                        <a:rPr lang="en" sz="700"/>
                        <a:t>0.7298</a:t>
                      </a:r>
                      <a:endParaRPr sz="7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B531"/>
                    </a:solidFill>
                  </a:tcPr>
                </a:tc>
                <a:tc>
                  <a:txBody>
                    <a:bodyPr/>
                    <a:lstStyle/>
                    <a:p>
                      <a:pPr indent="0" lvl="0" marL="0" rtl="0" algn="l">
                        <a:spcBef>
                          <a:spcPts val="0"/>
                        </a:spcBef>
                        <a:spcAft>
                          <a:spcPts val="0"/>
                        </a:spcAft>
                        <a:buNone/>
                      </a:pPr>
                      <a:r>
                        <a:rPr lang="en" sz="700"/>
                        <a:t>0.7270</a:t>
                      </a:r>
                      <a:endParaRPr sz="7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B531"/>
                    </a:solidFill>
                  </a:tcPr>
                </a:tc>
                <a:tc>
                  <a:txBody>
                    <a:bodyPr/>
                    <a:lstStyle/>
                    <a:p>
                      <a:pPr indent="0" lvl="0" marL="0" rtl="0" algn="l">
                        <a:spcBef>
                          <a:spcPts val="0"/>
                        </a:spcBef>
                        <a:spcAft>
                          <a:spcPts val="0"/>
                        </a:spcAft>
                        <a:buNone/>
                      </a:pPr>
                      <a:r>
                        <a:rPr lang="en" sz="700"/>
                        <a:t>0.7266</a:t>
                      </a:r>
                      <a:endParaRPr sz="7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B531"/>
                    </a:solidFill>
                  </a:tcPr>
                </a:tc>
                <a:tc>
                  <a:txBody>
                    <a:bodyPr/>
                    <a:lstStyle/>
                    <a:p>
                      <a:pPr indent="0" lvl="0" marL="0" rtl="0" algn="l">
                        <a:spcBef>
                          <a:spcPts val="0"/>
                        </a:spcBef>
                        <a:spcAft>
                          <a:spcPts val="0"/>
                        </a:spcAft>
                        <a:buNone/>
                      </a:pPr>
                      <a:r>
                        <a:rPr lang="en" sz="700"/>
                        <a:t>0.7268</a:t>
                      </a:r>
                      <a:endParaRPr sz="7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B531"/>
                    </a:solidFill>
                  </a:tcPr>
                </a:tc>
                <a:tc>
                  <a:txBody>
                    <a:bodyPr/>
                    <a:lstStyle/>
                    <a:p>
                      <a:pPr indent="0" lvl="0" marL="0" rtl="0" algn="l">
                        <a:spcBef>
                          <a:spcPts val="0"/>
                        </a:spcBef>
                        <a:spcAft>
                          <a:spcPts val="0"/>
                        </a:spcAft>
                        <a:buNone/>
                      </a:pPr>
                      <a:r>
                        <a:rPr lang="en" sz="700"/>
                        <a:t>0.8075</a:t>
                      </a:r>
                      <a:endParaRPr sz="7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B531"/>
                    </a:solidFill>
                  </a:tcPr>
                </a:tc>
              </a:tr>
              <a:tr h="197200">
                <a:tc>
                  <a:txBody>
                    <a:bodyPr/>
                    <a:lstStyle/>
                    <a:p>
                      <a:pPr indent="0" lvl="0" marL="0" rtl="0" algn="l">
                        <a:spcBef>
                          <a:spcPts val="0"/>
                        </a:spcBef>
                        <a:spcAft>
                          <a:spcPts val="0"/>
                        </a:spcAft>
                        <a:buNone/>
                      </a:pPr>
                      <a:r>
                        <a:rPr lang="en" sz="700"/>
                        <a:t>GaussianNB (PCA)</a:t>
                      </a:r>
                      <a:endParaRPr sz="7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B531"/>
                    </a:solidFill>
                  </a:tcPr>
                </a:tc>
                <a:tc>
                  <a:txBody>
                    <a:bodyPr/>
                    <a:lstStyle/>
                    <a:p>
                      <a:pPr indent="0" lvl="0" marL="0" rtl="0" algn="l">
                        <a:spcBef>
                          <a:spcPts val="0"/>
                        </a:spcBef>
                        <a:spcAft>
                          <a:spcPts val="0"/>
                        </a:spcAft>
                        <a:buNone/>
                      </a:pPr>
                      <a:r>
                        <a:rPr lang="en" sz="700"/>
                        <a:t>0.4983</a:t>
                      </a:r>
                      <a:endParaRPr sz="7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B531"/>
                    </a:solidFill>
                  </a:tcPr>
                </a:tc>
                <a:tc>
                  <a:txBody>
                    <a:bodyPr/>
                    <a:lstStyle/>
                    <a:p>
                      <a:pPr indent="0" lvl="0" marL="0" rtl="0" algn="l">
                        <a:spcBef>
                          <a:spcPts val="0"/>
                        </a:spcBef>
                        <a:spcAft>
                          <a:spcPts val="0"/>
                        </a:spcAft>
                        <a:buNone/>
                      </a:pPr>
                      <a:r>
                        <a:rPr lang="en" sz="700"/>
                        <a:t>0.4964</a:t>
                      </a:r>
                      <a:endParaRPr sz="7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B531"/>
                    </a:solidFill>
                  </a:tcPr>
                </a:tc>
                <a:tc>
                  <a:txBody>
                    <a:bodyPr/>
                    <a:lstStyle/>
                    <a:p>
                      <a:pPr indent="0" lvl="0" marL="0" rtl="0" algn="l">
                        <a:spcBef>
                          <a:spcPts val="0"/>
                        </a:spcBef>
                        <a:spcAft>
                          <a:spcPts val="0"/>
                        </a:spcAft>
                        <a:buNone/>
                      </a:pPr>
                      <a:r>
                        <a:rPr lang="en" sz="700"/>
                        <a:t>0.9693</a:t>
                      </a:r>
                      <a:endParaRPr sz="7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B531"/>
                    </a:solidFill>
                  </a:tcPr>
                </a:tc>
                <a:tc>
                  <a:txBody>
                    <a:bodyPr/>
                    <a:lstStyle/>
                    <a:p>
                      <a:pPr indent="0" lvl="0" marL="0" rtl="0" algn="l">
                        <a:spcBef>
                          <a:spcPts val="0"/>
                        </a:spcBef>
                        <a:spcAft>
                          <a:spcPts val="0"/>
                        </a:spcAft>
                        <a:buNone/>
                      </a:pPr>
                      <a:r>
                        <a:rPr lang="en" sz="700"/>
                        <a:t>0.6566</a:t>
                      </a:r>
                      <a:endParaRPr sz="7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B531"/>
                    </a:solidFill>
                  </a:tcPr>
                </a:tc>
                <a:tc>
                  <a:txBody>
                    <a:bodyPr/>
                    <a:lstStyle/>
                    <a:p>
                      <a:pPr indent="0" lvl="0" marL="0" rtl="0" algn="l">
                        <a:spcBef>
                          <a:spcPts val="0"/>
                        </a:spcBef>
                        <a:spcAft>
                          <a:spcPts val="0"/>
                        </a:spcAft>
                        <a:buNone/>
                      </a:pPr>
                      <a:r>
                        <a:rPr lang="en" sz="700"/>
                        <a:t>0.5280</a:t>
                      </a:r>
                      <a:endParaRPr sz="7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B531"/>
                    </a:solidFill>
                  </a:tcPr>
                </a:tc>
              </a:tr>
              <a:tr h="198975">
                <a:tc>
                  <a:txBody>
                    <a:bodyPr/>
                    <a:lstStyle/>
                    <a:p>
                      <a:pPr indent="0" lvl="0" marL="0" rtl="0" algn="l">
                        <a:spcBef>
                          <a:spcPts val="0"/>
                        </a:spcBef>
                        <a:spcAft>
                          <a:spcPts val="0"/>
                        </a:spcAft>
                        <a:buNone/>
                      </a:pPr>
                      <a:r>
                        <a:rPr lang="en" sz="700"/>
                        <a:t>GaussianNB (Base)</a:t>
                      </a:r>
                      <a:endParaRPr sz="7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B531"/>
                    </a:solidFill>
                  </a:tcPr>
                </a:tc>
                <a:tc>
                  <a:txBody>
                    <a:bodyPr/>
                    <a:lstStyle/>
                    <a:p>
                      <a:pPr indent="0" lvl="0" marL="0" rtl="0" algn="l">
                        <a:spcBef>
                          <a:spcPts val="0"/>
                        </a:spcBef>
                        <a:spcAft>
                          <a:spcPts val="0"/>
                        </a:spcAft>
                        <a:buNone/>
                      </a:pPr>
                      <a:r>
                        <a:rPr lang="en" sz="700"/>
                        <a:t>0.5014</a:t>
                      </a:r>
                      <a:endParaRPr sz="7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B531"/>
                    </a:solidFill>
                  </a:tcPr>
                </a:tc>
                <a:tc>
                  <a:txBody>
                    <a:bodyPr/>
                    <a:lstStyle/>
                    <a:p>
                      <a:pPr indent="0" lvl="0" marL="0" rtl="0" algn="l">
                        <a:spcBef>
                          <a:spcPts val="0"/>
                        </a:spcBef>
                        <a:spcAft>
                          <a:spcPts val="0"/>
                        </a:spcAft>
                        <a:buNone/>
                      </a:pPr>
                      <a:r>
                        <a:rPr lang="en" sz="700"/>
                        <a:t>0.4980</a:t>
                      </a:r>
                      <a:endParaRPr sz="7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B531"/>
                    </a:solidFill>
                  </a:tcPr>
                </a:tc>
                <a:tc>
                  <a:txBody>
                    <a:bodyPr/>
                    <a:lstStyle/>
                    <a:p>
                      <a:pPr indent="0" lvl="0" marL="0" rtl="0" algn="l">
                        <a:spcBef>
                          <a:spcPts val="0"/>
                        </a:spcBef>
                        <a:spcAft>
                          <a:spcPts val="0"/>
                        </a:spcAft>
                        <a:buNone/>
                      </a:pPr>
                      <a:r>
                        <a:rPr lang="en" sz="700"/>
                        <a:t>0.9756</a:t>
                      </a:r>
                      <a:endParaRPr sz="7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B531"/>
                    </a:solidFill>
                  </a:tcPr>
                </a:tc>
                <a:tc>
                  <a:txBody>
                    <a:bodyPr/>
                    <a:lstStyle/>
                    <a:p>
                      <a:pPr indent="0" lvl="0" marL="0" rtl="0" algn="l">
                        <a:spcBef>
                          <a:spcPts val="0"/>
                        </a:spcBef>
                        <a:spcAft>
                          <a:spcPts val="0"/>
                        </a:spcAft>
                        <a:buNone/>
                      </a:pPr>
                      <a:r>
                        <a:rPr lang="en" sz="700"/>
                        <a:t>0.6594</a:t>
                      </a:r>
                      <a:endParaRPr sz="7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B531"/>
                    </a:solidFill>
                  </a:tcPr>
                </a:tc>
                <a:tc>
                  <a:txBody>
                    <a:bodyPr/>
                    <a:lstStyle/>
                    <a:p>
                      <a:pPr indent="0" lvl="0" marL="0" rtl="0" algn="l">
                        <a:spcBef>
                          <a:spcPts val="0"/>
                        </a:spcBef>
                        <a:spcAft>
                          <a:spcPts val="0"/>
                        </a:spcAft>
                        <a:buNone/>
                      </a:pPr>
                      <a:r>
                        <a:rPr lang="en" sz="700"/>
                        <a:t>0.5118</a:t>
                      </a:r>
                      <a:endParaRPr sz="7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B531"/>
                    </a:solidFill>
                  </a:tcPr>
                </a:tc>
              </a:tr>
            </a:tbl>
          </a:graphicData>
        </a:graphic>
      </p:graphicFrame>
      <p:graphicFrame>
        <p:nvGraphicFramePr>
          <p:cNvPr id="201" name="Google Shape;201;p31"/>
          <p:cNvGraphicFramePr/>
          <p:nvPr/>
        </p:nvGraphicFramePr>
        <p:xfrm>
          <a:off x="116850" y="2741750"/>
          <a:ext cx="3000000" cy="3000000"/>
        </p:xfrm>
        <a:graphic>
          <a:graphicData uri="http://schemas.openxmlformats.org/drawingml/2006/table">
            <a:tbl>
              <a:tblPr>
                <a:noFill/>
                <a:tableStyleId>{24C009FF-336C-47B4-8BC5-F4C2A9347E70}</a:tableStyleId>
              </a:tblPr>
              <a:tblGrid>
                <a:gridCol w="1228725"/>
                <a:gridCol w="638175"/>
                <a:gridCol w="619125"/>
                <a:gridCol w="493450"/>
                <a:gridCol w="533925"/>
                <a:gridCol w="651025"/>
              </a:tblGrid>
              <a:tr h="210900">
                <a:tc>
                  <a:txBody>
                    <a:bodyPr/>
                    <a:lstStyle/>
                    <a:p>
                      <a:pPr indent="0" lvl="0" marL="0" rtl="0" algn="ctr">
                        <a:lnSpc>
                          <a:spcPct val="115000"/>
                        </a:lnSpc>
                        <a:spcBef>
                          <a:spcPts val="0"/>
                        </a:spcBef>
                        <a:spcAft>
                          <a:spcPts val="0"/>
                        </a:spcAft>
                        <a:buNone/>
                      </a:pPr>
                      <a:r>
                        <a:rPr b="1" lang="en" sz="700">
                          <a:solidFill>
                            <a:schemeClr val="lt1"/>
                          </a:solidFill>
                        </a:rPr>
                        <a:t>Model</a:t>
                      </a:r>
                      <a:endParaRPr b="1" sz="700">
                        <a:solidFill>
                          <a:schemeClr val="lt1"/>
                        </a:solidFill>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40000"/>
                    </a:solidFill>
                  </a:tcPr>
                </a:tc>
                <a:tc>
                  <a:txBody>
                    <a:bodyPr/>
                    <a:lstStyle/>
                    <a:p>
                      <a:pPr indent="0" lvl="0" marL="0" rtl="0" algn="ctr">
                        <a:lnSpc>
                          <a:spcPct val="115000"/>
                        </a:lnSpc>
                        <a:spcBef>
                          <a:spcPts val="0"/>
                        </a:spcBef>
                        <a:spcAft>
                          <a:spcPts val="0"/>
                        </a:spcAft>
                        <a:buNone/>
                      </a:pPr>
                      <a:r>
                        <a:rPr b="1" lang="en" sz="700">
                          <a:solidFill>
                            <a:schemeClr val="lt1"/>
                          </a:solidFill>
                        </a:rPr>
                        <a:t>Accuracy</a:t>
                      </a:r>
                      <a:endParaRPr b="1" sz="700">
                        <a:solidFill>
                          <a:schemeClr val="lt1"/>
                        </a:solidFill>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40000"/>
                    </a:solidFill>
                  </a:tcPr>
                </a:tc>
                <a:tc>
                  <a:txBody>
                    <a:bodyPr/>
                    <a:lstStyle/>
                    <a:p>
                      <a:pPr indent="0" lvl="0" marL="0" rtl="0" algn="ctr">
                        <a:lnSpc>
                          <a:spcPct val="115000"/>
                        </a:lnSpc>
                        <a:spcBef>
                          <a:spcPts val="0"/>
                        </a:spcBef>
                        <a:spcAft>
                          <a:spcPts val="0"/>
                        </a:spcAft>
                        <a:buNone/>
                      </a:pPr>
                      <a:r>
                        <a:rPr b="1" lang="en" sz="700">
                          <a:solidFill>
                            <a:schemeClr val="lt1"/>
                          </a:solidFill>
                        </a:rPr>
                        <a:t>Precision</a:t>
                      </a:r>
                      <a:endParaRPr b="1" sz="700">
                        <a:solidFill>
                          <a:schemeClr val="lt1"/>
                        </a:solidFill>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40000"/>
                    </a:solidFill>
                  </a:tcPr>
                </a:tc>
                <a:tc>
                  <a:txBody>
                    <a:bodyPr/>
                    <a:lstStyle/>
                    <a:p>
                      <a:pPr indent="0" lvl="0" marL="0" rtl="0" algn="ctr">
                        <a:lnSpc>
                          <a:spcPct val="115000"/>
                        </a:lnSpc>
                        <a:spcBef>
                          <a:spcPts val="0"/>
                        </a:spcBef>
                        <a:spcAft>
                          <a:spcPts val="0"/>
                        </a:spcAft>
                        <a:buNone/>
                      </a:pPr>
                      <a:r>
                        <a:rPr b="1" lang="en" sz="700">
                          <a:solidFill>
                            <a:schemeClr val="lt1"/>
                          </a:solidFill>
                        </a:rPr>
                        <a:t>Recall</a:t>
                      </a:r>
                      <a:endParaRPr b="1" sz="700">
                        <a:solidFill>
                          <a:schemeClr val="lt1"/>
                        </a:solidFill>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40000"/>
                    </a:solidFill>
                  </a:tcPr>
                </a:tc>
                <a:tc>
                  <a:txBody>
                    <a:bodyPr/>
                    <a:lstStyle/>
                    <a:p>
                      <a:pPr indent="0" lvl="0" marL="0" rtl="0" algn="ctr">
                        <a:lnSpc>
                          <a:spcPct val="115000"/>
                        </a:lnSpc>
                        <a:spcBef>
                          <a:spcPts val="0"/>
                        </a:spcBef>
                        <a:spcAft>
                          <a:spcPts val="0"/>
                        </a:spcAft>
                        <a:buNone/>
                      </a:pPr>
                      <a:r>
                        <a:rPr b="1" lang="en" sz="700">
                          <a:solidFill>
                            <a:schemeClr val="lt1"/>
                          </a:solidFill>
                        </a:rPr>
                        <a:t>F1</a:t>
                      </a:r>
                      <a:endParaRPr b="1" sz="700">
                        <a:solidFill>
                          <a:schemeClr val="lt1"/>
                        </a:solidFill>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40000"/>
                    </a:solidFill>
                  </a:tcPr>
                </a:tc>
                <a:tc>
                  <a:txBody>
                    <a:bodyPr/>
                    <a:lstStyle/>
                    <a:p>
                      <a:pPr indent="0" lvl="0" marL="0" rtl="0" algn="ctr">
                        <a:lnSpc>
                          <a:spcPct val="115000"/>
                        </a:lnSpc>
                        <a:spcBef>
                          <a:spcPts val="0"/>
                        </a:spcBef>
                        <a:spcAft>
                          <a:spcPts val="0"/>
                        </a:spcAft>
                        <a:buNone/>
                      </a:pPr>
                      <a:r>
                        <a:rPr b="1" lang="en" sz="700">
                          <a:solidFill>
                            <a:schemeClr val="lt1"/>
                          </a:solidFill>
                        </a:rPr>
                        <a:t>AUC</a:t>
                      </a:r>
                      <a:endParaRPr b="1" sz="700">
                        <a:solidFill>
                          <a:schemeClr val="lt1"/>
                        </a:solidFill>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40000"/>
                    </a:solidFill>
                  </a:tcPr>
                </a:tc>
              </a:tr>
              <a:tr h="211000">
                <a:tc>
                  <a:txBody>
                    <a:bodyPr/>
                    <a:lstStyle/>
                    <a:p>
                      <a:pPr indent="0" lvl="0" marL="0" rtl="0" algn="l">
                        <a:spcBef>
                          <a:spcPts val="0"/>
                        </a:spcBef>
                        <a:spcAft>
                          <a:spcPts val="0"/>
                        </a:spcAft>
                        <a:buNone/>
                      </a:pPr>
                      <a:r>
                        <a:rPr lang="en" sz="700"/>
                        <a:t>XGBoost (Tuned)</a:t>
                      </a:r>
                      <a:endParaRPr sz="7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spcBef>
                          <a:spcPts val="0"/>
                        </a:spcBef>
                        <a:spcAft>
                          <a:spcPts val="0"/>
                        </a:spcAft>
                        <a:buNone/>
                      </a:pPr>
                      <a:r>
                        <a:rPr lang="en" sz="700"/>
                        <a:t>0.7578</a:t>
                      </a:r>
                      <a:endParaRPr sz="7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spcBef>
                          <a:spcPts val="0"/>
                        </a:spcBef>
                        <a:spcAft>
                          <a:spcPts val="0"/>
                        </a:spcAft>
                        <a:buNone/>
                      </a:pPr>
                      <a:r>
                        <a:rPr lang="en" sz="700"/>
                        <a:t>0.7400</a:t>
                      </a:r>
                      <a:endParaRPr sz="7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spcBef>
                          <a:spcPts val="0"/>
                        </a:spcBef>
                        <a:spcAft>
                          <a:spcPts val="0"/>
                        </a:spcAft>
                        <a:buNone/>
                      </a:pPr>
                      <a:r>
                        <a:rPr lang="en" sz="700"/>
                        <a:t>0.7869</a:t>
                      </a:r>
                      <a:endParaRPr sz="7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spcBef>
                          <a:spcPts val="0"/>
                        </a:spcBef>
                        <a:spcAft>
                          <a:spcPts val="0"/>
                        </a:spcAft>
                        <a:buNone/>
                      </a:pPr>
                      <a:r>
                        <a:rPr lang="en" sz="700"/>
                        <a:t>0.7627</a:t>
                      </a:r>
                      <a:endParaRPr sz="7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spcBef>
                          <a:spcPts val="0"/>
                        </a:spcBef>
                        <a:spcAft>
                          <a:spcPts val="0"/>
                        </a:spcAft>
                        <a:buNone/>
                      </a:pPr>
                      <a:r>
                        <a:rPr lang="en" sz="700"/>
                        <a:t>0.8456</a:t>
                      </a:r>
                      <a:endParaRPr sz="7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r>
              <a:tr h="197200">
                <a:tc>
                  <a:txBody>
                    <a:bodyPr/>
                    <a:lstStyle/>
                    <a:p>
                      <a:pPr indent="0" lvl="0" marL="0" rtl="0" algn="l">
                        <a:spcBef>
                          <a:spcPts val="0"/>
                        </a:spcBef>
                        <a:spcAft>
                          <a:spcPts val="0"/>
                        </a:spcAft>
                        <a:buNone/>
                      </a:pPr>
                      <a:r>
                        <a:rPr lang="en" sz="700"/>
                        <a:t>XGBoost (Base)</a:t>
                      </a:r>
                      <a:endParaRPr sz="7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spcBef>
                          <a:spcPts val="0"/>
                        </a:spcBef>
                        <a:spcAft>
                          <a:spcPts val="0"/>
                        </a:spcAft>
                        <a:buNone/>
                      </a:pPr>
                      <a:r>
                        <a:rPr lang="en" sz="700"/>
                        <a:t>0.7555</a:t>
                      </a:r>
                      <a:endParaRPr sz="7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spcBef>
                          <a:spcPts val="0"/>
                        </a:spcBef>
                        <a:spcAft>
                          <a:spcPts val="0"/>
                        </a:spcAft>
                        <a:buNone/>
                      </a:pPr>
                      <a:r>
                        <a:rPr lang="en" sz="700"/>
                        <a:t>0.7412</a:t>
                      </a:r>
                      <a:endParaRPr sz="7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spcBef>
                          <a:spcPts val="0"/>
                        </a:spcBef>
                        <a:spcAft>
                          <a:spcPts val="0"/>
                        </a:spcAft>
                        <a:buNone/>
                      </a:pPr>
                      <a:r>
                        <a:rPr lang="en" sz="700"/>
                        <a:t>0.7770</a:t>
                      </a:r>
                      <a:endParaRPr sz="7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spcBef>
                          <a:spcPts val="0"/>
                        </a:spcBef>
                        <a:spcAft>
                          <a:spcPts val="0"/>
                        </a:spcAft>
                        <a:buNone/>
                      </a:pPr>
                      <a:r>
                        <a:rPr lang="en" sz="700"/>
                        <a:t>0.7587</a:t>
                      </a:r>
                      <a:endParaRPr sz="7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spcBef>
                          <a:spcPts val="0"/>
                        </a:spcBef>
                        <a:spcAft>
                          <a:spcPts val="0"/>
                        </a:spcAft>
                        <a:buNone/>
                      </a:pPr>
                      <a:r>
                        <a:rPr lang="en" sz="700"/>
                        <a:t>0.8454</a:t>
                      </a:r>
                      <a:endParaRPr sz="7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r>
              <a:tr h="225500">
                <a:tc>
                  <a:txBody>
                    <a:bodyPr/>
                    <a:lstStyle/>
                    <a:p>
                      <a:pPr indent="0" lvl="0" marL="0" rtl="0" algn="l">
                        <a:spcBef>
                          <a:spcPts val="0"/>
                        </a:spcBef>
                        <a:spcAft>
                          <a:spcPts val="0"/>
                        </a:spcAft>
                        <a:buNone/>
                      </a:pPr>
                      <a:r>
                        <a:rPr lang="en" sz="700"/>
                        <a:t>GB (Tuned)</a:t>
                      </a:r>
                      <a:endParaRPr sz="7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spcBef>
                          <a:spcPts val="0"/>
                        </a:spcBef>
                        <a:spcAft>
                          <a:spcPts val="0"/>
                        </a:spcAft>
                        <a:buNone/>
                      </a:pPr>
                      <a:r>
                        <a:rPr lang="en" sz="700"/>
                        <a:t>0.7511</a:t>
                      </a:r>
                      <a:endParaRPr sz="7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spcBef>
                          <a:spcPts val="0"/>
                        </a:spcBef>
                        <a:spcAft>
                          <a:spcPts val="0"/>
                        </a:spcAft>
                        <a:buNone/>
                      </a:pPr>
                      <a:r>
                        <a:rPr lang="en" sz="700"/>
                        <a:t>0.7388</a:t>
                      </a:r>
                      <a:endParaRPr sz="7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spcBef>
                          <a:spcPts val="0"/>
                        </a:spcBef>
                        <a:spcAft>
                          <a:spcPts val="0"/>
                        </a:spcAft>
                        <a:buNone/>
                      </a:pPr>
                      <a:r>
                        <a:rPr lang="en" sz="700"/>
                        <a:t>0.7687</a:t>
                      </a:r>
                      <a:endParaRPr sz="7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spcBef>
                          <a:spcPts val="0"/>
                        </a:spcBef>
                        <a:spcAft>
                          <a:spcPts val="0"/>
                        </a:spcAft>
                        <a:buNone/>
                      </a:pPr>
                      <a:r>
                        <a:rPr lang="en" sz="700"/>
                        <a:t>0.7534</a:t>
                      </a:r>
                      <a:endParaRPr sz="7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spcBef>
                          <a:spcPts val="0"/>
                        </a:spcBef>
                        <a:spcAft>
                          <a:spcPts val="0"/>
                        </a:spcAft>
                        <a:buNone/>
                      </a:pPr>
                      <a:r>
                        <a:rPr lang="en" sz="700"/>
                        <a:t>0.8449</a:t>
                      </a:r>
                      <a:endParaRPr sz="7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r>
              <a:tr h="235525">
                <a:tc>
                  <a:txBody>
                    <a:bodyPr/>
                    <a:lstStyle/>
                    <a:p>
                      <a:pPr indent="0" lvl="0" marL="0" rtl="0" algn="l">
                        <a:spcBef>
                          <a:spcPts val="0"/>
                        </a:spcBef>
                        <a:spcAft>
                          <a:spcPts val="0"/>
                        </a:spcAft>
                        <a:buNone/>
                      </a:pPr>
                      <a:r>
                        <a:rPr lang="en" sz="700"/>
                        <a:t>GB (Base)</a:t>
                      </a:r>
                      <a:endParaRPr sz="7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spcBef>
                          <a:spcPts val="0"/>
                        </a:spcBef>
                        <a:spcAft>
                          <a:spcPts val="0"/>
                        </a:spcAft>
                        <a:buNone/>
                      </a:pPr>
                      <a:r>
                        <a:rPr lang="en" sz="700"/>
                        <a:t>0.7501</a:t>
                      </a:r>
                      <a:endParaRPr sz="7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spcBef>
                          <a:spcPts val="0"/>
                        </a:spcBef>
                        <a:spcAft>
                          <a:spcPts val="0"/>
                        </a:spcAft>
                        <a:buNone/>
                      </a:pPr>
                      <a:r>
                        <a:rPr lang="en" sz="700"/>
                        <a:t>0.7392</a:t>
                      </a:r>
                      <a:endParaRPr sz="7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spcBef>
                          <a:spcPts val="0"/>
                        </a:spcBef>
                        <a:spcAft>
                          <a:spcPts val="0"/>
                        </a:spcAft>
                        <a:buNone/>
                      </a:pPr>
                      <a:r>
                        <a:rPr lang="en" sz="700"/>
                        <a:t>0.7646</a:t>
                      </a:r>
                      <a:endParaRPr sz="7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spcBef>
                          <a:spcPts val="0"/>
                        </a:spcBef>
                        <a:spcAft>
                          <a:spcPts val="0"/>
                        </a:spcAft>
                        <a:buNone/>
                      </a:pPr>
                      <a:r>
                        <a:rPr lang="en" sz="700"/>
                        <a:t>0.7517</a:t>
                      </a:r>
                      <a:endParaRPr sz="7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spcBef>
                          <a:spcPts val="0"/>
                        </a:spcBef>
                        <a:spcAft>
                          <a:spcPts val="0"/>
                        </a:spcAft>
                        <a:buNone/>
                      </a:pPr>
                      <a:r>
                        <a:rPr lang="en" sz="700"/>
                        <a:t>0.8411</a:t>
                      </a:r>
                      <a:endParaRPr sz="7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r>
              <a:tr h="230150">
                <a:tc>
                  <a:txBody>
                    <a:bodyPr/>
                    <a:lstStyle/>
                    <a:p>
                      <a:pPr indent="0" lvl="0" marL="0" rtl="0" algn="l">
                        <a:spcBef>
                          <a:spcPts val="0"/>
                        </a:spcBef>
                        <a:spcAft>
                          <a:spcPts val="0"/>
                        </a:spcAft>
                        <a:buNone/>
                      </a:pPr>
                      <a:r>
                        <a:rPr lang="en" sz="700"/>
                        <a:t>RF (Tuned)</a:t>
                      </a:r>
                      <a:endParaRPr sz="7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spcBef>
                          <a:spcPts val="0"/>
                        </a:spcBef>
                        <a:spcAft>
                          <a:spcPts val="0"/>
                        </a:spcAft>
                        <a:buNone/>
                      </a:pPr>
                      <a:r>
                        <a:rPr lang="en" sz="700"/>
                        <a:t>0.7503</a:t>
                      </a:r>
                      <a:endParaRPr sz="7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spcBef>
                          <a:spcPts val="0"/>
                        </a:spcBef>
                        <a:spcAft>
                          <a:spcPts val="0"/>
                        </a:spcAft>
                        <a:buNone/>
                      </a:pPr>
                      <a:r>
                        <a:rPr lang="en" sz="700"/>
                        <a:t>0.7288</a:t>
                      </a:r>
                      <a:endParaRPr sz="7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spcBef>
                          <a:spcPts val="0"/>
                        </a:spcBef>
                        <a:spcAft>
                          <a:spcPts val="0"/>
                        </a:spcAft>
                        <a:buNone/>
                      </a:pPr>
                      <a:r>
                        <a:rPr lang="en" sz="700"/>
                        <a:t>0.7890</a:t>
                      </a:r>
                      <a:endParaRPr sz="7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spcBef>
                          <a:spcPts val="0"/>
                        </a:spcBef>
                        <a:spcAft>
                          <a:spcPts val="0"/>
                        </a:spcAft>
                        <a:buNone/>
                      </a:pPr>
                      <a:r>
                        <a:rPr lang="en" sz="700"/>
                        <a:t>0.7577</a:t>
                      </a:r>
                      <a:endParaRPr sz="7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spcBef>
                          <a:spcPts val="0"/>
                        </a:spcBef>
                        <a:spcAft>
                          <a:spcPts val="0"/>
                        </a:spcAft>
                        <a:buNone/>
                      </a:pPr>
                      <a:r>
                        <a:rPr lang="en" sz="700"/>
                        <a:t>0.8388</a:t>
                      </a:r>
                      <a:endParaRPr sz="7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r>
              <a:tr h="220575">
                <a:tc>
                  <a:txBody>
                    <a:bodyPr/>
                    <a:lstStyle/>
                    <a:p>
                      <a:pPr indent="0" lvl="0" marL="0" rtl="0" algn="l">
                        <a:spcBef>
                          <a:spcPts val="0"/>
                        </a:spcBef>
                        <a:spcAft>
                          <a:spcPts val="0"/>
                        </a:spcAft>
                        <a:buNone/>
                      </a:pPr>
                      <a:r>
                        <a:rPr lang="en" sz="700"/>
                        <a:t>XGBoost (PCA)</a:t>
                      </a:r>
                      <a:endParaRPr sz="7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spcBef>
                          <a:spcPts val="0"/>
                        </a:spcBef>
                        <a:spcAft>
                          <a:spcPts val="0"/>
                        </a:spcAft>
                        <a:buNone/>
                      </a:pPr>
                      <a:r>
                        <a:rPr lang="en" sz="700"/>
                        <a:t>0.7490</a:t>
                      </a:r>
                      <a:endParaRPr sz="7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spcBef>
                          <a:spcPts val="0"/>
                        </a:spcBef>
                        <a:spcAft>
                          <a:spcPts val="0"/>
                        </a:spcAft>
                        <a:buNone/>
                      </a:pPr>
                      <a:r>
                        <a:rPr lang="en" sz="700"/>
                        <a:t>0.7354</a:t>
                      </a:r>
                      <a:endParaRPr sz="7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spcBef>
                          <a:spcPts val="0"/>
                        </a:spcBef>
                        <a:spcAft>
                          <a:spcPts val="0"/>
                        </a:spcAft>
                        <a:buNone/>
                      </a:pPr>
                      <a:r>
                        <a:rPr lang="en" sz="700"/>
                        <a:t>0.7698</a:t>
                      </a:r>
                      <a:endParaRPr sz="7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spcBef>
                          <a:spcPts val="0"/>
                        </a:spcBef>
                        <a:spcAft>
                          <a:spcPts val="0"/>
                        </a:spcAft>
                        <a:buNone/>
                      </a:pPr>
                      <a:r>
                        <a:rPr lang="en" sz="700"/>
                        <a:t>0.7522</a:t>
                      </a:r>
                      <a:endParaRPr sz="7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spcBef>
                          <a:spcPts val="0"/>
                        </a:spcBef>
                        <a:spcAft>
                          <a:spcPts val="0"/>
                        </a:spcAft>
                        <a:buNone/>
                      </a:pPr>
                      <a:r>
                        <a:rPr lang="en" sz="700"/>
                        <a:t>0.8348</a:t>
                      </a:r>
                      <a:endParaRPr sz="7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r>
              <a:tr h="220575">
                <a:tc>
                  <a:txBody>
                    <a:bodyPr/>
                    <a:lstStyle/>
                    <a:p>
                      <a:pPr indent="0" lvl="0" marL="0" rtl="0" algn="l">
                        <a:spcBef>
                          <a:spcPts val="0"/>
                        </a:spcBef>
                        <a:spcAft>
                          <a:spcPts val="0"/>
                        </a:spcAft>
                        <a:buNone/>
                      </a:pPr>
                      <a:r>
                        <a:rPr lang="en" sz="700"/>
                        <a:t>GB (PCA)</a:t>
                      </a:r>
                      <a:endParaRPr sz="7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spcBef>
                          <a:spcPts val="0"/>
                        </a:spcBef>
                        <a:spcAft>
                          <a:spcPts val="0"/>
                        </a:spcAft>
                        <a:buNone/>
                      </a:pPr>
                      <a:r>
                        <a:rPr lang="en" sz="700"/>
                        <a:t>0.7372</a:t>
                      </a:r>
                      <a:endParaRPr sz="7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spcBef>
                          <a:spcPts val="0"/>
                        </a:spcBef>
                        <a:spcAft>
                          <a:spcPts val="0"/>
                        </a:spcAft>
                        <a:buNone/>
                      </a:pPr>
                      <a:r>
                        <a:rPr lang="en" sz="700"/>
                        <a:t>0.7294</a:t>
                      </a:r>
                      <a:endParaRPr sz="7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spcBef>
                          <a:spcPts val="0"/>
                        </a:spcBef>
                        <a:spcAft>
                          <a:spcPts val="0"/>
                        </a:spcAft>
                        <a:buNone/>
                      </a:pPr>
                      <a:r>
                        <a:rPr lang="en" sz="700"/>
                        <a:t>0.7453</a:t>
                      </a:r>
                      <a:endParaRPr sz="7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spcBef>
                          <a:spcPts val="0"/>
                        </a:spcBef>
                        <a:spcAft>
                          <a:spcPts val="0"/>
                        </a:spcAft>
                        <a:buNone/>
                      </a:pPr>
                      <a:r>
                        <a:rPr lang="en" sz="700"/>
                        <a:t>0.7373</a:t>
                      </a:r>
                      <a:endParaRPr sz="7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spcBef>
                          <a:spcPts val="0"/>
                        </a:spcBef>
                        <a:spcAft>
                          <a:spcPts val="0"/>
                        </a:spcAft>
                        <a:buNone/>
                      </a:pPr>
                      <a:r>
                        <a:rPr lang="en" sz="700"/>
                        <a:t>0.8259</a:t>
                      </a:r>
                      <a:endParaRPr sz="7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r>
            </a:tbl>
          </a:graphicData>
        </a:graphic>
      </p:graphicFrame>
      <p:sp>
        <p:nvSpPr>
          <p:cNvPr id="202" name="Google Shape;202;p31"/>
          <p:cNvSpPr txBox="1"/>
          <p:nvPr>
            <p:ph type="title"/>
          </p:nvPr>
        </p:nvSpPr>
        <p:spPr>
          <a:xfrm>
            <a:off x="457200" y="702644"/>
            <a:ext cx="8229600" cy="644100"/>
          </a:xfrm>
          <a:prstGeom prst="rect">
            <a:avLst/>
          </a:prstGeom>
        </p:spPr>
        <p:txBody>
          <a:bodyPr anchorCtr="0" anchor="ctr" bIns="45700" lIns="91425" spcFirstLastPara="1" rIns="91425" wrap="square" tIns="45700">
            <a:normAutofit fontScale="90000"/>
          </a:bodyPr>
          <a:lstStyle/>
          <a:p>
            <a:pPr indent="0" lvl="0" marL="0" rtl="0" algn="ctr">
              <a:spcBef>
                <a:spcPts val="0"/>
              </a:spcBef>
              <a:spcAft>
                <a:spcPts val="0"/>
              </a:spcAft>
              <a:buNone/>
            </a:pPr>
            <a:r>
              <a:rPr lang="en"/>
              <a:t>Model Performance</a:t>
            </a:r>
            <a:endParaRPr/>
          </a:p>
        </p:txBody>
      </p:sp>
      <p:sp>
        <p:nvSpPr>
          <p:cNvPr id="203" name="Google Shape;203;p31"/>
          <p:cNvSpPr txBox="1"/>
          <p:nvPr/>
        </p:nvSpPr>
        <p:spPr>
          <a:xfrm>
            <a:off x="116850" y="1536350"/>
            <a:ext cx="8677800" cy="1015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en" sz="800">
                <a:solidFill>
                  <a:schemeClr val="dk1"/>
                </a:solidFill>
              </a:rPr>
              <a:t>The modeling dataset used 33 pre-enrollment and first-term features, including academic readiness, AP indicators, demographics, residency, enrollment status, and financial support. Graduation was encoded as 1 (Yes) and 0 (No). Data was split using a stratified 70/15/15 train–validation–test approach. A unified scikit-learn pipeline handled preprocessing, including median imputation, categorical mode imputation, z-score scaling, and one-hot encoding. Seven models were tested: Logistic Regression, Random Forest, Gradient Boosting, XGBoost, Linear SVM, RBF SVM, and Gaussian Naïve Bayes. Performance was evaluated using accuracy, recall, F1, and primarily AUC. PCA experiments were conducted and  Hyperparameter tuning using RandomizedSearchCV significantly improved tree-based models. Boosting models captured complex interactions between academic and financial features.</a:t>
            </a:r>
            <a:br>
              <a:rPr lang="en" sz="800">
                <a:solidFill>
                  <a:schemeClr val="dk1"/>
                </a:solidFill>
              </a:rPr>
            </a:br>
            <a:endParaRPr sz="800">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32"/>
          <p:cNvSpPr txBox="1"/>
          <p:nvPr>
            <p:ph idx="1" type="body"/>
          </p:nvPr>
        </p:nvSpPr>
        <p:spPr>
          <a:xfrm>
            <a:off x="457200" y="1610179"/>
            <a:ext cx="8229600" cy="2984400"/>
          </a:xfrm>
          <a:prstGeom prst="rect">
            <a:avLst/>
          </a:prstGeom>
        </p:spPr>
        <p:txBody>
          <a:bodyPr anchorCtr="0" anchor="t" bIns="45700" lIns="91425" spcFirstLastPara="1" rIns="91425" wrap="square" tIns="45700">
            <a:normAutofit/>
          </a:bodyPr>
          <a:lstStyle/>
          <a:p>
            <a:pPr indent="-292100" lvl="0" marL="457200" rtl="0" algn="l">
              <a:spcBef>
                <a:spcPts val="360"/>
              </a:spcBef>
              <a:spcAft>
                <a:spcPts val="0"/>
              </a:spcAft>
              <a:buSzPts val="1000"/>
              <a:buFont typeface="Arial"/>
              <a:buChar char="•"/>
            </a:pPr>
            <a:r>
              <a:rPr lang="en" sz="1000">
                <a:latin typeface="Arial"/>
                <a:ea typeface="Arial"/>
                <a:cs typeface="Arial"/>
                <a:sym typeface="Arial"/>
              </a:rPr>
              <a:t>Model evaluation used </a:t>
            </a:r>
            <a:r>
              <a:rPr b="1" lang="en" sz="1000">
                <a:latin typeface="Arial"/>
                <a:ea typeface="Arial"/>
                <a:cs typeface="Arial"/>
                <a:sym typeface="Arial"/>
              </a:rPr>
              <a:t>Accuracy, Precision, Recall, F1 Score, and AUC</a:t>
            </a:r>
            <a:r>
              <a:rPr lang="en" sz="1000">
                <a:latin typeface="Arial"/>
                <a:ea typeface="Arial"/>
                <a:cs typeface="Arial"/>
                <a:sym typeface="Arial"/>
              </a:rPr>
              <a:t> on the test dataset.</a:t>
            </a:r>
            <a:br>
              <a:rPr lang="en" sz="1000">
                <a:latin typeface="Arial"/>
                <a:ea typeface="Arial"/>
                <a:cs typeface="Arial"/>
                <a:sym typeface="Arial"/>
              </a:rPr>
            </a:br>
            <a:endParaRPr sz="1000">
              <a:latin typeface="Arial"/>
              <a:ea typeface="Arial"/>
              <a:cs typeface="Arial"/>
              <a:sym typeface="Arial"/>
            </a:endParaRPr>
          </a:p>
          <a:p>
            <a:pPr indent="-292100" lvl="0" marL="457200" rtl="0" algn="l">
              <a:spcBef>
                <a:spcPts val="0"/>
              </a:spcBef>
              <a:spcAft>
                <a:spcPts val="0"/>
              </a:spcAft>
              <a:buSzPts val="1000"/>
              <a:buFont typeface="Arial"/>
              <a:buChar char="•"/>
            </a:pPr>
            <a:r>
              <a:rPr b="1" lang="en" sz="1000">
                <a:latin typeface="Arial"/>
                <a:ea typeface="Arial"/>
                <a:cs typeface="Arial"/>
                <a:sym typeface="Arial"/>
              </a:rPr>
              <a:t>Tuned XGBoost</a:t>
            </a:r>
            <a:r>
              <a:rPr lang="en" sz="1000">
                <a:latin typeface="Arial"/>
                <a:ea typeface="Arial"/>
                <a:cs typeface="Arial"/>
                <a:sym typeface="Arial"/>
              </a:rPr>
              <a:t> achieved the </a:t>
            </a:r>
            <a:r>
              <a:rPr b="1" lang="en" sz="1000">
                <a:latin typeface="Arial"/>
                <a:ea typeface="Arial"/>
                <a:cs typeface="Arial"/>
                <a:sym typeface="Arial"/>
              </a:rPr>
              <a:t>best performance</a:t>
            </a:r>
            <a:r>
              <a:rPr lang="en" sz="1000">
                <a:latin typeface="Arial"/>
                <a:ea typeface="Arial"/>
                <a:cs typeface="Arial"/>
                <a:sym typeface="Arial"/>
              </a:rPr>
              <a:t> with </a:t>
            </a:r>
            <a:r>
              <a:rPr b="1" lang="en" sz="1000">
                <a:latin typeface="Arial"/>
                <a:ea typeface="Arial"/>
                <a:cs typeface="Arial"/>
                <a:sym typeface="Arial"/>
              </a:rPr>
              <a:t>AUC = 0.8456</a:t>
            </a:r>
            <a:r>
              <a:rPr lang="en" sz="1000">
                <a:latin typeface="Arial"/>
                <a:ea typeface="Arial"/>
                <a:cs typeface="Arial"/>
                <a:sym typeface="Arial"/>
              </a:rPr>
              <a:t>, </a:t>
            </a:r>
            <a:r>
              <a:rPr b="1" lang="en" sz="1000">
                <a:latin typeface="Arial"/>
                <a:ea typeface="Arial"/>
                <a:cs typeface="Arial"/>
                <a:sym typeface="Arial"/>
              </a:rPr>
              <a:t>Accuracy = 0.7578</a:t>
            </a:r>
            <a:r>
              <a:rPr lang="en" sz="1000">
                <a:latin typeface="Arial"/>
                <a:ea typeface="Arial"/>
                <a:cs typeface="Arial"/>
                <a:sym typeface="Arial"/>
              </a:rPr>
              <a:t>, and the </a:t>
            </a:r>
            <a:r>
              <a:rPr b="1" lang="en" sz="1000">
                <a:latin typeface="Arial"/>
                <a:ea typeface="Arial"/>
                <a:cs typeface="Arial"/>
                <a:sym typeface="Arial"/>
              </a:rPr>
              <a:t>highest F1 score</a:t>
            </a:r>
            <a:r>
              <a:rPr lang="en" sz="1000">
                <a:latin typeface="Arial"/>
                <a:ea typeface="Arial"/>
                <a:cs typeface="Arial"/>
                <a:sym typeface="Arial"/>
              </a:rPr>
              <a:t>.</a:t>
            </a:r>
            <a:br>
              <a:rPr lang="en" sz="1000">
                <a:latin typeface="Arial"/>
                <a:ea typeface="Arial"/>
                <a:cs typeface="Arial"/>
                <a:sym typeface="Arial"/>
              </a:rPr>
            </a:br>
            <a:endParaRPr sz="1000">
              <a:latin typeface="Arial"/>
              <a:ea typeface="Arial"/>
              <a:cs typeface="Arial"/>
              <a:sym typeface="Arial"/>
            </a:endParaRPr>
          </a:p>
          <a:p>
            <a:pPr indent="-292100" lvl="0" marL="457200" rtl="0" algn="l">
              <a:spcBef>
                <a:spcPts val="0"/>
              </a:spcBef>
              <a:spcAft>
                <a:spcPts val="0"/>
              </a:spcAft>
              <a:buSzPts val="1000"/>
              <a:buFont typeface="Arial"/>
              <a:buChar char="•"/>
            </a:pPr>
            <a:r>
              <a:rPr b="1" lang="en" sz="1000">
                <a:latin typeface="Arial"/>
                <a:ea typeface="Arial"/>
                <a:cs typeface="Arial"/>
                <a:sym typeface="Arial"/>
              </a:rPr>
              <a:t>XGBoost Base</a:t>
            </a:r>
            <a:r>
              <a:rPr lang="en" sz="1000">
                <a:latin typeface="Arial"/>
                <a:ea typeface="Arial"/>
                <a:cs typeface="Arial"/>
                <a:sym typeface="Arial"/>
              </a:rPr>
              <a:t> and </a:t>
            </a:r>
            <a:r>
              <a:rPr b="1" lang="en" sz="1000">
                <a:latin typeface="Arial"/>
                <a:ea typeface="Arial"/>
                <a:cs typeface="Arial"/>
                <a:sym typeface="Arial"/>
              </a:rPr>
              <a:t>Gradient Boosting Tuned</a:t>
            </a:r>
            <a:r>
              <a:rPr lang="en" sz="1000">
                <a:latin typeface="Arial"/>
                <a:ea typeface="Arial"/>
                <a:cs typeface="Arial"/>
                <a:sym typeface="Arial"/>
              </a:rPr>
              <a:t> also performed strongly with AUC values </a:t>
            </a:r>
            <a:r>
              <a:rPr b="1" lang="en" sz="1000">
                <a:latin typeface="Arial"/>
                <a:ea typeface="Arial"/>
                <a:cs typeface="Arial"/>
                <a:sym typeface="Arial"/>
              </a:rPr>
              <a:t>above 0.844</a:t>
            </a:r>
            <a:r>
              <a:rPr lang="en" sz="1000">
                <a:latin typeface="Arial"/>
                <a:ea typeface="Arial"/>
                <a:cs typeface="Arial"/>
                <a:sym typeface="Arial"/>
              </a:rPr>
              <a:t>.</a:t>
            </a:r>
            <a:br>
              <a:rPr lang="en" sz="1000">
                <a:latin typeface="Arial"/>
                <a:ea typeface="Arial"/>
                <a:cs typeface="Arial"/>
                <a:sym typeface="Arial"/>
              </a:rPr>
            </a:br>
            <a:endParaRPr sz="1000">
              <a:latin typeface="Arial"/>
              <a:ea typeface="Arial"/>
              <a:cs typeface="Arial"/>
              <a:sym typeface="Arial"/>
            </a:endParaRPr>
          </a:p>
          <a:p>
            <a:pPr indent="-292100" lvl="0" marL="457200" rtl="0" algn="l">
              <a:spcBef>
                <a:spcPts val="0"/>
              </a:spcBef>
              <a:spcAft>
                <a:spcPts val="0"/>
              </a:spcAft>
              <a:buSzPts val="1000"/>
              <a:buFont typeface="Arial"/>
              <a:buChar char="•"/>
            </a:pPr>
            <a:r>
              <a:rPr b="1" lang="en" sz="1000">
                <a:latin typeface="Arial"/>
                <a:ea typeface="Arial"/>
                <a:cs typeface="Arial"/>
                <a:sym typeface="Arial"/>
              </a:rPr>
              <a:t>Random Forest</a:t>
            </a:r>
            <a:r>
              <a:rPr lang="en" sz="1000">
                <a:latin typeface="Arial"/>
                <a:ea typeface="Arial"/>
                <a:cs typeface="Arial"/>
                <a:sym typeface="Arial"/>
              </a:rPr>
              <a:t> models performed moderately well but were slightly weaker than boosting methods.</a:t>
            </a:r>
            <a:br>
              <a:rPr lang="en" sz="1000">
                <a:latin typeface="Arial"/>
                <a:ea typeface="Arial"/>
                <a:cs typeface="Arial"/>
                <a:sym typeface="Arial"/>
              </a:rPr>
            </a:br>
            <a:endParaRPr sz="1000">
              <a:latin typeface="Arial"/>
              <a:ea typeface="Arial"/>
              <a:cs typeface="Arial"/>
              <a:sym typeface="Arial"/>
            </a:endParaRPr>
          </a:p>
          <a:p>
            <a:pPr indent="-292100" lvl="0" marL="457200" rtl="0" algn="l">
              <a:spcBef>
                <a:spcPts val="0"/>
              </a:spcBef>
              <a:spcAft>
                <a:spcPts val="0"/>
              </a:spcAft>
              <a:buSzPts val="1000"/>
              <a:buFont typeface="Arial"/>
              <a:buChar char="•"/>
            </a:pPr>
            <a:r>
              <a:rPr b="1" lang="en" sz="1000">
                <a:latin typeface="Arial"/>
                <a:ea typeface="Arial"/>
                <a:cs typeface="Arial"/>
                <a:sym typeface="Arial"/>
              </a:rPr>
              <a:t>Logistic Regression</a:t>
            </a:r>
            <a:r>
              <a:rPr lang="en" sz="1000">
                <a:latin typeface="Arial"/>
                <a:ea typeface="Arial"/>
                <a:cs typeface="Arial"/>
                <a:sym typeface="Arial"/>
              </a:rPr>
              <a:t> models remained stable with </a:t>
            </a:r>
            <a:r>
              <a:rPr b="1" lang="en" sz="1000">
                <a:latin typeface="Arial"/>
                <a:ea typeface="Arial"/>
                <a:cs typeface="Arial"/>
                <a:sym typeface="Arial"/>
              </a:rPr>
              <a:t>AUC ≈ 0.81</a:t>
            </a:r>
            <a:r>
              <a:rPr lang="en" sz="1000">
                <a:latin typeface="Arial"/>
                <a:ea typeface="Arial"/>
                <a:cs typeface="Arial"/>
                <a:sym typeface="Arial"/>
              </a:rPr>
              <a:t> but underperformed compared to tree-based models.</a:t>
            </a:r>
            <a:br>
              <a:rPr lang="en" sz="1000">
                <a:latin typeface="Arial"/>
                <a:ea typeface="Arial"/>
                <a:cs typeface="Arial"/>
                <a:sym typeface="Arial"/>
              </a:rPr>
            </a:br>
            <a:endParaRPr sz="1000">
              <a:latin typeface="Arial"/>
              <a:ea typeface="Arial"/>
              <a:cs typeface="Arial"/>
              <a:sym typeface="Arial"/>
            </a:endParaRPr>
          </a:p>
          <a:p>
            <a:pPr indent="-292100" lvl="0" marL="457200" rtl="0" algn="l">
              <a:spcBef>
                <a:spcPts val="0"/>
              </a:spcBef>
              <a:spcAft>
                <a:spcPts val="0"/>
              </a:spcAft>
              <a:buSzPts val="1000"/>
              <a:buFont typeface="Arial"/>
              <a:buChar char="•"/>
            </a:pPr>
            <a:r>
              <a:rPr b="1" lang="en" sz="1000">
                <a:latin typeface="Arial"/>
                <a:ea typeface="Arial"/>
                <a:cs typeface="Arial"/>
                <a:sym typeface="Arial"/>
              </a:rPr>
              <a:t>PCA-based models performed worse</a:t>
            </a:r>
            <a:r>
              <a:rPr lang="en" sz="1000">
                <a:latin typeface="Arial"/>
                <a:ea typeface="Arial"/>
                <a:cs typeface="Arial"/>
                <a:sym typeface="Arial"/>
              </a:rPr>
              <a:t>, showing reduced accuracy and AUC due to loss of feature information.</a:t>
            </a:r>
            <a:br>
              <a:rPr lang="en" sz="1000">
                <a:latin typeface="Arial"/>
                <a:ea typeface="Arial"/>
                <a:cs typeface="Arial"/>
                <a:sym typeface="Arial"/>
              </a:rPr>
            </a:br>
            <a:endParaRPr sz="1000">
              <a:latin typeface="Arial"/>
              <a:ea typeface="Arial"/>
              <a:cs typeface="Arial"/>
              <a:sym typeface="Arial"/>
            </a:endParaRPr>
          </a:p>
          <a:p>
            <a:pPr indent="-292100" lvl="0" marL="457200" rtl="0" algn="l">
              <a:spcBef>
                <a:spcPts val="0"/>
              </a:spcBef>
              <a:spcAft>
                <a:spcPts val="0"/>
              </a:spcAft>
              <a:buSzPts val="1000"/>
              <a:buFont typeface="Arial"/>
              <a:buChar char="•"/>
            </a:pPr>
            <a:r>
              <a:rPr b="1" lang="en" sz="1000">
                <a:latin typeface="Arial"/>
                <a:ea typeface="Arial"/>
                <a:cs typeface="Arial"/>
                <a:sym typeface="Arial"/>
              </a:rPr>
              <a:t>Gaussian Naïve Bayes</a:t>
            </a:r>
            <a:r>
              <a:rPr lang="en" sz="1000">
                <a:latin typeface="Arial"/>
                <a:ea typeface="Arial"/>
                <a:cs typeface="Arial"/>
                <a:sym typeface="Arial"/>
              </a:rPr>
              <a:t> performed the worst (</a:t>
            </a:r>
            <a:r>
              <a:rPr b="1" lang="en" sz="1000">
                <a:latin typeface="Arial"/>
                <a:ea typeface="Arial"/>
                <a:cs typeface="Arial"/>
                <a:sym typeface="Arial"/>
              </a:rPr>
              <a:t>AUC ≈ 0.51</a:t>
            </a:r>
            <a:r>
              <a:rPr lang="en" sz="1000">
                <a:latin typeface="Arial"/>
                <a:ea typeface="Arial"/>
                <a:cs typeface="Arial"/>
                <a:sym typeface="Arial"/>
              </a:rPr>
              <a:t>) because it cannot model complex feature interactions.</a:t>
            </a:r>
            <a:br>
              <a:rPr lang="en" sz="1000">
                <a:latin typeface="Arial"/>
                <a:ea typeface="Arial"/>
                <a:cs typeface="Arial"/>
                <a:sym typeface="Arial"/>
              </a:rPr>
            </a:br>
            <a:endParaRPr sz="1000">
              <a:latin typeface="Arial"/>
              <a:ea typeface="Arial"/>
              <a:cs typeface="Arial"/>
              <a:sym typeface="Arial"/>
            </a:endParaRPr>
          </a:p>
          <a:p>
            <a:pPr indent="-292100" lvl="0" marL="457200" rtl="0" algn="l">
              <a:spcBef>
                <a:spcPts val="0"/>
              </a:spcBef>
              <a:spcAft>
                <a:spcPts val="0"/>
              </a:spcAft>
              <a:buSzPts val="1000"/>
              <a:buFont typeface="Arial"/>
              <a:buChar char="•"/>
            </a:pPr>
            <a:r>
              <a:rPr lang="en" sz="1000">
                <a:latin typeface="Arial"/>
                <a:ea typeface="Arial"/>
                <a:cs typeface="Arial"/>
                <a:sym typeface="Arial"/>
              </a:rPr>
              <a:t>Boosting methods (especially </a:t>
            </a:r>
            <a:r>
              <a:rPr b="1" lang="en" sz="1000">
                <a:latin typeface="Arial"/>
                <a:ea typeface="Arial"/>
                <a:cs typeface="Arial"/>
                <a:sym typeface="Arial"/>
              </a:rPr>
              <a:t>Tuned XGBoost</a:t>
            </a:r>
            <a:r>
              <a:rPr lang="en" sz="1000">
                <a:latin typeface="Arial"/>
                <a:ea typeface="Arial"/>
                <a:cs typeface="Arial"/>
                <a:sym typeface="Arial"/>
              </a:rPr>
              <a:t>) provided the </a:t>
            </a:r>
            <a:r>
              <a:rPr b="1" lang="en" sz="1000">
                <a:latin typeface="Arial"/>
                <a:ea typeface="Arial"/>
                <a:cs typeface="Arial"/>
                <a:sym typeface="Arial"/>
              </a:rPr>
              <a:t>highest predictive power</a:t>
            </a:r>
            <a:r>
              <a:rPr lang="en" sz="1000">
                <a:latin typeface="Arial"/>
                <a:ea typeface="Arial"/>
                <a:cs typeface="Arial"/>
                <a:sym typeface="Arial"/>
              </a:rPr>
              <a:t> and were selected for further interpretability and Power BI deployment.</a:t>
            </a:r>
            <a:endParaRPr sz="1000">
              <a:latin typeface="Arial"/>
              <a:ea typeface="Arial"/>
              <a:cs typeface="Arial"/>
              <a:sym typeface="Arial"/>
            </a:endParaRPr>
          </a:p>
        </p:txBody>
      </p:sp>
      <p:sp>
        <p:nvSpPr>
          <p:cNvPr id="209" name="Google Shape;209;p32"/>
          <p:cNvSpPr txBox="1"/>
          <p:nvPr>
            <p:ph type="title"/>
          </p:nvPr>
        </p:nvSpPr>
        <p:spPr>
          <a:xfrm>
            <a:off x="457200" y="702644"/>
            <a:ext cx="8229600" cy="644100"/>
          </a:xfrm>
          <a:prstGeom prst="rect">
            <a:avLst/>
          </a:prstGeom>
        </p:spPr>
        <p:txBody>
          <a:bodyPr anchorCtr="0" anchor="ctr" bIns="45700" lIns="91425" spcFirstLastPara="1" rIns="91425" wrap="square" tIns="45700">
            <a:normAutofit fontScale="90000"/>
          </a:bodyPr>
          <a:lstStyle/>
          <a:p>
            <a:pPr indent="0" lvl="0" marL="0" rtl="0" algn="ctr">
              <a:spcBef>
                <a:spcPts val="0"/>
              </a:spcBef>
              <a:spcAft>
                <a:spcPts val="0"/>
              </a:spcAft>
              <a:buNone/>
            </a:pPr>
            <a:r>
              <a:rPr lang="en"/>
              <a:t>Model Performance</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33"/>
          <p:cNvSpPr txBox="1"/>
          <p:nvPr>
            <p:ph type="title"/>
          </p:nvPr>
        </p:nvSpPr>
        <p:spPr>
          <a:xfrm>
            <a:off x="629600" y="2627869"/>
            <a:ext cx="8229600" cy="644100"/>
          </a:xfrm>
          <a:prstGeom prst="rect">
            <a:avLst/>
          </a:prstGeom>
        </p:spPr>
        <p:txBody>
          <a:bodyPr anchorCtr="0" anchor="ctr" bIns="45700" lIns="91425" spcFirstLastPara="1" rIns="91425" wrap="square" tIns="45700">
            <a:normAutofit fontScale="90000"/>
          </a:bodyPr>
          <a:lstStyle/>
          <a:p>
            <a:pPr indent="0" lvl="0" marL="0" rtl="0" algn="ctr">
              <a:spcBef>
                <a:spcPts val="0"/>
              </a:spcBef>
              <a:spcAft>
                <a:spcPts val="0"/>
              </a:spcAft>
              <a:buNone/>
            </a:pPr>
            <a:r>
              <a:rPr lang="en"/>
              <a:t>Feature Importance</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graphicFrame>
        <p:nvGraphicFramePr>
          <p:cNvPr id="219" name="Google Shape;219;p34"/>
          <p:cNvGraphicFramePr/>
          <p:nvPr/>
        </p:nvGraphicFramePr>
        <p:xfrm>
          <a:off x="94950" y="679175"/>
          <a:ext cx="3000000" cy="3000000"/>
        </p:xfrm>
        <a:graphic>
          <a:graphicData uri="http://schemas.openxmlformats.org/drawingml/2006/table">
            <a:tbl>
              <a:tblPr>
                <a:noFill/>
                <a:tableStyleId>{24C009FF-336C-47B4-8BC5-F4C2A9347E70}</a:tableStyleId>
              </a:tblPr>
              <a:tblGrid>
                <a:gridCol w="2152650"/>
                <a:gridCol w="695325"/>
                <a:gridCol w="790575"/>
                <a:gridCol w="685800"/>
              </a:tblGrid>
              <a:tr h="302350">
                <a:tc>
                  <a:txBody>
                    <a:bodyPr/>
                    <a:lstStyle/>
                    <a:p>
                      <a:pPr indent="0" lvl="0" marL="0" rtl="0" algn="ctr">
                        <a:lnSpc>
                          <a:spcPct val="115000"/>
                        </a:lnSpc>
                        <a:spcBef>
                          <a:spcPts val="0"/>
                        </a:spcBef>
                        <a:spcAft>
                          <a:spcPts val="0"/>
                        </a:spcAft>
                        <a:buNone/>
                      </a:pPr>
                      <a:r>
                        <a:rPr b="1" lang="en" sz="800">
                          <a:solidFill>
                            <a:schemeClr val="lt1"/>
                          </a:solidFill>
                        </a:rPr>
                        <a:t>Feature</a:t>
                      </a:r>
                      <a:endParaRPr b="1" sz="800">
                        <a:solidFill>
                          <a:schemeClr val="lt1"/>
                        </a:solidFill>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40000"/>
                    </a:solidFill>
                  </a:tcPr>
                </a:tc>
                <a:tc>
                  <a:txBody>
                    <a:bodyPr/>
                    <a:lstStyle/>
                    <a:p>
                      <a:pPr indent="0" lvl="0" marL="0" rtl="0" algn="ctr">
                        <a:lnSpc>
                          <a:spcPct val="115000"/>
                        </a:lnSpc>
                        <a:spcBef>
                          <a:spcPts val="0"/>
                        </a:spcBef>
                        <a:spcAft>
                          <a:spcPts val="0"/>
                        </a:spcAft>
                        <a:buNone/>
                      </a:pPr>
                      <a:r>
                        <a:rPr b="1" lang="en" sz="800">
                          <a:solidFill>
                            <a:schemeClr val="lt1"/>
                          </a:solidFill>
                        </a:rPr>
                        <a:t>XGB Base</a:t>
                      </a:r>
                      <a:endParaRPr b="1" sz="800">
                        <a:solidFill>
                          <a:schemeClr val="lt1"/>
                        </a:solidFill>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40000"/>
                    </a:solidFill>
                  </a:tcPr>
                </a:tc>
                <a:tc>
                  <a:txBody>
                    <a:bodyPr/>
                    <a:lstStyle/>
                    <a:p>
                      <a:pPr indent="0" lvl="0" marL="0" rtl="0" algn="ctr">
                        <a:lnSpc>
                          <a:spcPct val="115000"/>
                        </a:lnSpc>
                        <a:spcBef>
                          <a:spcPts val="0"/>
                        </a:spcBef>
                        <a:spcAft>
                          <a:spcPts val="0"/>
                        </a:spcAft>
                        <a:buNone/>
                      </a:pPr>
                      <a:r>
                        <a:rPr b="1" lang="en" sz="800">
                          <a:solidFill>
                            <a:schemeClr val="lt1"/>
                          </a:solidFill>
                        </a:rPr>
                        <a:t>XGB Tuned</a:t>
                      </a:r>
                      <a:endParaRPr b="1" sz="800">
                        <a:solidFill>
                          <a:schemeClr val="lt1"/>
                        </a:solidFill>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40000"/>
                    </a:solidFill>
                  </a:tcPr>
                </a:tc>
                <a:tc>
                  <a:txBody>
                    <a:bodyPr/>
                    <a:lstStyle/>
                    <a:p>
                      <a:pPr indent="0" lvl="0" marL="0" rtl="0" algn="ctr">
                        <a:lnSpc>
                          <a:spcPct val="115000"/>
                        </a:lnSpc>
                        <a:spcBef>
                          <a:spcPts val="0"/>
                        </a:spcBef>
                        <a:spcAft>
                          <a:spcPts val="0"/>
                        </a:spcAft>
                        <a:buNone/>
                      </a:pPr>
                      <a:r>
                        <a:rPr b="1" lang="en" sz="800">
                          <a:solidFill>
                            <a:schemeClr val="lt1"/>
                          </a:solidFill>
                        </a:rPr>
                        <a:t>GB Tuned</a:t>
                      </a:r>
                      <a:endParaRPr b="1" sz="800">
                        <a:solidFill>
                          <a:schemeClr val="lt1"/>
                        </a:solidFill>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40000"/>
                    </a:solidFill>
                  </a:tcPr>
                </a:tc>
              </a:tr>
              <a:tr h="210875">
                <a:tc>
                  <a:txBody>
                    <a:bodyPr/>
                    <a:lstStyle/>
                    <a:p>
                      <a:pPr indent="0" lvl="0" marL="0" rtl="0" algn="l">
                        <a:spcBef>
                          <a:spcPts val="0"/>
                        </a:spcBef>
                        <a:spcAft>
                          <a:spcPts val="0"/>
                        </a:spcAft>
                        <a:buNone/>
                      </a:pPr>
                      <a:r>
                        <a:rPr lang="en" sz="800"/>
                        <a:t>ALEKSScore</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spcBef>
                          <a:spcPts val="0"/>
                        </a:spcBef>
                        <a:spcAft>
                          <a:spcPts val="0"/>
                        </a:spcAft>
                        <a:buNone/>
                      </a:pPr>
                      <a:r>
                        <a:rPr lang="en" sz="800"/>
                        <a:t>0.051</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spcBef>
                          <a:spcPts val="0"/>
                        </a:spcBef>
                        <a:spcAft>
                          <a:spcPts val="0"/>
                        </a:spcAft>
                        <a:buNone/>
                      </a:pPr>
                      <a:r>
                        <a:rPr lang="en" sz="800"/>
                        <a:t>0.047</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spcBef>
                          <a:spcPts val="0"/>
                        </a:spcBef>
                        <a:spcAft>
                          <a:spcPts val="0"/>
                        </a:spcAft>
                        <a:buNone/>
                      </a:pPr>
                      <a:r>
                        <a:rPr lang="en" sz="800"/>
                        <a:t>0.218</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r>
              <a:tr h="284675">
                <a:tc>
                  <a:txBody>
                    <a:bodyPr/>
                    <a:lstStyle/>
                    <a:p>
                      <a:pPr indent="0" lvl="0" marL="0" rtl="0" algn="l">
                        <a:spcBef>
                          <a:spcPts val="0"/>
                        </a:spcBef>
                        <a:spcAft>
                          <a:spcPts val="0"/>
                        </a:spcAft>
                        <a:buNone/>
                      </a:pPr>
                      <a:r>
                        <a:rPr lang="en" sz="800"/>
                        <a:t>AP_ct_computer</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spcBef>
                          <a:spcPts val="0"/>
                        </a:spcBef>
                        <a:spcAft>
                          <a:spcPts val="0"/>
                        </a:spcAft>
                        <a:buNone/>
                      </a:pPr>
                      <a:r>
                        <a:rPr lang="en" sz="800"/>
                        <a:t>0.022</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spcBef>
                          <a:spcPts val="0"/>
                        </a:spcBef>
                        <a:spcAft>
                          <a:spcPts val="0"/>
                        </a:spcAft>
                        <a:buNone/>
                      </a:pPr>
                      <a:r>
                        <a:rPr lang="en" sz="800"/>
                        <a:t>0.020</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spcBef>
                          <a:spcPts val="0"/>
                        </a:spcBef>
                        <a:spcAft>
                          <a:spcPts val="0"/>
                        </a:spcAft>
                        <a:buNone/>
                      </a:pPr>
                      <a:r>
                        <a:rPr lang="en" sz="800"/>
                        <a:t>0.017</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r>
              <a:tr h="284675">
                <a:tc>
                  <a:txBody>
                    <a:bodyPr/>
                    <a:lstStyle/>
                    <a:p>
                      <a:pPr indent="0" lvl="0" marL="0" rtl="0" algn="l">
                        <a:spcBef>
                          <a:spcPts val="0"/>
                        </a:spcBef>
                        <a:spcAft>
                          <a:spcPts val="0"/>
                        </a:spcAft>
                        <a:buNone/>
                      </a:pPr>
                      <a:r>
                        <a:rPr lang="en" sz="800"/>
                        <a:t>AP_ct_math</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spcBef>
                          <a:spcPts val="0"/>
                        </a:spcBef>
                        <a:spcAft>
                          <a:spcPts val="0"/>
                        </a:spcAft>
                        <a:buNone/>
                      </a:pPr>
                      <a:r>
                        <a:rPr lang="en" sz="800"/>
                        <a:t>–</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spcBef>
                          <a:spcPts val="0"/>
                        </a:spcBef>
                        <a:spcAft>
                          <a:spcPts val="0"/>
                        </a:spcAft>
                        <a:buNone/>
                      </a:pPr>
                      <a:r>
                        <a:rPr lang="en" sz="800"/>
                        <a:t>–</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spcBef>
                          <a:spcPts val="0"/>
                        </a:spcBef>
                        <a:spcAft>
                          <a:spcPts val="0"/>
                        </a:spcAft>
                        <a:buNone/>
                      </a:pPr>
                      <a:r>
                        <a:rPr lang="en" sz="800"/>
                        <a:t>0.006</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r>
              <a:tr h="284675">
                <a:tc>
                  <a:txBody>
                    <a:bodyPr/>
                    <a:lstStyle/>
                    <a:p>
                      <a:pPr indent="0" lvl="0" marL="0" rtl="0" algn="l">
                        <a:spcBef>
                          <a:spcPts val="0"/>
                        </a:spcBef>
                        <a:spcAft>
                          <a:spcPts val="0"/>
                        </a:spcAft>
                        <a:buNone/>
                      </a:pPr>
                      <a:r>
                        <a:rPr lang="en" sz="800"/>
                        <a:t>AP_ct_social</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spcBef>
                          <a:spcPts val="0"/>
                        </a:spcBef>
                        <a:spcAft>
                          <a:spcPts val="0"/>
                        </a:spcAft>
                        <a:buNone/>
                      </a:pPr>
                      <a:r>
                        <a:rPr lang="en" sz="800"/>
                        <a:t>–</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spcBef>
                          <a:spcPts val="0"/>
                        </a:spcBef>
                        <a:spcAft>
                          <a:spcPts val="0"/>
                        </a:spcAft>
                        <a:buNone/>
                      </a:pPr>
                      <a:r>
                        <a:rPr lang="en" sz="800"/>
                        <a:t>–</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spcBef>
                          <a:spcPts val="0"/>
                        </a:spcBef>
                        <a:spcAft>
                          <a:spcPts val="0"/>
                        </a:spcAft>
                        <a:buNone/>
                      </a:pPr>
                      <a:r>
                        <a:rPr lang="en" sz="800"/>
                        <a:t>0.005</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r>
              <a:tr h="284675">
                <a:tc>
                  <a:txBody>
                    <a:bodyPr/>
                    <a:lstStyle/>
                    <a:p>
                      <a:pPr indent="0" lvl="0" marL="0" rtl="0" algn="l">
                        <a:spcBef>
                          <a:spcPts val="0"/>
                        </a:spcBef>
                        <a:spcAft>
                          <a:spcPts val="0"/>
                        </a:spcAft>
                        <a:buNone/>
                      </a:pPr>
                      <a:r>
                        <a:rPr lang="en" sz="800"/>
                        <a:t>AP_max_score</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spcBef>
                          <a:spcPts val="0"/>
                        </a:spcBef>
                        <a:spcAft>
                          <a:spcPts val="0"/>
                        </a:spcAft>
                        <a:buNone/>
                      </a:pPr>
                      <a:r>
                        <a:rPr lang="en" sz="800"/>
                        <a:t>0.019</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spcBef>
                          <a:spcPts val="0"/>
                        </a:spcBef>
                        <a:spcAft>
                          <a:spcPts val="0"/>
                        </a:spcAft>
                        <a:buNone/>
                      </a:pPr>
                      <a:r>
                        <a:rPr lang="en" sz="800"/>
                        <a:t>0.019</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spcBef>
                          <a:spcPts val="0"/>
                        </a:spcBef>
                        <a:spcAft>
                          <a:spcPts val="0"/>
                        </a:spcAft>
                        <a:buNone/>
                      </a:pPr>
                      <a:r>
                        <a:rPr lang="en" sz="800"/>
                        <a:t>0.022</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r>
              <a:tr h="284675">
                <a:tc>
                  <a:txBody>
                    <a:bodyPr/>
                    <a:lstStyle/>
                    <a:p>
                      <a:pPr indent="0" lvl="0" marL="0" rtl="0" algn="l">
                        <a:spcBef>
                          <a:spcPts val="0"/>
                        </a:spcBef>
                        <a:spcAft>
                          <a:spcPts val="0"/>
                        </a:spcAft>
                        <a:buNone/>
                      </a:pPr>
                      <a:r>
                        <a:rPr lang="en" sz="800"/>
                        <a:t>AP_total_transfer_credits</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spcBef>
                          <a:spcPts val="0"/>
                        </a:spcBef>
                        <a:spcAft>
                          <a:spcPts val="0"/>
                        </a:spcAft>
                        <a:buNone/>
                      </a:pPr>
                      <a:r>
                        <a:rPr lang="en" sz="800"/>
                        <a:t>–</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spcBef>
                          <a:spcPts val="0"/>
                        </a:spcBef>
                        <a:spcAft>
                          <a:spcPts val="0"/>
                        </a:spcAft>
                        <a:buNone/>
                      </a:pPr>
                      <a:r>
                        <a:rPr lang="en" sz="800"/>
                        <a:t>0.016</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spcBef>
                          <a:spcPts val="0"/>
                        </a:spcBef>
                        <a:spcAft>
                          <a:spcPts val="0"/>
                        </a:spcAft>
                        <a:buNone/>
                      </a:pPr>
                      <a:r>
                        <a:rPr lang="en" sz="800"/>
                        <a:t>0.008</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r>
              <a:tr h="284675">
                <a:tc>
                  <a:txBody>
                    <a:bodyPr/>
                    <a:lstStyle/>
                    <a:p>
                      <a:pPr indent="0" lvl="0" marL="0" rtl="0" algn="l">
                        <a:spcBef>
                          <a:spcPts val="0"/>
                        </a:spcBef>
                        <a:spcAft>
                          <a:spcPts val="0"/>
                        </a:spcAft>
                        <a:buNone/>
                      </a:pPr>
                      <a:r>
                        <a:rPr lang="en" sz="800"/>
                        <a:t>AlgSCORE</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spcBef>
                          <a:spcPts val="0"/>
                        </a:spcBef>
                        <a:spcAft>
                          <a:spcPts val="0"/>
                        </a:spcAft>
                        <a:buNone/>
                      </a:pPr>
                      <a:r>
                        <a:rPr lang="en" sz="800"/>
                        <a:t>0.016</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spcBef>
                          <a:spcPts val="0"/>
                        </a:spcBef>
                        <a:spcAft>
                          <a:spcPts val="0"/>
                        </a:spcAft>
                        <a:buNone/>
                      </a:pPr>
                      <a:r>
                        <a:rPr lang="en" sz="800"/>
                        <a:t>0.016</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spcBef>
                          <a:spcPts val="0"/>
                        </a:spcBef>
                        <a:spcAft>
                          <a:spcPts val="0"/>
                        </a:spcAft>
                        <a:buNone/>
                      </a:pPr>
                      <a:r>
                        <a:rPr lang="en" sz="800"/>
                        <a:t>0.011</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r>
              <a:tr h="284675">
                <a:tc>
                  <a:txBody>
                    <a:bodyPr/>
                    <a:lstStyle/>
                    <a:p>
                      <a:pPr indent="0" lvl="0" marL="0" rtl="0" algn="l">
                        <a:spcBef>
                          <a:spcPts val="0"/>
                        </a:spcBef>
                        <a:spcAft>
                          <a:spcPts val="0"/>
                        </a:spcAft>
                        <a:buNone/>
                      </a:pPr>
                      <a:r>
                        <a:rPr lang="en" sz="800"/>
                        <a:t>CalScore</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spcBef>
                          <a:spcPts val="0"/>
                        </a:spcBef>
                        <a:spcAft>
                          <a:spcPts val="0"/>
                        </a:spcAft>
                        <a:buNone/>
                      </a:pPr>
                      <a:r>
                        <a:rPr lang="en" sz="800"/>
                        <a:t>–</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spcBef>
                          <a:spcPts val="0"/>
                        </a:spcBef>
                        <a:spcAft>
                          <a:spcPts val="0"/>
                        </a:spcAft>
                        <a:buNone/>
                      </a:pPr>
                      <a:r>
                        <a:rPr lang="en" sz="800"/>
                        <a:t>–</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spcBef>
                          <a:spcPts val="0"/>
                        </a:spcBef>
                        <a:spcAft>
                          <a:spcPts val="0"/>
                        </a:spcAft>
                        <a:buNone/>
                      </a:pPr>
                      <a:r>
                        <a:rPr lang="en" sz="800"/>
                        <a:t>0.010</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r>
              <a:tr h="284675">
                <a:tc>
                  <a:txBody>
                    <a:bodyPr/>
                    <a:lstStyle/>
                    <a:p>
                      <a:pPr indent="0" lvl="0" marL="0" rtl="0" algn="l">
                        <a:spcBef>
                          <a:spcPts val="0"/>
                        </a:spcBef>
                        <a:spcAft>
                          <a:spcPts val="0"/>
                        </a:spcAft>
                        <a:buNone/>
                      </a:pPr>
                      <a:r>
                        <a:rPr lang="en" sz="800"/>
                        <a:t>EngSCORE</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spcBef>
                          <a:spcPts val="0"/>
                        </a:spcBef>
                        <a:spcAft>
                          <a:spcPts val="0"/>
                        </a:spcAft>
                        <a:buNone/>
                      </a:pPr>
                      <a:r>
                        <a:rPr lang="en" sz="800"/>
                        <a:t>0.115</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spcBef>
                          <a:spcPts val="0"/>
                        </a:spcBef>
                        <a:spcAft>
                          <a:spcPts val="0"/>
                        </a:spcAft>
                        <a:buNone/>
                      </a:pPr>
                      <a:r>
                        <a:rPr lang="en" sz="800"/>
                        <a:t>0.149</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spcBef>
                          <a:spcPts val="0"/>
                        </a:spcBef>
                        <a:spcAft>
                          <a:spcPts val="0"/>
                        </a:spcAft>
                        <a:buNone/>
                      </a:pPr>
                      <a:r>
                        <a:rPr lang="en" sz="800"/>
                        <a:t>0.171</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r>
              <a:tr h="284675">
                <a:tc>
                  <a:txBody>
                    <a:bodyPr/>
                    <a:lstStyle/>
                    <a:p>
                      <a:pPr indent="0" lvl="0" marL="0" rtl="0" algn="l">
                        <a:spcBef>
                          <a:spcPts val="0"/>
                        </a:spcBef>
                        <a:spcAft>
                          <a:spcPts val="0"/>
                        </a:spcAft>
                        <a:buNone/>
                      </a:pPr>
                      <a:r>
                        <a:rPr lang="en" sz="800"/>
                        <a:t>HS_Percentile_Unknown</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spcBef>
                          <a:spcPts val="0"/>
                        </a:spcBef>
                        <a:spcAft>
                          <a:spcPts val="0"/>
                        </a:spcAft>
                        <a:buNone/>
                      </a:pPr>
                      <a:r>
                        <a:rPr lang="en" sz="800"/>
                        <a:t>0.019</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spcBef>
                          <a:spcPts val="0"/>
                        </a:spcBef>
                        <a:spcAft>
                          <a:spcPts val="0"/>
                        </a:spcAft>
                        <a:buNone/>
                      </a:pPr>
                      <a:r>
                        <a:rPr lang="en" sz="800"/>
                        <a:t>0.015</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spcBef>
                          <a:spcPts val="0"/>
                        </a:spcBef>
                        <a:spcAft>
                          <a:spcPts val="0"/>
                        </a:spcAft>
                        <a:buNone/>
                      </a:pPr>
                      <a:r>
                        <a:rPr lang="en" sz="800"/>
                        <a:t>–</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r>
              <a:tr h="284675">
                <a:tc>
                  <a:txBody>
                    <a:bodyPr/>
                    <a:lstStyle/>
                    <a:p>
                      <a:pPr indent="0" lvl="0" marL="0" rtl="0" algn="l">
                        <a:spcBef>
                          <a:spcPts val="0"/>
                        </a:spcBef>
                        <a:spcAft>
                          <a:spcPts val="0"/>
                        </a:spcAft>
                        <a:buNone/>
                      </a:pPr>
                      <a:r>
                        <a:rPr lang="en" sz="800"/>
                        <a:t>HS_GPA_Band 2.5–2.99</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spcBef>
                          <a:spcPts val="0"/>
                        </a:spcBef>
                        <a:spcAft>
                          <a:spcPts val="0"/>
                        </a:spcAft>
                        <a:buNone/>
                      </a:pPr>
                      <a:r>
                        <a:rPr lang="en" sz="800"/>
                        <a:t>0.016</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spcBef>
                          <a:spcPts val="0"/>
                        </a:spcBef>
                        <a:spcAft>
                          <a:spcPts val="0"/>
                        </a:spcAft>
                        <a:buNone/>
                      </a:pPr>
                      <a:r>
                        <a:rPr lang="en" sz="800"/>
                        <a:t>–</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spcBef>
                          <a:spcPts val="0"/>
                        </a:spcBef>
                        <a:spcAft>
                          <a:spcPts val="0"/>
                        </a:spcAft>
                        <a:buNone/>
                      </a:pPr>
                      <a:r>
                        <a:rPr lang="en" sz="800"/>
                        <a:t>–</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r>
              <a:tr h="284675">
                <a:tc>
                  <a:txBody>
                    <a:bodyPr/>
                    <a:lstStyle/>
                    <a:p>
                      <a:pPr indent="0" lvl="0" marL="0" rtl="0" algn="l">
                        <a:spcBef>
                          <a:spcPts val="0"/>
                        </a:spcBef>
                        <a:spcAft>
                          <a:spcPts val="0"/>
                        </a:spcAft>
                        <a:buNone/>
                      </a:pPr>
                      <a:r>
                        <a:rPr lang="en" sz="800"/>
                        <a:t>HS_GPA_Band Unknown</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spcBef>
                          <a:spcPts val="0"/>
                        </a:spcBef>
                        <a:spcAft>
                          <a:spcPts val="0"/>
                        </a:spcAft>
                        <a:buNone/>
                      </a:pPr>
                      <a:r>
                        <a:rPr lang="en" sz="800"/>
                        <a:t>0.017</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spcBef>
                          <a:spcPts val="0"/>
                        </a:spcBef>
                        <a:spcAft>
                          <a:spcPts val="0"/>
                        </a:spcAft>
                        <a:buNone/>
                      </a:pPr>
                      <a:r>
                        <a:rPr lang="en" sz="800"/>
                        <a:t>0.017</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spcBef>
                          <a:spcPts val="0"/>
                        </a:spcBef>
                        <a:spcAft>
                          <a:spcPts val="0"/>
                        </a:spcAft>
                        <a:buNone/>
                      </a:pPr>
                      <a:r>
                        <a:rPr lang="en" sz="800"/>
                        <a:t>–</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r>
              <a:tr h="284675">
                <a:tc>
                  <a:txBody>
                    <a:bodyPr/>
                    <a:lstStyle/>
                    <a:p>
                      <a:pPr indent="0" lvl="0" marL="0" rtl="0" algn="l">
                        <a:spcBef>
                          <a:spcPts val="0"/>
                        </a:spcBef>
                        <a:spcAft>
                          <a:spcPts val="0"/>
                        </a:spcAft>
                        <a:buNone/>
                      </a:pPr>
                      <a:r>
                        <a:rPr lang="en" sz="800"/>
                        <a:t>Gender: Male</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spcBef>
                          <a:spcPts val="0"/>
                        </a:spcBef>
                        <a:spcAft>
                          <a:spcPts val="0"/>
                        </a:spcAft>
                        <a:buNone/>
                      </a:pPr>
                      <a:r>
                        <a:rPr lang="en" sz="800"/>
                        <a:t>–</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spcBef>
                          <a:spcPts val="0"/>
                        </a:spcBef>
                        <a:spcAft>
                          <a:spcPts val="0"/>
                        </a:spcAft>
                        <a:buNone/>
                      </a:pPr>
                      <a:r>
                        <a:rPr lang="en" sz="800"/>
                        <a:t>–</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spcBef>
                          <a:spcPts val="0"/>
                        </a:spcBef>
                        <a:spcAft>
                          <a:spcPts val="0"/>
                        </a:spcAft>
                        <a:buNone/>
                      </a:pPr>
                      <a:r>
                        <a:rPr lang="en" sz="800"/>
                        <a:t>0.005</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r>
            </a:tbl>
          </a:graphicData>
        </a:graphic>
      </p:graphicFrame>
      <p:graphicFrame>
        <p:nvGraphicFramePr>
          <p:cNvPr id="220" name="Google Shape;220;p34"/>
          <p:cNvGraphicFramePr/>
          <p:nvPr/>
        </p:nvGraphicFramePr>
        <p:xfrm>
          <a:off x="4654475" y="679175"/>
          <a:ext cx="3000000" cy="3000000"/>
        </p:xfrm>
        <a:graphic>
          <a:graphicData uri="http://schemas.openxmlformats.org/drawingml/2006/table">
            <a:tbl>
              <a:tblPr>
                <a:noFill/>
                <a:tableStyleId>{24C009FF-336C-47B4-8BC5-F4C2A9347E70}</a:tableStyleId>
              </a:tblPr>
              <a:tblGrid>
                <a:gridCol w="1719050"/>
                <a:gridCol w="765725"/>
                <a:gridCol w="740275"/>
                <a:gridCol w="946475"/>
              </a:tblGrid>
              <a:tr h="190500">
                <a:tc>
                  <a:txBody>
                    <a:bodyPr/>
                    <a:lstStyle/>
                    <a:p>
                      <a:pPr indent="0" lvl="0" marL="0" rtl="0" algn="ctr">
                        <a:lnSpc>
                          <a:spcPct val="115000"/>
                        </a:lnSpc>
                        <a:spcBef>
                          <a:spcPts val="0"/>
                        </a:spcBef>
                        <a:spcAft>
                          <a:spcPts val="0"/>
                        </a:spcAft>
                        <a:buNone/>
                      </a:pPr>
                      <a:r>
                        <a:rPr b="1" lang="en" sz="800">
                          <a:solidFill>
                            <a:schemeClr val="lt1"/>
                          </a:solidFill>
                        </a:rPr>
                        <a:t>Feature</a:t>
                      </a:r>
                      <a:endParaRPr b="1" sz="800">
                        <a:solidFill>
                          <a:schemeClr val="lt1"/>
                        </a:solidFill>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40000"/>
                    </a:solidFill>
                  </a:tcPr>
                </a:tc>
                <a:tc>
                  <a:txBody>
                    <a:bodyPr/>
                    <a:lstStyle/>
                    <a:p>
                      <a:pPr indent="0" lvl="0" marL="0" rtl="0" algn="ctr">
                        <a:lnSpc>
                          <a:spcPct val="115000"/>
                        </a:lnSpc>
                        <a:spcBef>
                          <a:spcPts val="0"/>
                        </a:spcBef>
                        <a:spcAft>
                          <a:spcPts val="0"/>
                        </a:spcAft>
                        <a:buNone/>
                      </a:pPr>
                      <a:r>
                        <a:rPr b="1" lang="en" sz="800">
                          <a:solidFill>
                            <a:schemeClr val="lt1"/>
                          </a:solidFill>
                        </a:rPr>
                        <a:t>XGB Base</a:t>
                      </a:r>
                      <a:endParaRPr b="1" sz="800">
                        <a:solidFill>
                          <a:schemeClr val="lt1"/>
                        </a:solidFill>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40000"/>
                    </a:solidFill>
                  </a:tcPr>
                </a:tc>
                <a:tc>
                  <a:txBody>
                    <a:bodyPr/>
                    <a:lstStyle/>
                    <a:p>
                      <a:pPr indent="0" lvl="0" marL="0" rtl="0" algn="ctr">
                        <a:lnSpc>
                          <a:spcPct val="115000"/>
                        </a:lnSpc>
                        <a:spcBef>
                          <a:spcPts val="0"/>
                        </a:spcBef>
                        <a:spcAft>
                          <a:spcPts val="0"/>
                        </a:spcAft>
                        <a:buNone/>
                      </a:pPr>
                      <a:r>
                        <a:rPr b="1" lang="en" sz="800">
                          <a:solidFill>
                            <a:schemeClr val="lt1"/>
                          </a:solidFill>
                        </a:rPr>
                        <a:t>XGB Tuned</a:t>
                      </a:r>
                      <a:endParaRPr b="1" sz="800">
                        <a:solidFill>
                          <a:schemeClr val="lt1"/>
                        </a:solidFill>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40000"/>
                    </a:solidFill>
                  </a:tcPr>
                </a:tc>
                <a:tc>
                  <a:txBody>
                    <a:bodyPr/>
                    <a:lstStyle/>
                    <a:p>
                      <a:pPr indent="0" lvl="0" marL="0" rtl="0" algn="ctr">
                        <a:lnSpc>
                          <a:spcPct val="115000"/>
                        </a:lnSpc>
                        <a:spcBef>
                          <a:spcPts val="0"/>
                        </a:spcBef>
                        <a:spcAft>
                          <a:spcPts val="0"/>
                        </a:spcAft>
                        <a:buNone/>
                      </a:pPr>
                      <a:r>
                        <a:rPr b="1" lang="en" sz="800">
                          <a:solidFill>
                            <a:schemeClr val="lt1"/>
                          </a:solidFill>
                        </a:rPr>
                        <a:t>GB Tuned</a:t>
                      </a:r>
                      <a:endParaRPr b="1" sz="800">
                        <a:solidFill>
                          <a:schemeClr val="lt1"/>
                        </a:solidFill>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40000"/>
                    </a:solidFill>
                  </a:tcPr>
                </a:tc>
              </a:tr>
              <a:tr h="190500">
                <a:tc>
                  <a:txBody>
                    <a:bodyPr/>
                    <a:lstStyle/>
                    <a:p>
                      <a:pPr indent="0" lvl="0" marL="0" rtl="0" algn="l">
                        <a:spcBef>
                          <a:spcPts val="0"/>
                        </a:spcBef>
                        <a:spcAft>
                          <a:spcPts val="0"/>
                        </a:spcAft>
                        <a:buNone/>
                      </a:pPr>
                      <a:r>
                        <a:rPr lang="en" sz="800"/>
                        <a:t>Ethnicity: Black/African American</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B531"/>
                    </a:solidFill>
                  </a:tcPr>
                </a:tc>
                <a:tc>
                  <a:txBody>
                    <a:bodyPr/>
                    <a:lstStyle/>
                    <a:p>
                      <a:pPr indent="0" lvl="0" marL="0" rtl="0" algn="l">
                        <a:spcBef>
                          <a:spcPts val="0"/>
                        </a:spcBef>
                        <a:spcAft>
                          <a:spcPts val="0"/>
                        </a:spcAft>
                        <a:buNone/>
                      </a:pPr>
                      <a:r>
                        <a:rPr lang="en" sz="800"/>
                        <a:t>0.018</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B531"/>
                    </a:solidFill>
                  </a:tcPr>
                </a:tc>
                <a:tc>
                  <a:txBody>
                    <a:bodyPr/>
                    <a:lstStyle/>
                    <a:p>
                      <a:pPr indent="0" lvl="0" marL="0" rtl="0" algn="l">
                        <a:spcBef>
                          <a:spcPts val="0"/>
                        </a:spcBef>
                        <a:spcAft>
                          <a:spcPts val="0"/>
                        </a:spcAft>
                        <a:buNone/>
                      </a:pPr>
                      <a:r>
                        <a:rPr lang="en" sz="800"/>
                        <a:t>0.014</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B531"/>
                    </a:solidFill>
                  </a:tcPr>
                </a:tc>
                <a:tc>
                  <a:txBody>
                    <a:bodyPr/>
                    <a:lstStyle/>
                    <a:p>
                      <a:pPr indent="0" lvl="0" marL="0" rtl="0" algn="l">
                        <a:spcBef>
                          <a:spcPts val="0"/>
                        </a:spcBef>
                        <a:spcAft>
                          <a:spcPts val="0"/>
                        </a:spcAft>
                        <a:buNone/>
                      </a:pPr>
                      <a:r>
                        <a:rPr lang="en" sz="800"/>
                        <a:t>0.007</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B531"/>
                    </a:solidFill>
                  </a:tcPr>
                </a:tc>
              </a:tr>
              <a:tr h="190500">
                <a:tc>
                  <a:txBody>
                    <a:bodyPr/>
                    <a:lstStyle/>
                    <a:p>
                      <a:pPr indent="0" lvl="0" marL="0" rtl="0" algn="l">
                        <a:spcBef>
                          <a:spcPts val="0"/>
                        </a:spcBef>
                        <a:spcAft>
                          <a:spcPts val="0"/>
                        </a:spcAft>
                        <a:buNone/>
                      </a:pPr>
                      <a:r>
                        <a:rPr lang="en" sz="800"/>
                        <a:t>Ethnicity: Hispanic/Latino</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B531"/>
                    </a:solidFill>
                  </a:tcPr>
                </a:tc>
                <a:tc>
                  <a:txBody>
                    <a:bodyPr/>
                    <a:lstStyle/>
                    <a:p>
                      <a:pPr indent="0" lvl="0" marL="0" rtl="0" algn="l">
                        <a:spcBef>
                          <a:spcPts val="0"/>
                        </a:spcBef>
                        <a:spcAft>
                          <a:spcPts val="0"/>
                        </a:spcAft>
                        <a:buNone/>
                      </a:pPr>
                      <a:r>
                        <a:rPr lang="en" sz="800"/>
                        <a:t>0.016</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B531"/>
                    </a:solidFill>
                  </a:tcPr>
                </a:tc>
                <a:tc>
                  <a:txBody>
                    <a:bodyPr/>
                    <a:lstStyle/>
                    <a:p>
                      <a:pPr indent="0" lvl="0" marL="0" rtl="0" algn="l">
                        <a:spcBef>
                          <a:spcPts val="0"/>
                        </a:spcBef>
                        <a:spcAft>
                          <a:spcPts val="0"/>
                        </a:spcAft>
                        <a:buNone/>
                      </a:pPr>
                      <a:r>
                        <a:rPr lang="en" sz="800"/>
                        <a:t>–</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B531"/>
                    </a:solidFill>
                  </a:tcPr>
                </a:tc>
                <a:tc>
                  <a:txBody>
                    <a:bodyPr/>
                    <a:lstStyle/>
                    <a:p>
                      <a:pPr indent="0" lvl="0" marL="0" rtl="0" algn="l">
                        <a:spcBef>
                          <a:spcPts val="0"/>
                        </a:spcBef>
                        <a:spcAft>
                          <a:spcPts val="0"/>
                        </a:spcAft>
                        <a:buNone/>
                      </a:pPr>
                      <a:r>
                        <a:rPr lang="en" sz="800"/>
                        <a:t>–</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B531"/>
                    </a:solidFill>
                  </a:tcPr>
                </a:tc>
              </a:tr>
              <a:tr h="190500">
                <a:tc>
                  <a:txBody>
                    <a:bodyPr/>
                    <a:lstStyle/>
                    <a:p>
                      <a:pPr indent="0" lvl="0" marL="0" rtl="0" algn="l">
                        <a:spcBef>
                          <a:spcPts val="0"/>
                        </a:spcBef>
                        <a:spcAft>
                          <a:spcPts val="0"/>
                        </a:spcAft>
                        <a:buNone/>
                      </a:pPr>
                      <a:r>
                        <a:rPr lang="en" sz="800"/>
                        <a:t>Residency: Out of State</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B531"/>
                    </a:solidFill>
                  </a:tcPr>
                </a:tc>
                <a:tc>
                  <a:txBody>
                    <a:bodyPr/>
                    <a:lstStyle/>
                    <a:p>
                      <a:pPr indent="0" lvl="0" marL="0" rtl="0" algn="l">
                        <a:spcBef>
                          <a:spcPts val="0"/>
                        </a:spcBef>
                        <a:spcAft>
                          <a:spcPts val="0"/>
                        </a:spcAft>
                        <a:buNone/>
                      </a:pPr>
                      <a:r>
                        <a:rPr lang="en" sz="800"/>
                        <a:t>0.016</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B531"/>
                    </a:solidFill>
                  </a:tcPr>
                </a:tc>
                <a:tc>
                  <a:txBody>
                    <a:bodyPr/>
                    <a:lstStyle/>
                    <a:p>
                      <a:pPr indent="0" lvl="0" marL="0" rtl="0" algn="l">
                        <a:spcBef>
                          <a:spcPts val="0"/>
                        </a:spcBef>
                        <a:spcAft>
                          <a:spcPts val="0"/>
                        </a:spcAft>
                        <a:buNone/>
                      </a:pPr>
                      <a:r>
                        <a:rPr lang="en" sz="800"/>
                        <a:t>–</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B531"/>
                    </a:solidFill>
                  </a:tcPr>
                </a:tc>
                <a:tc>
                  <a:txBody>
                    <a:bodyPr/>
                    <a:lstStyle/>
                    <a:p>
                      <a:pPr indent="0" lvl="0" marL="0" rtl="0" algn="l">
                        <a:spcBef>
                          <a:spcPts val="0"/>
                        </a:spcBef>
                        <a:spcAft>
                          <a:spcPts val="0"/>
                        </a:spcAft>
                        <a:buNone/>
                      </a:pPr>
                      <a:r>
                        <a:rPr lang="en" sz="800"/>
                        <a:t>0.006</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B531"/>
                    </a:solidFill>
                  </a:tcPr>
                </a:tc>
              </a:tr>
              <a:tr h="190500">
                <a:tc>
                  <a:txBody>
                    <a:bodyPr/>
                    <a:lstStyle/>
                    <a:p>
                      <a:pPr indent="0" lvl="0" marL="0" rtl="0" algn="l">
                        <a:spcBef>
                          <a:spcPts val="0"/>
                        </a:spcBef>
                        <a:spcAft>
                          <a:spcPts val="0"/>
                        </a:spcAft>
                        <a:buNone/>
                      </a:pPr>
                      <a:r>
                        <a:rPr lang="en" sz="800"/>
                        <a:t>Status: New Transfer</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B531"/>
                    </a:solidFill>
                  </a:tcPr>
                </a:tc>
                <a:tc>
                  <a:txBody>
                    <a:bodyPr/>
                    <a:lstStyle/>
                    <a:p>
                      <a:pPr indent="0" lvl="0" marL="0" rtl="0" algn="l">
                        <a:spcBef>
                          <a:spcPts val="0"/>
                        </a:spcBef>
                        <a:spcAft>
                          <a:spcPts val="0"/>
                        </a:spcAft>
                        <a:buNone/>
                      </a:pPr>
                      <a:r>
                        <a:rPr lang="en" sz="800"/>
                        <a:t>0.053</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B531"/>
                    </a:solidFill>
                  </a:tcPr>
                </a:tc>
                <a:tc>
                  <a:txBody>
                    <a:bodyPr/>
                    <a:lstStyle/>
                    <a:p>
                      <a:pPr indent="0" lvl="0" marL="0" rtl="0" algn="l">
                        <a:spcBef>
                          <a:spcPts val="0"/>
                        </a:spcBef>
                        <a:spcAft>
                          <a:spcPts val="0"/>
                        </a:spcAft>
                        <a:buNone/>
                      </a:pPr>
                      <a:r>
                        <a:rPr lang="en" sz="800"/>
                        <a:t>0.062</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B531"/>
                    </a:solidFill>
                  </a:tcPr>
                </a:tc>
                <a:tc>
                  <a:txBody>
                    <a:bodyPr/>
                    <a:lstStyle/>
                    <a:p>
                      <a:pPr indent="0" lvl="0" marL="0" rtl="0" algn="l">
                        <a:spcBef>
                          <a:spcPts val="0"/>
                        </a:spcBef>
                        <a:spcAft>
                          <a:spcPts val="0"/>
                        </a:spcAft>
                        <a:buNone/>
                      </a:pPr>
                      <a:r>
                        <a:rPr lang="en" sz="800"/>
                        <a:t>0.043</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B531"/>
                    </a:solidFill>
                  </a:tcPr>
                </a:tc>
              </a:tr>
              <a:tr h="190500">
                <a:tc>
                  <a:txBody>
                    <a:bodyPr/>
                    <a:lstStyle/>
                    <a:p>
                      <a:pPr indent="0" lvl="0" marL="0" rtl="0" algn="l">
                        <a:spcBef>
                          <a:spcPts val="0"/>
                        </a:spcBef>
                        <a:spcAft>
                          <a:spcPts val="0"/>
                        </a:spcAft>
                        <a:buNone/>
                      </a:pPr>
                      <a:r>
                        <a:rPr lang="en" sz="800"/>
                        <a:t>SATMathScore</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B531"/>
                    </a:solidFill>
                  </a:tcPr>
                </a:tc>
                <a:tc>
                  <a:txBody>
                    <a:bodyPr/>
                    <a:lstStyle/>
                    <a:p>
                      <a:pPr indent="0" lvl="0" marL="0" rtl="0" algn="l">
                        <a:spcBef>
                          <a:spcPts val="0"/>
                        </a:spcBef>
                        <a:spcAft>
                          <a:spcPts val="0"/>
                        </a:spcAft>
                        <a:buNone/>
                      </a:pPr>
                      <a:r>
                        <a:rPr lang="en" sz="800"/>
                        <a:t>0.018</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B531"/>
                    </a:solidFill>
                  </a:tcPr>
                </a:tc>
                <a:tc>
                  <a:txBody>
                    <a:bodyPr/>
                    <a:lstStyle/>
                    <a:p>
                      <a:pPr indent="0" lvl="0" marL="0" rtl="0" algn="l">
                        <a:spcBef>
                          <a:spcPts val="0"/>
                        </a:spcBef>
                        <a:spcAft>
                          <a:spcPts val="0"/>
                        </a:spcAft>
                        <a:buNone/>
                      </a:pPr>
                      <a:r>
                        <a:rPr lang="en" sz="800"/>
                        <a:t>0.019</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B531"/>
                    </a:solidFill>
                  </a:tcPr>
                </a:tc>
                <a:tc>
                  <a:txBody>
                    <a:bodyPr/>
                    <a:lstStyle/>
                    <a:p>
                      <a:pPr indent="0" lvl="0" marL="0" rtl="0" algn="l">
                        <a:spcBef>
                          <a:spcPts val="0"/>
                        </a:spcBef>
                        <a:spcAft>
                          <a:spcPts val="0"/>
                        </a:spcAft>
                        <a:buNone/>
                      </a:pPr>
                      <a:r>
                        <a:rPr lang="en" sz="800"/>
                        <a:t>0.033</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B531"/>
                    </a:solidFill>
                  </a:tcPr>
                </a:tc>
              </a:tr>
              <a:tr h="190500">
                <a:tc>
                  <a:txBody>
                    <a:bodyPr/>
                    <a:lstStyle/>
                    <a:p>
                      <a:pPr indent="0" lvl="0" marL="0" rtl="0" algn="l">
                        <a:spcBef>
                          <a:spcPts val="0"/>
                        </a:spcBef>
                        <a:spcAft>
                          <a:spcPts val="0"/>
                        </a:spcAft>
                        <a:buNone/>
                      </a:pPr>
                      <a:r>
                        <a:rPr lang="en" sz="800"/>
                        <a:t>SATReadingWriting</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B531"/>
                    </a:solidFill>
                  </a:tcPr>
                </a:tc>
                <a:tc>
                  <a:txBody>
                    <a:bodyPr/>
                    <a:lstStyle/>
                    <a:p>
                      <a:pPr indent="0" lvl="0" marL="0" rtl="0" algn="l">
                        <a:spcBef>
                          <a:spcPts val="0"/>
                        </a:spcBef>
                        <a:spcAft>
                          <a:spcPts val="0"/>
                        </a:spcAft>
                        <a:buNone/>
                      </a:pPr>
                      <a:r>
                        <a:rPr lang="en" sz="800"/>
                        <a:t>0.021</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B531"/>
                    </a:solidFill>
                  </a:tcPr>
                </a:tc>
                <a:tc>
                  <a:txBody>
                    <a:bodyPr/>
                    <a:lstStyle/>
                    <a:p>
                      <a:pPr indent="0" lvl="0" marL="0" rtl="0" algn="l">
                        <a:spcBef>
                          <a:spcPts val="0"/>
                        </a:spcBef>
                        <a:spcAft>
                          <a:spcPts val="0"/>
                        </a:spcAft>
                        <a:buNone/>
                      </a:pPr>
                      <a:r>
                        <a:rPr lang="en" sz="800"/>
                        <a:t>0.021</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B531"/>
                    </a:solidFill>
                  </a:tcPr>
                </a:tc>
                <a:tc>
                  <a:txBody>
                    <a:bodyPr/>
                    <a:lstStyle/>
                    <a:p>
                      <a:pPr indent="0" lvl="0" marL="0" rtl="0" algn="l">
                        <a:spcBef>
                          <a:spcPts val="0"/>
                        </a:spcBef>
                        <a:spcAft>
                          <a:spcPts val="0"/>
                        </a:spcAft>
                        <a:buNone/>
                      </a:pPr>
                      <a:r>
                        <a:rPr lang="en" sz="800"/>
                        <a:t>0.051</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B531"/>
                    </a:solidFill>
                  </a:tcPr>
                </a:tc>
              </a:tr>
              <a:tr h="190500">
                <a:tc>
                  <a:txBody>
                    <a:bodyPr/>
                    <a:lstStyle/>
                    <a:p>
                      <a:pPr indent="0" lvl="0" marL="0" rtl="0" algn="l">
                        <a:spcBef>
                          <a:spcPts val="0"/>
                        </a:spcBef>
                        <a:spcAft>
                          <a:spcPts val="0"/>
                        </a:spcAft>
                        <a:buNone/>
                      </a:pPr>
                      <a:r>
                        <a:rPr lang="en" sz="800"/>
                        <a:t>Sem1_FTPT_PT</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B531"/>
                    </a:solidFill>
                  </a:tcPr>
                </a:tc>
                <a:tc>
                  <a:txBody>
                    <a:bodyPr/>
                    <a:lstStyle/>
                    <a:p>
                      <a:pPr indent="0" lvl="0" marL="0" rtl="0" algn="l">
                        <a:spcBef>
                          <a:spcPts val="0"/>
                        </a:spcBef>
                        <a:spcAft>
                          <a:spcPts val="0"/>
                        </a:spcAft>
                        <a:buNone/>
                      </a:pPr>
                      <a:r>
                        <a:rPr lang="en" sz="800"/>
                        <a:t>0.025</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B531"/>
                    </a:solidFill>
                  </a:tcPr>
                </a:tc>
                <a:tc>
                  <a:txBody>
                    <a:bodyPr/>
                    <a:lstStyle/>
                    <a:p>
                      <a:pPr indent="0" lvl="0" marL="0" rtl="0" algn="l">
                        <a:spcBef>
                          <a:spcPts val="0"/>
                        </a:spcBef>
                        <a:spcAft>
                          <a:spcPts val="0"/>
                        </a:spcAft>
                        <a:buNone/>
                      </a:pPr>
                      <a:r>
                        <a:rPr lang="en" sz="800"/>
                        <a:t>0.021</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B531"/>
                    </a:solidFill>
                  </a:tcPr>
                </a:tc>
                <a:tc>
                  <a:txBody>
                    <a:bodyPr/>
                    <a:lstStyle/>
                    <a:p>
                      <a:pPr indent="0" lvl="0" marL="0" rtl="0" algn="l">
                        <a:spcBef>
                          <a:spcPts val="0"/>
                        </a:spcBef>
                        <a:spcAft>
                          <a:spcPts val="0"/>
                        </a:spcAft>
                        <a:buNone/>
                      </a:pPr>
                      <a:r>
                        <a:rPr lang="en" sz="800"/>
                        <a:t>0.013</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B531"/>
                    </a:solidFill>
                  </a:tcPr>
                </a:tc>
              </a:tr>
              <a:tr h="190500">
                <a:tc>
                  <a:txBody>
                    <a:bodyPr/>
                    <a:lstStyle/>
                    <a:p>
                      <a:pPr indent="0" lvl="0" marL="0" rtl="0" algn="l">
                        <a:spcBef>
                          <a:spcPts val="0"/>
                        </a:spcBef>
                        <a:spcAft>
                          <a:spcPts val="0"/>
                        </a:spcAft>
                        <a:buNone/>
                      </a:pPr>
                      <a:r>
                        <a:rPr lang="en" sz="800"/>
                        <a:t>SupportBin 15K–20K</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B531"/>
                    </a:solidFill>
                  </a:tcPr>
                </a:tc>
                <a:tc>
                  <a:txBody>
                    <a:bodyPr/>
                    <a:lstStyle/>
                    <a:p>
                      <a:pPr indent="0" lvl="0" marL="0" rtl="0" algn="l">
                        <a:spcBef>
                          <a:spcPts val="0"/>
                        </a:spcBef>
                        <a:spcAft>
                          <a:spcPts val="0"/>
                        </a:spcAft>
                        <a:buNone/>
                      </a:pPr>
                      <a:r>
                        <a:rPr lang="en" sz="800"/>
                        <a:t>–</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B531"/>
                    </a:solidFill>
                  </a:tcPr>
                </a:tc>
                <a:tc>
                  <a:txBody>
                    <a:bodyPr/>
                    <a:lstStyle/>
                    <a:p>
                      <a:pPr indent="0" lvl="0" marL="0" rtl="0" algn="l">
                        <a:spcBef>
                          <a:spcPts val="0"/>
                        </a:spcBef>
                        <a:spcAft>
                          <a:spcPts val="0"/>
                        </a:spcAft>
                        <a:buNone/>
                      </a:pPr>
                      <a:r>
                        <a:rPr lang="en" sz="800"/>
                        <a:t>0.019</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B531"/>
                    </a:solidFill>
                  </a:tcPr>
                </a:tc>
                <a:tc>
                  <a:txBody>
                    <a:bodyPr/>
                    <a:lstStyle/>
                    <a:p>
                      <a:pPr indent="0" lvl="0" marL="0" rtl="0" algn="l">
                        <a:spcBef>
                          <a:spcPts val="0"/>
                        </a:spcBef>
                        <a:spcAft>
                          <a:spcPts val="0"/>
                        </a:spcAft>
                        <a:buNone/>
                      </a:pPr>
                      <a:r>
                        <a:rPr lang="en" sz="800"/>
                        <a:t>–</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B531"/>
                    </a:solidFill>
                  </a:tcPr>
                </a:tc>
              </a:tr>
              <a:tr h="190500">
                <a:tc>
                  <a:txBody>
                    <a:bodyPr/>
                    <a:lstStyle/>
                    <a:p>
                      <a:pPr indent="0" lvl="0" marL="0" rtl="0" algn="l">
                        <a:spcBef>
                          <a:spcPts val="0"/>
                        </a:spcBef>
                        <a:spcAft>
                          <a:spcPts val="0"/>
                        </a:spcAft>
                        <a:buNone/>
                      </a:pPr>
                      <a:r>
                        <a:rPr lang="en" sz="800"/>
                        <a:t>SupportBin 5K–10K</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B531"/>
                    </a:solidFill>
                  </a:tcPr>
                </a:tc>
                <a:tc>
                  <a:txBody>
                    <a:bodyPr/>
                    <a:lstStyle/>
                    <a:p>
                      <a:pPr indent="0" lvl="0" marL="0" rtl="0" algn="l">
                        <a:spcBef>
                          <a:spcPts val="0"/>
                        </a:spcBef>
                        <a:spcAft>
                          <a:spcPts val="0"/>
                        </a:spcAft>
                        <a:buNone/>
                      </a:pPr>
                      <a:r>
                        <a:rPr lang="en" sz="800"/>
                        <a:t>0.029</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B531"/>
                    </a:solidFill>
                  </a:tcPr>
                </a:tc>
                <a:tc>
                  <a:txBody>
                    <a:bodyPr/>
                    <a:lstStyle/>
                    <a:p>
                      <a:pPr indent="0" lvl="0" marL="0" rtl="0" algn="l">
                        <a:spcBef>
                          <a:spcPts val="0"/>
                        </a:spcBef>
                        <a:spcAft>
                          <a:spcPts val="0"/>
                        </a:spcAft>
                        <a:buNone/>
                      </a:pPr>
                      <a:r>
                        <a:rPr lang="en" sz="800"/>
                        <a:t>0.027</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B531"/>
                    </a:solidFill>
                  </a:tcPr>
                </a:tc>
                <a:tc>
                  <a:txBody>
                    <a:bodyPr/>
                    <a:lstStyle/>
                    <a:p>
                      <a:pPr indent="0" lvl="0" marL="0" rtl="0" algn="l">
                        <a:spcBef>
                          <a:spcPts val="0"/>
                        </a:spcBef>
                        <a:spcAft>
                          <a:spcPts val="0"/>
                        </a:spcAft>
                        <a:buNone/>
                      </a:pPr>
                      <a:r>
                        <a:rPr lang="en" sz="800"/>
                        <a:t>–</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B531"/>
                    </a:solidFill>
                  </a:tcPr>
                </a:tc>
              </a:tr>
              <a:tr h="190500">
                <a:tc>
                  <a:txBody>
                    <a:bodyPr/>
                    <a:lstStyle/>
                    <a:p>
                      <a:pPr indent="0" lvl="0" marL="0" rtl="0" algn="l">
                        <a:spcBef>
                          <a:spcPts val="0"/>
                        </a:spcBef>
                        <a:spcAft>
                          <a:spcPts val="0"/>
                        </a:spcAft>
                        <a:buNone/>
                      </a:pPr>
                      <a:r>
                        <a:rPr lang="en" sz="800"/>
                        <a:t>SupportBin &lt;5K</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B531"/>
                    </a:solidFill>
                  </a:tcPr>
                </a:tc>
                <a:tc>
                  <a:txBody>
                    <a:bodyPr/>
                    <a:lstStyle/>
                    <a:p>
                      <a:pPr indent="0" lvl="0" marL="0" rtl="0" algn="l">
                        <a:spcBef>
                          <a:spcPts val="0"/>
                        </a:spcBef>
                        <a:spcAft>
                          <a:spcPts val="0"/>
                        </a:spcAft>
                        <a:buNone/>
                      </a:pPr>
                      <a:r>
                        <a:rPr lang="en" sz="800"/>
                        <a:t>0.042</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B531"/>
                    </a:solidFill>
                  </a:tcPr>
                </a:tc>
                <a:tc>
                  <a:txBody>
                    <a:bodyPr/>
                    <a:lstStyle/>
                    <a:p>
                      <a:pPr indent="0" lvl="0" marL="0" rtl="0" algn="l">
                        <a:spcBef>
                          <a:spcPts val="0"/>
                        </a:spcBef>
                        <a:spcAft>
                          <a:spcPts val="0"/>
                        </a:spcAft>
                        <a:buNone/>
                      </a:pPr>
                      <a:r>
                        <a:rPr lang="en" sz="800"/>
                        <a:t>0.034</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B531"/>
                    </a:solidFill>
                  </a:tcPr>
                </a:tc>
                <a:tc>
                  <a:txBody>
                    <a:bodyPr/>
                    <a:lstStyle/>
                    <a:p>
                      <a:pPr indent="0" lvl="0" marL="0" rtl="0" algn="l">
                        <a:spcBef>
                          <a:spcPts val="0"/>
                        </a:spcBef>
                        <a:spcAft>
                          <a:spcPts val="0"/>
                        </a:spcAft>
                        <a:buNone/>
                      </a:pPr>
                      <a:r>
                        <a:rPr lang="en" sz="800"/>
                        <a:t>0.014</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B531"/>
                    </a:solidFill>
                  </a:tcPr>
                </a:tc>
              </a:tr>
              <a:tr h="190500">
                <a:tc>
                  <a:txBody>
                    <a:bodyPr/>
                    <a:lstStyle/>
                    <a:p>
                      <a:pPr indent="0" lvl="0" marL="0" rtl="0" algn="l">
                        <a:spcBef>
                          <a:spcPts val="0"/>
                        </a:spcBef>
                        <a:spcAft>
                          <a:spcPts val="0"/>
                        </a:spcAft>
                        <a:buNone/>
                      </a:pPr>
                      <a:r>
                        <a:rPr lang="en" sz="800"/>
                        <a:t>SupportBin &gt;20K</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B531"/>
                    </a:solidFill>
                  </a:tcPr>
                </a:tc>
                <a:tc>
                  <a:txBody>
                    <a:bodyPr/>
                    <a:lstStyle/>
                    <a:p>
                      <a:pPr indent="0" lvl="0" marL="0" rtl="0" algn="l">
                        <a:spcBef>
                          <a:spcPts val="0"/>
                        </a:spcBef>
                        <a:spcAft>
                          <a:spcPts val="0"/>
                        </a:spcAft>
                        <a:buNone/>
                      </a:pPr>
                      <a:r>
                        <a:rPr lang="en" sz="800"/>
                        <a:t>0.061</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B531"/>
                    </a:solidFill>
                  </a:tcPr>
                </a:tc>
                <a:tc>
                  <a:txBody>
                    <a:bodyPr/>
                    <a:lstStyle/>
                    <a:p>
                      <a:pPr indent="0" lvl="0" marL="0" rtl="0" algn="l">
                        <a:spcBef>
                          <a:spcPts val="0"/>
                        </a:spcBef>
                        <a:spcAft>
                          <a:spcPts val="0"/>
                        </a:spcAft>
                        <a:buNone/>
                      </a:pPr>
                      <a:r>
                        <a:rPr lang="en" sz="800"/>
                        <a:t>0.099</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B531"/>
                    </a:solidFill>
                  </a:tcPr>
                </a:tc>
                <a:tc>
                  <a:txBody>
                    <a:bodyPr/>
                    <a:lstStyle/>
                    <a:p>
                      <a:pPr indent="0" lvl="0" marL="0" rtl="0" algn="l">
                        <a:spcBef>
                          <a:spcPts val="0"/>
                        </a:spcBef>
                        <a:spcAft>
                          <a:spcPts val="0"/>
                        </a:spcAft>
                        <a:buNone/>
                      </a:pPr>
                      <a:r>
                        <a:rPr lang="en" sz="800"/>
                        <a:t>–</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B531"/>
                    </a:solidFill>
                  </a:tcPr>
                </a:tc>
              </a:tr>
              <a:tr h="190500">
                <a:tc>
                  <a:txBody>
                    <a:bodyPr/>
                    <a:lstStyle/>
                    <a:p>
                      <a:pPr indent="0" lvl="0" marL="0" rtl="0" algn="l">
                        <a:spcBef>
                          <a:spcPts val="0"/>
                        </a:spcBef>
                        <a:spcAft>
                          <a:spcPts val="0"/>
                        </a:spcAft>
                        <a:buNone/>
                      </a:pPr>
                      <a:r>
                        <a:rPr lang="en" sz="800"/>
                        <a:t>Supported Yes</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B531"/>
                    </a:solidFill>
                  </a:tcPr>
                </a:tc>
                <a:tc>
                  <a:txBody>
                    <a:bodyPr/>
                    <a:lstStyle/>
                    <a:p>
                      <a:pPr indent="0" lvl="0" marL="0" rtl="0" algn="l">
                        <a:spcBef>
                          <a:spcPts val="0"/>
                        </a:spcBef>
                        <a:spcAft>
                          <a:spcPts val="0"/>
                        </a:spcAft>
                        <a:buNone/>
                      </a:pPr>
                      <a:r>
                        <a:rPr lang="en" sz="800"/>
                        <a:t>0.018</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B531"/>
                    </a:solidFill>
                  </a:tcPr>
                </a:tc>
                <a:tc>
                  <a:txBody>
                    <a:bodyPr/>
                    <a:lstStyle/>
                    <a:p>
                      <a:pPr indent="0" lvl="0" marL="0" rtl="0" algn="l">
                        <a:spcBef>
                          <a:spcPts val="0"/>
                        </a:spcBef>
                        <a:spcAft>
                          <a:spcPts val="0"/>
                        </a:spcAft>
                        <a:buNone/>
                      </a:pPr>
                      <a:r>
                        <a:rPr lang="en" sz="800"/>
                        <a:t>0.017</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B531"/>
                    </a:solidFill>
                  </a:tcPr>
                </a:tc>
                <a:tc>
                  <a:txBody>
                    <a:bodyPr/>
                    <a:lstStyle/>
                    <a:p>
                      <a:pPr indent="0" lvl="0" marL="0" rtl="0" algn="l">
                        <a:spcBef>
                          <a:spcPts val="0"/>
                        </a:spcBef>
                        <a:spcAft>
                          <a:spcPts val="0"/>
                        </a:spcAft>
                        <a:buNone/>
                      </a:pPr>
                      <a:r>
                        <a:rPr lang="en" sz="800"/>
                        <a:t>–</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B531"/>
                    </a:solidFill>
                  </a:tcPr>
                </a:tc>
              </a:tr>
              <a:tr h="190500">
                <a:tc>
                  <a:txBody>
                    <a:bodyPr/>
                    <a:lstStyle/>
                    <a:p>
                      <a:pPr indent="0" lvl="0" marL="0" rtl="0" algn="l">
                        <a:spcBef>
                          <a:spcPts val="0"/>
                        </a:spcBef>
                        <a:spcAft>
                          <a:spcPts val="0"/>
                        </a:spcAft>
                        <a:buNone/>
                      </a:pPr>
                      <a:r>
                        <a:rPr lang="en" sz="800"/>
                        <a:t>TotalSupport</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B531"/>
                    </a:solidFill>
                  </a:tcPr>
                </a:tc>
                <a:tc>
                  <a:txBody>
                    <a:bodyPr/>
                    <a:lstStyle/>
                    <a:p>
                      <a:pPr indent="0" lvl="0" marL="0" rtl="0" algn="l">
                        <a:spcBef>
                          <a:spcPts val="0"/>
                        </a:spcBef>
                        <a:spcAft>
                          <a:spcPts val="0"/>
                        </a:spcAft>
                        <a:buNone/>
                      </a:pPr>
                      <a:r>
                        <a:rPr lang="en" sz="800"/>
                        <a:t>0.030</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B531"/>
                    </a:solidFill>
                  </a:tcPr>
                </a:tc>
                <a:tc>
                  <a:txBody>
                    <a:bodyPr/>
                    <a:lstStyle/>
                    <a:p>
                      <a:pPr indent="0" lvl="0" marL="0" rtl="0" algn="l">
                        <a:spcBef>
                          <a:spcPts val="0"/>
                        </a:spcBef>
                        <a:spcAft>
                          <a:spcPts val="0"/>
                        </a:spcAft>
                        <a:buNone/>
                      </a:pPr>
                      <a:r>
                        <a:rPr lang="en" sz="800"/>
                        <a:t>0.026</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B531"/>
                    </a:solidFill>
                  </a:tcPr>
                </a:tc>
                <a:tc>
                  <a:txBody>
                    <a:bodyPr/>
                    <a:lstStyle/>
                    <a:p>
                      <a:pPr indent="0" lvl="0" marL="0" rtl="0" algn="l">
                        <a:spcBef>
                          <a:spcPts val="0"/>
                        </a:spcBef>
                        <a:spcAft>
                          <a:spcPts val="0"/>
                        </a:spcAft>
                        <a:buNone/>
                      </a:pPr>
                      <a:r>
                        <a:rPr lang="en" sz="800"/>
                        <a:t>0.235</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B531"/>
                    </a:solidFill>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sp>
        <p:nvSpPr>
          <p:cNvPr id="225" name="Google Shape;225;p35"/>
          <p:cNvSpPr txBox="1"/>
          <p:nvPr>
            <p:ph type="title"/>
          </p:nvPr>
        </p:nvSpPr>
        <p:spPr>
          <a:xfrm>
            <a:off x="457200" y="702644"/>
            <a:ext cx="8229600" cy="644100"/>
          </a:xfrm>
          <a:prstGeom prst="rect">
            <a:avLst/>
          </a:prstGeom>
        </p:spPr>
        <p:txBody>
          <a:bodyPr anchorCtr="0" anchor="ctr" bIns="45700" lIns="91425" spcFirstLastPara="1" rIns="91425" wrap="square" tIns="45700">
            <a:normAutofit fontScale="90000"/>
          </a:bodyPr>
          <a:lstStyle/>
          <a:p>
            <a:pPr indent="0" lvl="0" marL="0" rtl="0" algn="ctr">
              <a:spcBef>
                <a:spcPts val="0"/>
              </a:spcBef>
              <a:spcAft>
                <a:spcPts val="0"/>
              </a:spcAft>
              <a:buNone/>
            </a:pPr>
            <a:r>
              <a:rPr lang="en"/>
              <a:t>Feature Importance</a:t>
            </a:r>
            <a:endParaRPr/>
          </a:p>
        </p:txBody>
      </p:sp>
      <p:sp>
        <p:nvSpPr>
          <p:cNvPr id="226" name="Google Shape;226;p35"/>
          <p:cNvSpPr txBox="1"/>
          <p:nvPr>
            <p:ph idx="1" type="body"/>
          </p:nvPr>
        </p:nvSpPr>
        <p:spPr>
          <a:xfrm>
            <a:off x="457200" y="1610179"/>
            <a:ext cx="8229600" cy="2984400"/>
          </a:xfrm>
          <a:prstGeom prst="rect">
            <a:avLst/>
          </a:prstGeom>
        </p:spPr>
        <p:txBody>
          <a:bodyPr anchorCtr="0" anchor="t" bIns="45700" lIns="91425" spcFirstLastPara="1" rIns="91425" wrap="square" tIns="45700">
            <a:normAutofit lnSpcReduction="20000"/>
          </a:bodyPr>
          <a:lstStyle/>
          <a:p>
            <a:pPr indent="-298450" lvl="0" marL="457200" rtl="0" algn="l">
              <a:spcBef>
                <a:spcPts val="360"/>
              </a:spcBef>
              <a:spcAft>
                <a:spcPts val="0"/>
              </a:spcAft>
              <a:buSzPts val="1100"/>
              <a:buFont typeface="Arial"/>
              <a:buChar char="•"/>
            </a:pPr>
            <a:r>
              <a:rPr lang="en" sz="1100">
                <a:latin typeface="Arial"/>
                <a:ea typeface="Arial"/>
                <a:cs typeface="Arial"/>
                <a:sym typeface="Arial"/>
              </a:rPr>
              <a:t>All three models identify the same core drivers of graduation. Placement test performance especially </a:t>
            </a:r>
            <a:r>
              <a:rPr b="1" lang="en" sz="1100">
                <a:latin typeface="Arial"/>
                <a:ea typeface="Arial"/>
                <a:cs typeface="Arial"/>
                <a:sym typeface="Arial"/>
              </a:rPr>
              <a:t>EngSCORE</a:t>
            </a:r>
            <a:r>
              <a:rPr lang="en" sz="1100">
                <a:latin typeface="Arial"/>
                <a:ea typeface="Arial"/>
                <a:cs typeface="Arial"/>
                <a:sym typeface="Arial"/>
              </a:rPr>
              <a:t>, followed by </a:t>
            </a:r>
            <a:r>
              <a:rPr b="1" lang="en" sz="1100">
                <a:latin typeface="Arial"/>
                <a:ea typeface="Arial"/>
                <a:cs typeface="Arial"/>
                <a:sym typeface="Arial"/>
              </a:rPr>
              <a:t>ALEKS</a:t>
            </a:r>
            <a:r>
              <a:rPr lang="en" sz="1100">
                <a:latin typeface="Arial"/>
                <a:ea typeface="Arial"/>
                <a:cs typeface="Arial"/>
                <a:sym typeface="Arial"/>
              </a:rPr>
              <a:t>, </a:t>
            </a:r>
            <a:r>
              <a:rPr b="1" lang="en" sz="1100">
                <a:latin typeface="Arial"/>
                <a:ea typeface="Arial"/>
                <a:cs typeface="Arial"/>
                <a:sym typeface="Arial"/>
              </a:rPr>
              <a:t>SAT Reading/Writing</a:t>
            </a:r>
            <a:r>
              <a:rPr lang="en" sz="1100">
                <a:latin typeface="Arial"/>
                <a:ea typeface="Arial"/>
                <a:cs typeface="Arial"/>
                <a:sym typeface="Arial"/>
              </a:rPr>
              <a:t>, and </a:t>
            </a:r>
            <a:r>
              <a:rPr b="1" lang="en" sz="1100">
                <a:latin typeface="Arial"/>
                <a:ea typeface="Arial"/>
                <a:cs typeface="Arial"/>
                <a:sym typeface="Arial"/>
              </a:rPr>
              <a:t>SAT Math</a:t>
            </a:r>
            <a:r>
              <a:rPr lang="en" sz="1100">
                <a:latin typeface="Arial"/>
                <a:ea typeface="Arial"/>
                <a:cs typeface="Arial"/>
                <a:sym typeface="Arial"/>
              </a:rPr>
              <a:t> shows the strongest and most stable relationship with student success.</a:t>
            </a:r>
            <a:br>
              <a:rPr lang="en" sz="1100">
                <a:latin typeface="Arial"/>
                <a:ea typeface="Arial"/>
                <a:cs typeface="Arial"/>
                <a:sym typeface="Arial"/>
              </a:rPr>
            </a:br>
            <a:endParaRPr sz="1100">
              <a:latin typeface="Arial"/>
              <a:ea typeface="Arial"/>
              <a:cs typeface="Arial"/>
              <a:sym typeface="Arial"/>
            </a:endParaRPr>
          </a:p>
          <a:p>
            <a:pPr indent="-298450" lvl="0" marL="457200" rtl="0" algn="l">
              <a:spcBef>
                <a:spcPts val="0"/>
              </a:spcBef>
              <a:spcAft>
                <a:spcPts val="0"/>
              </a:spcAft>
              <a:buSzPts val="1100"/>
              <a:buFont typeface="Arial"/>
              <a:buChar char="•"/>
            </a:pPr>
            <a:r>
              <a:rPr lang="en" sz="1100">
                <a:latin typeface="Arial"/>
                <a:ea typeface="Arial"/>
                <a:cs typeface="Arial"/>
                <a:sym typeface="Arial"/>
              </a:rPr>
              <a:t>Financial support emerges as one of the most influential predictors. Students receiving </a:t>
            </a:r>
            <a:r>
              <a:rPr b="1" lang="en" sz="1100">
                <a:latin typeface="Arial"/>
                <a:ea typeface="Arial"/>
                <a:cs typeface="Arial"/>
                <a:sym typeface="Arial"/>
              </a:rPr>
              <a:t>more than $20,000</a:t>
            </a:r>
            <a:r>
              <a:rPr lang="en" sz="1100">
                <a:latin typeface="Arial"/>
                <a:ea typeface="Arial"/>
                <a:cs typeface="Arial"/>
                <a:sym typeface="Arial"/>
              </a:rPr>
              <a:t> in institutional aid consistently show higher persistence, confirming that </a:t>
            </a:r>
            <a:r>
              <a:rPr b="1" lang="en" sz="1100">
                <a:latin typeface="Arial"/>
                <a:ea typeface="Arial"/>
                <a:cs typeface="Arial"/>
                <a:sym typeface="Arial"/>
              </a:rPr>
              <a:t>SupportBin_&gt;20K</a:t>
            </a:r>
            <a:r>
              <a:rPr lang="en" sz="1100">
                <a:latin typeface="Arial"/>
                <a:ea typeface="Arial"/>
                <a:cs typeface="Arial"/>
                <a:sym typeface="Arial"/>
              </a:rPr>
              <a:t> and </a:t>
            </a:r>
            <a:r>
              <a:rPr b="1" lang="en" sz="1100">
                <a:latin typeface="Arial"/>
                <a:ea typeface="Arial"/>
                <a:cs typeface="Arial"/>
                <a:sym typeface="Arial"/>
              </a:rPr>
              <a:t>TotalSupport</a:t>
            </a:r>
            <a:r>
              <a:rPr lang="en" sz="1100">
                <a:latin typeface="Arial"/>
                <a:ea typeface="Arial"/>
                <a:cs typeface="Arial"/>
                <a:sym typeface="Arial"/>
              </a:rPr>
              <a:t> heavily contribute to model predictions.</a:t>
            </a:r>
            <a:br>
              <a:rPr lang="en" sz="1100">
                <a:latin typeface="Arial"/>
                <a:ea typeface="Arial"/>
                <a:cs typeface="Arial"/>
                <a:sym typeface="Arial"/>
              </a:rPr>
            </a:br>
            <a:endParaRPr sz="1100">
              <a:latin typeface="Arial"/>
              <a:ea typeface="Arial"/>
              <a:cs typeface="Arial"/>
              <a:sym typeface="Arial"/>
            </a:endParaRPr>
          </a:p>
          <a:p>
            <a:pPr indent="-298450" lvl="0" marL="457200" rtl="0" algn="l">
              <a:spcBef>
                <a:spcPts val="0"/>
              </a:spcBef>
              <a:spcAft>
                <a:spcPts val="0"/>
              </a:spcAft>
              <a:buSzPts val="1100"/>
              <a:buFont typeface="Arial"/>
              <a:buChar char="•"/>
            </a:pPr>
            <a:r>
              <a:rPr b="1" lang="en" sz="1100">
                <a:latin typeface="Arial"/>
                <a:ea typeface="Arial"/>
                <a:cs typeface="Arial"/>
                <a:sym typeface="Arial"/>
              </a:rPr>
              <a:t>Transfer status</a:t>
            </a:r>
            <a:r>
              <a:rPr lang="en" sz="1100">
                <a:latin typeface="Arial"/>
                <a:ea typeface="Arial"/>
                <a:cs typeface="Arial"/>
                <a:sym typeface="Arial"/>
              </a:rPr>
              <a:t> is a major structural factor across all models. Students entering as transfer students display significantly higher predicted graduation probabilities compared with new freshmen.</a:t>
            </a:r>
            <a:br>
              <a:rPr lang="en" sz="1100">
                <a:latin typeface="Arial"/>
                <a:ea typeface="Arial"/>
                <a:cs typeface="Arial"/>
                <a:sym typeface="Arial"/>
              </a:rPr>
            </a:br>
            <a:endParaRPr sz="1100">
              <a:latin typeface="Arial"/>
              <a:ea typeface="Arial"/>
              <a:cs typeface="Arial"/>
              <a:sym typeface="Arial"/>
            </a:endParaRPr>
          </a:p>
          <a:p>
            <a:pPr indent="-298450" lvl="0" marL="457200" rtl="0" algn="l">
              <a:spcBef>
                <a:spcPts val="0"/>
              </a:spcBef>
              <a:spcAft>
                <a:spcPts val="0"/>
              </a:spcAft>
              <a:buSzPts val="1100"/>
              <a:buFont typeface="Arial"/>
              <a:buChar char="•"/>
            </a:pPr>
            <a:r>
              <a:rPr lang="en" sz="1100">
                <a:latin typeface="Arial"/>
                <a:ea typeface="Arial"/>
                <a:cs typeface="Arial"/>
                <a:sym typeface="Arial"/>
              </a:rPr>
              <a:t>High school preparation, including </a:t>
            </a:r>
            <a:r>
              <a:rPr b="1" lang="en" sz="1100">
                <a:latin typeface="Arial"/>
                <a:ea typeface="Arial"/>
                <a:cs typeface="Arial"/>
                <a:sym typeface="Arial"/>
              </a:rPr>
              <a:t>GPA</a:t>
            </a:r>
            <a:r>
              <a:rPr lang="en" sz="1100">
                <a:latin typeface="Arial"/>
                <a:ea typeface="Arial"/>
                <a:cs typeface="Arial"/>
                <a:sym typeface="Arial"/>
              </a:rPr>
              <a:t>, </a:t>
            </a:r>
            <a:r>
              <a:rPr b="1" lang="en" sz="1100">
                <a:latin typeface="Arial"/>
                <a:ea typeface="Arial"/>
                <a:cs typeface="Arial"/>
                <a:sym typeface="Arial"/>
              </a:rPr>
              <a:t>AP coursework</a:t>
            </a:r>
            <a:r>
              <a:rPr lang="en" sz="1100">
                <a:latin typeface="Arial"/>
                <a:ea typeface="Arial"/>
                <a:cs typeface="Arial"/>
                <a:sym typeface="Arial"/>
              </a:rPr>
              <a:t>, and </a:t>
            </a:r>
            <a:r>
              <a:rPr b="1" lang="en" sz="1100">
                <a:latin typeface="Arial"/>
                <a:ea typeface="Arial"/>
                <a:cs typeface="Arial"/>
                <a:sym typeface="Arial"/>
              </a:rPr>
              <a:t>class rank</a:t>
            </a:r>
            <a:r>
              <a:rPr lang="en" sz="1100">
                <a:latin typeface="Arial"/>
                <a:ea typeface="Arial"/>
                <a:cs typeface="Arial"/>
                <a:sym typeface="Arial"/>
              </a:rPr>
              <a:t>, provides moderate but meaningful predictive power. These variables reinforce long-term academic readiness.</a:t>
            </a:r>
            <a:br>
              <a:rPr lang="en" sz="1100">
                <a:latin typeface="Arial"/>
                <a:ea typeface="Arial"/>
                <a:cs typeface="Arial"/>
                <a:sym typeface="Arial"/>
              </a:rPr>
            </a:br>
            <a:endParaRPr sz="1100">
              <a:latin typeface="Arial"/>
              <a:ea typeface="Arial"/>
              <a:cs typeface="Arial"/>
              <a:sym typeface="Arial"/>
            </a:endParaRPr>
          </a:p>
          <a:p>
            <a:pPr indent="-298450" lvl="0" marL="457200" rtl="0" algn="l">
              <a:spcBef>
                <a:spcPts val="0"/>
              </a:spcBef>
              <a:spcAft>
                <a:spcPts val="0"/>
              </a:spcAft>
              <a:buSzPts val="1100"/>
              <a:buFont typeface="Arial"/>
              <a:buChar char="•"/>
            </a:pPr>
            <a:r>
              <a:rPr lang="en" sz="1100">
                <a:latin typeface="Arial"/>
                <a:ea typeface="Arial"/>
                <a:cs typeface="Arial"/>
                <a:sym typeface="Arial"/>
              </a:rPr>
              <a:t>First-term enrollment intensity (</a:t>
            </a:r>
            <a:r>
              <a:rPr b="1" lang="en" sz="1100">
                <a:latin typeface="Arial"/>
                <a:ea typeface="Arial"/>
                <a:cs typeface="Arial"/>
                <a:sym typeface="Arial"/>
              </a:rPr>
              <a:t>Sem1_FTPT</a:t>
            </a:r>
            <a:r>
              <a:rPr lang="en" sz="1100">
                <a:latin typeface="Arial"/>
                <a:ea typeface="Arial"/>
                <a:cs typeface="Arial"/>
                <a:sym typeface="Arial"/>
              </a:rPr>
              <a:t>) adds smaller but consistent value, with full-time students generally achieving stronger outcomes.</a:t>
            </a:r>
            <a:br>
              <a:rPr lang="en" sz="1100">
                <a:latin typeface="Arial"/>
                <a:ea typeface="Arial"/>
                <a:cs typeface="Arial"/>
                <a:sym typeface="Arial"/>
              </a:rPr>
            </a:br>
            <a:endParaRPr sz="1100">
              <a:latin typeface="Arial"/>
              <a:ea typeface="Arial"/>
              <a:cs typeface="Arial"/>
              <a:sym typeface="Arial"/>
            </a:endParaRPr>
          </a:p>
          <a:p>
            <a:pPr indent="-298450" lvl="0" marL="457200" rtl="0" algn="l">
              <a:spcBef>
                <a:spcPts val="0"/>
              </a:spcBef>
              <a:spcAft>
                <a:spcPts val="0"/>
              </a:spcAft>
              <a:buSzPts val="1100"/>
              <a:buFont typeface="Arial"/>
              <a:buChar char="•"/>
            </a:pPr>
            <a:r>
              <a:rPr lang="en" sz="1100">
                <a:latin typeface="Arial"/>
                <a:ea typeface="Arial"/>
                <a:cs typeface="Arial"/>
                <a:sym typeface="Arial"/>
              </a:rPr>
              <a:t>Overall, the models agree that </a:t>
            </a:r>
            <a:r>
              <a:rPr b="1" lang="en" sz="1100">
                <a:latin typeface="Arial"/>
                <a:ea typeface="Arial"/>
                <a:cs typeface="Arial"/>
                <a:sym typeface="Arial"/>
              </a:rPr>
              <a:t>academic readiness + financial stability + entry pathway</a:t>
            </a:r>
            <a:r>
              <a:rPr lang="en" sz="1100">
                <a:latin typeface="Arial"/>
                <a:ea typeface="Arial"/>
                <a:cs typeface="Arial"/>
                <a:sym typeface="Arial"/>
              </a:rPr>
              <a:t> form the three pillars that shape graduation predictions.</a:t>
            </a:r>
            <a:endParaRPr sz="1100">
              <a:latin typeface="Arial"/>
              <a:ea typeface="Arial"/>
              <a:cs typeface="Arial"/>
              <a:sym typeface="Arial"/>
            </a:endParaRPr>
          </a:p>
          <a:p>
            <a:pPr indent="0" lvl="0" marL="0" rtl="0" algn="l">
              <a:spcBef>
                <a:spcPts val="360"/>
              </a:spcBef>
              <a:spcAft>
                <a:spcPts val="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sp>
        <p:nvSpPr>
          <p:cNvPr id="231" name="Google Shape;231;p36"/>
          <p:cNvSpPr txBox="1"/>
          <p:nvPr>
            <p:ph type="title"/>
          </p:nvPr>
        </p:nvSpPr>
        <p:spPr>
          <a:xfrm>
            <a:off x="457200" y="702644"/>
            <a:ext cx="8229600" cy="644100"/>
          </a:xfrm>
          <a:prstGeom prst="rect">
            <a:avLst/>
          </a:prstGeom>
        </p:spPr>
        <p:txBody>
          <a:bodyPr anchorCtr="0" anchor="ctr" bIns="45700" lIns="91425" spcFirstLastPara="1" rIns="91425" wrap="square" tIns="45700">
            <a:normAutofit/>
          </a:bodyPr>
          <a:lstStyle/>
          <a:p>
            <a:pPr indent="0" lvl="0" marL="0" rtl="0" algn="ctr">
              <a:lnSpc>
                <a:spcPct val="115000"/>
              </a:lnSpc>
              <a:spcBef>
                <a:spcPts val="1200"/>
              </a:spcBef>
              <a:spcAft>
                <a:spcPts val="1200"/>
              </a:spcAft>
              <a:buClr>
                <a:schemeClr val="dk1"/>
              </a:buClr>
              <a:buSzPts val="1100"/>
              <a:buFont typeface="Arial"/>
              <a:buNone/>
            </a:pPr>
            <a:r>
              <a:rPr lang="en" sz="3600"/>
              <a:t>Categorical Gap Analysis</a:t>
            </a:r>
            <a:endParaRPr sz="3600"/>
          </a:p>
        </p:txBody>
      </p:sp>
      <p:graphicFrame>
        <p:nvGraphicFramePr>
          <p:cNvPr id="232" name="Google Shape;232;p36"/>
          <p:cNvGraphicFramePr/>
          <p:nvPr/>
        </p:nvGraphicFramePr>
        <p:xfrm>
          <a:off x="1949738" y="2422425"/>
          <a:ext cx="3000000" cy="3000000"/>
        </p:xfrm>
        <a:graphic>
          <a:graphicData uri="http://schemas.openxmlformats.org/drawingml/2006/table">
            <a:tbl>
              <a:tblPr>
                <a:noFill/>
                <a:tableStyleId>{24C009FF-336C-47B4-8BC5-F4C2A9347E70}</a:tableStyleId>
              </a:tblPr>
              <a:tblGrid>
                <a:gridCol w="1117700"/>
                <a:gridCol w="1497300"/>
                <a:gridCol w="713750"/>
                <a:gridCol w="774325"/>
                <a:gridCol w="947950"/>
              </a:tblGrid>
              <a:tr h="190500">
                <a:tc>
                  <a:txBody>
                    <a:bodyPr/>
                    <a:lstStyle/>
                    <a:p>
                      <a:pPr indent="0" lvl="0" marL="0" rtl="0" algn="ctr">
                        <a:lnSpc>
                          <a:spcPct val="115000"/>
                        </a:lnSpc>
                        <a:spcBef>
                          <a:spcPts val="0"/>
                        </a:spcBef>
                        <a:spcAft>
                          <a:spcPts val="0"/>
                        </a:spcAft>
                        <a:buNone/>
                      </a:pPr>
                      <a:r>
                        <a:rPr b="1" lang="en" sz="800">
                          <a:solidFill>
                            <a:schemeClr val="lt1"/>
                          </a:solidFill>
                        </a:rPr>
                        <a:t>Feature</a:t>
                      </a:r>
                      <a:endParaRPr b="1" sz="800">
                        <a:solidFill>
                          <a:schemeClr val="lt1"/>
                        </a:solidFill>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40000"/>
                    </a:solidFill>
                  </a:tcPr>
                </a:tc>
                <a:tc>
                  <a:txBody>
                    <a:bodyPr/>
                    <a:lstStyle/>
                    <a:p>
                      <a:pPr indent="0" lvl="0" marL="0" rtl="0" algn="ctr">
                        <a:lnSpc>
                          <a:spcPct val="115000"/>
                        </a:lnSpc>
                        <a:spcBef>
                          <a:spcPts val="0"/>
                        </a:spcBef>
                        <a:spcAft>
                          <a:spcPts val="0"/>
                        </a:spcAft>
                        <a:buNone/>
                      </a:pPr>
                      <a:r>
                        <a:rPr b="1" lang="en" sz="800">
                          <a:solidFill>
                            <a:schemeClr val="lt1"/>
                          </a:solidFill>
                        </a:rPr>
                        <a:t>Category</a:t>
                      </a:r>
                      <a:endParaRPr b="1" sz="800">
                        <a:solidFill>
                          <a:schemeClr val="lt1"/>
                        </a:solidFill>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40000"/>
                    </a:solidFill>
                  </a:tcPr>
                </a:tc>
                <a:tc>
                  <a:txBody>
                    <a:bodyPr/>
                    <a:lstStyle/>
                    <a:p>
                      <a:pPr indent="0" lvl="0" marL="0" rtl="0" algn="ctr">
                        <a:lnSpc>
                          <a:spcPct val="115000"/>
                        </a:lnSpc>
                        <a:spcBef>
                          <a:spcPts val="0"/>
                        </a:spcBef>
                        <a:spcAft>
                          <a:spcPts val="0"/>
                        </a:spcAft>
                        <a:buNone/>
                      </a:pPr>
                      <a:r>
                        <a:rPr b="1" lang="en" sz="800">
                          <a:solidFill>
                            <a:schemeClr val="lt1"/>
                          </a:solidFill>
                        </a:rPr>
                        <a:t>XGB Base</a:t>
                      </a:r>
                      <a:endParaRPr b="1" sz="800">
                        <a:solidFill>
                          <a:schemeClr val="lt1"/>
                        </a:solidFill>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40000"/>
                    </a:solidFill>
                  </a:tcPr>
                </a:tc>
                <a:tc>
                  <a:txBody>
                    <a:bodyPr/>
                    <a:lstStyle/>
                    <a:p>
                      <a:pPr indent="0" lvl="0" marL="0" rtl="0" algn="ctr">
                        <a:lnSpc>
                          <a:spcPct val="115000"/>
                        </a:lnSpc>
                        <a:spcBef>
                          <a:spcPts val="0"/>
                        </a:spcBef>
                        <a:spcAft>
                          <a:spcPts val="0"/>
                        </a:spcAft>
                        <a:buNone/>
                      </a:pPr>
                      <a:r>
                        <a:rPr b="1" lang="en" sz="800">
                          <a:solidFill>
                            <a:schemeClr val="lt1"/>
                          </a:solidFill>
                        </a:rPr>
                        <a:t>XGB Tuned</a:t>
                      </a:r>
                      <a:endParaRPr b="1" sz="800">
                        <a:solidFill>
                          <a:schemeClr val="lt1"/>
                        </a:solidFill>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40000"/>
                    </a:solidFill>
                  </a:tcPr>
                </a:tc>
                <a:tc>
                  <a:txBody>
                    <a:bodyPr/>
                    <a:lstStyle/>
                    <a:p>
                      <a:pPr indent="0" lvl="0" marL="0" rtl="0" algn="ctr">
                        <a:lnSpc>
                          <a:spcPct val="115000"/>
                        </a:lnSpc>
                        <a:spcBef>
                          <a:spcPts val="0"/>
                        </a:spcBef>
                        <a:spcAft>
                          <a:spcPts val="0"/>
                        </a:spcAft>
                        <a:buNone/>
                      </a:pPr>
                      <a:r>
                        <a:rPr b="1" lang="en" sz="800">
                          <a:solidFill>
                            <a:schemeClr val="lt1"/>
                          </a:solidFill>
                        </a:rPr>
                        <a:t>GB Tuned</a:t>
                      </a:r>
                      <a:endParaRPr b="1" sz="800">
                        <a:solidFill>
                          <a:schemeClr val="lt1"/>
                        </a:solidFill>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40000"/>
                    </a:solidFill>
                  </a:tcPr>
                </a:tc>
              </a:tr>
              <a:tr h="190500">
                <a:tc>
                  <a:txBody>
                    <a:bodyPr/>
                    <a:lstStyle/>
                    <a:p>
                      <a:pPr indent="0" lvl="0" marL="0" rtl="0" algn="l">
                        <a:spcBef>
                          <a:spcPts val="0"/>
                        </a:spcBef>
                        <a:spcAft>
                          <a:spcPts val="0"/>
                        </a:spcAft>
                        <a:buNone/>
                      </a:pPr>
                      <a:r>
                        <a:rPr b="1" lang="en" sz="800"/>
                        <a:t>Term Load</a:t>
                      </a:r>
                      <a:endParaRPr b="1"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spcBef>
                          <a:spcPts val="0"/>
                        </a:spcBef>
                        <a:spcAft>
                          <a:spcPts val="0"/>
                        </a:spcAft>
                        <a:buNone/>
                      </a:pPr>
                      <a:r>
                        <a:rPr lang="en" sz="800"/>
                        <a:t>FT</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spcBef>
                          <a:spcPts val="0"/>
                        </a:spcBef>
                        <a:spcAft>
                          <a:spcPts val="0"/>
                        </a:spcAft>
                        <a:buNone/>
                      </a:pPr>
                      <a:r>
                        <a:rPr lang="en" sz="800"/>
                        <a:t>3591</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spcBef>
                          <a:spcPts val="0"/>
                        </a:spcBef>
                        <a:spcAft>
                          <a:spcPts val="0"/>
                        </a:spcAft>
                        <a:buNone/>
                      </a:pPr>
                      <a:r>
                        <a:rPr lang="en" sz="800"/>
                        <a:t>0.499</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spcBef>
                          <a:spcPts val="0"/>
                        </a:spcBef>
                        <a:spcAft>
                          <a:spcPts val="0"/>
                        </a:spcAft>
                        <a:buNone/>
                      </a:pPr>
                      <a:r>
                        <a:rPr lang="en" sz="800"/>
                        <a:t>0.498</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r>
              <a:tr h="190500">
                <a:tc>
                  <a:txBody>
                    <a:bodyPr/>
                    <a:lstStyle/>
                    <a:p>
                      <a:pPr indent="0" lvl="0" marL="0" rtl="0" algn="l">
                        <a:spcBef>
                          <a:spcPts val="0"/>
                        </a:spcBef>
                        <a:spcAft>
                          <a:spcPts val="0"/>
                        </a:spcAft>
                        <a:buNone/>
                      </a:pPr>
                      <a:r>
                        <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spcBef>
                          <a:spcPts val="0"/>
                        </a:spcBef>
                        <a:spcAft>
                          <a:spcPts val="0"/>
                        </a:spcAft>
                        <a:buNone/>
                      </a:pPr>
                      <a:r>
                        <a:rPr lang="en" sz="800"/>
                        <a:t>PT</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spcBef>
                          <a:spcPts val="0"/>
                        </a:spcBef>
                        <a:spcAft>
                          <a:spcPts val="0"/>
                        </a:spcAft>
                        <a:buNone/>
                      </a:pPr>
                      <a:r>
                        <a:rPr lang="en" sz="800"/>
                        <a:t>298</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spcBef>
                          <a:spcPts val="0"/>
                        </a:spcBef>
                        <a:spcAft>
                          <a:spcPts val="0"/>
                        </a:spcAft>
                        <a:buNone/>
                      </a:pPr>
                      <a:r>
                        <a:rPr lang="en" sz="800"/>
                        <a:t>0.424</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spcBef>
                          <a:spcPts val="0"/>
                        </a:spcBef>
                        <a:spcAft>
                          <a:spcPts val="0"/>
                        </a:spcAft>
                        <a:buNone/>
                      </a:pPr>
                      <a:r>
                        <a:rPr lang="en" sz="800"/>
                        <a:t>0.428</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r>
              <a:tr h="190500">
                <a:tc>
                  <a:txBody>
                    <a:bodyPr/>
                    <a:lstStyle/>
                    <a:p>
                      <a:pPr indent="0" lvl="0" marL="0" rtl="0" algn="l">
                        <a:spcBef>
                          <a:spcPts val="0"/>
                        </a:spcBef>
                        <a:spcAft>
                          <a:spcPts val="0"/>
                        </a:spcAft>
                        <a:buNone/>
                      </a:pPr>
                      <a:r>
                        <a:rPr b="1" lang="en" sz="800"/>
                        <a:t>Residence</a:t>
                      </a:r>
                      <a:endParaRPr b="1"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B531"/>
                    </a:solidFill>
                  </a:tcPr>
                </a:tc>
                <a:tc>
                  <a:txBody>
                    <a:bodyPr/>
                    <a:lstStyle/>
                    <a:p>
                      <a:pPr indent="0" lvl="0" marL="0" rtl="0" algn="l">
                        <a:spcBef>
                          <a:spcPts val="0"/>
                        </a:spcBef>
                        <a:spcAft>
                          <a:spcPts val="0"/>
                        </a:spcAft>
                        <a:buNone/>
                      </a:pPr>
                      <a:r>
                        <a:rPr lang="en" sz="800"/>
                        <a:t>On Campus</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B531"/>
                    </a:solidFill>
                  </a:tcPr>
                </a:tc>
                <a:tc>
                  <a:txBody>
                    <a:bodyPr/>
                    <a:lstStyle/>
                    <a:p>
                      <a:pPr indent="0" lvl="0" marL="0" rtl="0" algn="l">
                        <a:spcBef>
                          <a:spcPts val="0"/>
                        </a:spcBef>
                        <a:spcAft>
                          <a:spcPts val="0"/>
                        </a:spcAft>
                        <a:buNone/>
                      </a:pPr>
                      <a:r>
                        <a:rPr lang="en" sz="800"/>
                        <a:t>1653</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B531"/>
                    </a:solidFill>
                  </a:tcPr>
                </a:tc>
                <a:tc>
                  <a:txBody>
                    <a:bodyPr/>
                    <a:lstStyle/>
                    <a:p>
                      <a:pPr indent="0" lvl="0" marL="0" rtl="0" algn="l">
                        <a:spcBef>
                          <a:spcPts val="0"/>
                        </a:spcBef>
                        <a:spcAft>
                          <a:spcPts val="0"/>
                        </a:spcAft>
                        <a:buNone/>
                      </a:pPr>
                      <a:r>
                        <a:rPr lang="en" sz="800"/>
                        <a:t>0.505</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B531"/>
                    </a:solidFill>
                  </a:tcPr>
                </a:tc>
                <a:tc>
                  <a:txBody>
                    <a:bodyPr/>
                    <a:lstStyle/>
                    <a:p>
                      <a:pPr indent="0" lvl="0" marL="0" rtl="0" algn="l">
                        <a:spcBef>
                          <a:spcPts val="0"/>
                        </a:spcBef>
                        <a:spcAft>
                          <a:spcPts val="0"/>
                        </a:spcAft>
                        <a:buNone/>
                      </a:pPr>
                      <a:r>
                        <a:rPr lang="en" sz="800"/>
                        <a:t>0.503</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B531"/>
                    </a:solidFill>
                  </a:tcPr>
                </a:tc>
              </a:tr>
              <a:tr h="190500">
                <a:tc>
                  <a:txBody>
                    <a:bodyPr/>
                    <a:lstStyle/>
                    <a:p>
                      <a:pPr indent="0" lvl="0" marL="0" rtl="0" algn="l">
                        <a:spcBef>
                          <a:spcPts val="0"/>
                        </a:spcBef>
                        <a:spcAft>
                          <a:spcPts val="0"/>
                        </a:spcAft>
                        <a:buNone/>
                      </a:pPr>
                      <a:r>
                        <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B531"/>
                    </a:solidFill>
                  </a:tcPr>
                </a:tc>
                <a:tc>
                  <a:txBody>
                    <a:bodyPr/>
                    <a:lstStyle/>
                    <a:p>
                      <a:pPr indent="0" lvl="0" marL="0" rtl="0" algn="l">
                        <a:spcBef>
                          <a:spcPts val="0"/>
                        </a:spcBef>
                        <a:spcAft>
                          <a:spcPts val="0"/>
                        </a:spcAft>
                        <a:buNone/>
                      </a:pPr>
                      <a:r>
                        <a:rPr lang="en" sz="800"/>
                        <a:t>Commuter</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B531"/>
                    </a:solidFill>
                  </a:tcPr>
                </a:tc>
                <a:tc>
                  <a:txBody>
                    <a:bodyPr/>
                    <a:lstStyle/>
                    <a:p>
                      <a:pPr indent="0" lvl="0" marL="0" rtl="0" algn="l">
                        <a:spcBef>
                          <a:spcPts val="0"/>
                        </a:spcBef>
                        <a:spcAft>
                          <a:spcPts val="0"/>
                        </a:spcAft>
                        <a:buNone/>
                      </a:pPr>
                      <a:r>
                        <a:rPr lang="en" sz="800"/>
                        <a:t>2236</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B531"/>
                    </a:solidFill>
                  </a:tcPr>
                </a:tc>
                <a:tc>
                  <a:txBody>
                    <a:bodyPr/>
                    <a:lstStyle/>
                    <a:p>
                      <a:pPr indent="0" lvl="0" marL="0" rtl="0" algn="l">
                        <a:spcBef>
                          <a:spcPts val="0"/>
                        </a:spcBef>
                        <a:spcAft>
                          <a:spcPts val="0"/>
                        </a:spcAft>
                        <a:buNone/>
                      </a:pPr>
                      <a:r>
                        <a:rPr lang="en" sz="800"/>
                        <a:t>0.485</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B531"/>
                    </a:solidFill>
                  </a:tcPr>
                </a:tc>
                <a:tc>
                  <a:txBody>
                    <a:bodyPr/>
                    <a:lstStyle/>
                    <a:p>
                      <a:pPr indent="0" lvl="0" marL="0" rtl="0" algn="l">
                        <a:spcBef>
                          <a:spcPts val="0"/>
                        </a:spcBef>
                        <a:spcAft>
                          <a:spcPts val="0"/>
                        </a:spcAft>
                        <a:buNone/>
                      </a:pPr>
                      <a:r>
                        <a:rPr lang="en" sz="800"/>
                        <a:t>0.486</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B531"/>
                    </a:solidFill>
                  </a:tcPr>
                </a:tc>
              </a:tr>
              <a:tr h="190500">
                <a:tc>
                  <a:txBody>
                    <a:bodyPr/>
                    <a:lstStyle/>
                    <a:p>
                      <a:pPr indent="0" lvl="0" marL="0" rtl="0" algn="l">
                        <a:spcBef>
                          <a:spcPts val="0"/>
                        </a:spcBef>
                        <a:spcAft>
                          <a:spcPts val="0"/>
                        </a:spcAft>
                        <a:buNone/>
                      </a:pPr>
                      <a:r>
                        <a:rPr b="1" lang="en" sz="800"/>
                        <a:t>Need Status</a:t>
                      </a:r>
                      <a:endParaRPr b="1"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spcBef>
                          <a:spcPts val="0"/>
                        </a:spcBef>
                        <a:spcAft>
                          <a:spcPts val="0"/>
                        </a:spcAft>
                        <a:buNone/>
                      </a:pPr>
                      <a:r>
                        <a:rPr lang="en" sz="800"/>
                        <a:t>Need Yes</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spcBef>
                          <a:spcPts val="0"/>
                        </a:spcBef>
                        <a:spcAft>
                          <a:spcPts val="0"/>
                        </a:spcAft>
                        <a:buNone/>
                      </a:pPr>
                      <a:r>
                        <a:rPr lang="en" sz="800"/>
                        <a:t>3146</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spcBef>
                          <a:spcPts val="0"/>
                        </a:spcBef>
                        <a:spcAft>
                          <a:spcPts val="0"/>
                        </a:spcAft>
                        <a:buNone/>
                      </a:pPr>
                      <a:r>
                        <a:rPr lang="en" sz="800"/>
                        <a:t>0.503</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spcBef>
                          <a:spcPts val="0"/>
                        </a:spcBef>
                        <a:spcAft>
                          <a:spcPts val="0"/>
                        </a:spcAft>
                        <a:buNone/>
                      </a:pPr>
                      <a:r>
                        <a:rPr lang="en" sz="800"/>
                        <a:t>0.504</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r>
              <a:tr h="190500">
                <a:tc>
                  <a:txBody>
                    <a:bodyPr/>
                    <a:lstStyle/>
                    <a:p>
                      <a:pPr indent="0" lvl="0" marL="0" rtl="0" algn="l">
                        <a:spcBef>
                          <a:spcPts val="0"/>
                        </a:spcBef>
                        <a:spcAft>
                          <a:spcPts val="0"/>
                        </a:spcAft>
                        <a:buNone/>
                      </a:pPr>
                      <a:r>
                        <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spcBef>
                          <a:spcPts val="0"/>
                        </a:spcBef>
                        <a:spcAft>
                          <a:spcPts val="0"/>
                        </a:spcAft>
                        <a:buNone/>
                      </a:pPr>
                      <a:r>
                        <a:rPr lang="en" sz="800"/>
                        <a:t>Need No</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spcBef>
                          <a:spcPts val="0"/>
                        </a:spcBef>
                        <a:spcAft>
                          <a:spcPts val="0"/>
                        </a:spcAft>
                        <a:buNone/>
                      </a:pPr>
                      <a:r>
                        <a:rPr lang="en" sz="800"/>
                        <a:t>743</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spcBef>
                          <a:spcPts val="0"/>
                        </a:spcBef>
                        <a:spcAft>
                          <a:spcPts val="0"/>
                        </a:spcAft>
                        <a:buNone/>
                      </a:pPr>
                      <a:r>
                        <a:rPr lang="en" sz="800"/>
                        <a:t>0.449</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spcBef>
                          <a:spcPts val="0"/>
                        </a:spcBef>
                        <a:spcAft>
                          <a:spcPts val="0"/>
                        </a:spcAft>
                        <a:buNone/>
                      </a:pPr>
                      <a:r>
                        <a:rPr lang="en" sz="800"/>
                        <a:t>0.444</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r>
            </a:tbl>
          </a:graphicData>
        </a:graphic>
      </p:graphicFrame>
      <p:sp>
        <p:nvSpPr>
          <p:cNvPr id="233" name="Google Shape;233;p36"/>
          <p:cNvSpPr txBox="1"/>
          <p:nvPr/>
        </p:nvSpPr>
        <p:spPr>
          <a:xfrm>
            <a:off x="457200" y="1480525"/>
            <a:ext cx="8036100" cy="646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chemeClr val="dk1"/>
                </a:solidFill>
              </a:rPr>
              <a:t>This table shows how different student groups are expected to graduate based on the model’s predictions. Each student’s predicted graduation probability is generated by the model, and students are then grouped by characteristics such as gender, ethnicity, support level, GPA, and enrollment type. For each group, the table reports the average predicted graduation rate .</a:t>
            </a:r>
            <a:endParaRPr sz="3200">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graphicFrame>
        <p:nvGraphicFramePr>
          <p:cNvPr id="238" name="Google Shape;238;p37"/>
          <p:cNvGraphicFramePr/>
          <p:nvPr/>
        </p:nvGraphicFramePr>
        <p:xfrm>
          <a:off x="133225" y="1346750"/>
          <a:ext cx="3000000" cy="3000000"/>
        </p:xfrm>
        <a:graphic>
          <a:graphicData uri="http://schemas.openxmlformats.org/drawingml/2006/table">
            <a:tbl>
              <a:tblPr>
                <a:noFill/>
                <a:tableStyleId>{24C009FF-336C-47B4-8BC5-F4C2A9347E70}</a:tableStyleId>
              </a:tblPr>
              <a:tblGrid>
                <a:gridCol w="741775"/>
                <a:gridCol w="1138500"/>
                <a:gridCol w="829425"/>
                <a:gridCol w="780975"/>
                <a:gridCol w="752850"/>
              </a:tblGrid>
              <a:tr h="190500">
                <a:tc>
                  <a:txBody>
                    <a:bodyPr/>
                    <a:lstStyle/>
                    <a:p>
                      <a:pPr indent="0" lvl="0" marL="0" rtl="0" algn="ctr">
                        <a:lnSpc>
                          <a:spcPct val="115000"/>
                        </a:lnSpc>
                        <a:spcBef>
                          <a:spcPts val="0"/>
                        </a:spcBef>
                        <a:spcAft>
                          <a:spcPts val="0"/>
                        </a:spcAft>
                        <a:buNone/>
                      </a:pPr>
                      <a:r>
                        <a:rPr b="1" lang="en" sz="800"/>
                        <a:t>Feature</a:t>
                      </a:r>
                      <a:endParaRPr b="1"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40000"/>
                    </a:solidFill>
                  </a:tcPr>
                </a:tc>
                <a:tc>
                  <a:txBody>
                    <a:bodyPr/>
                    <a:lstStyle/>
                    <a:p>
                      <a:pPr indent="0" lvl="0" marL="0" rtl="0" algn="ctr">
                        <a:lnSpc>
                          <a:spcPct val="115000"/>
                        </a:lnSpc>
                        <a:spcBef>
                          <a:spcPts val="0"/>
                        </a:spcBef>
                        <a:spcAft>
                          <a:spcPts val="0"/>
                        </a:spcAft>
                        <a:buNone/>
                      </a:pPr>
                      <a:r>
                        <a:rPr b="1" lang="en" sz="800"/>
                        <a:t>Category</a:t>
                      </a:r>
                      <a:endParaRPr b="1"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40000"/>
                    </a:solidFill>
                  </a:tcPr>
                </a:tc>
                <a:tc>
                  <a:txBody>
                    <a:bodyPr/>
                    <a:lstStyle/>
                    <a:p>
                      <a:pPr indent="0" lvl="0" marL="0" rtl="0" algn="ctr">
                        <a:lnSpc>
                          <a:spcPct val="115000"/>
                        </a:lnSpc>
                        <a:spcBef>
                          <a:spcPts val="0"/>
                        </a:spcBef>
                        <a:spcAft>
                          <a:spcPts val="0"/>
                        </a:spcAft>
                        <a:buNone/>
                      </a:pPr>
                      <a:r>
                        <a:rPr b="1" lang="en" sz="800"/>
                        <a:t>XGB Base</a:t>
                      </a:r>
                      <a:endParaRPr b="1"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40000"/>
                    </a:solidFill>
                  </a:tcPr>
                </a:tc>
                <a:tc>
                  <a:txBody>
                    <a:bodyPr/>
                    <a:lstStyle/>
                    <a:p>
                      <a:pPr indent="0" lvl="0" marL="0" rtl="0" algn="ctr">
                        <a:lnSpc>
                          <a:spcPct val="115000"/>
                        </a:lnSpc>
                        <a:spcBef>
                          <a:spcPts val="0"/>
                        </a:spcBef>
                        <a:spcAft>
                          <a:spcPts val="0"/>
                        </a:spcAft>
                        <a:buNone/>
                      </a:pPr>
                      <a:r>
                        <a:rPr b="1" lang="en" sz="800"/>
                        <a:t>XGB Tuned</a:t>
                      </a:r>
                      <a:endParaRPr b="1"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40000"/>
                    </a:solidFill>
                  </a:tcPr>
                </a:tc>
                <a:tc>
                  <a:txBody>
                    <a:bodyPr/>
                    <a:lstStyle/>
                    <a:p>
                      <a:pPr indent="0" lvl="0" marL="0" rtl="0" algn="ctr">
                        <a:lnSpc>
                          <a:spcPct val="115000"/>
                        </a:lnSpc>
                        <a:spcBef>
                          <a:spcPts val="0"/>
                        </a:spcBef>
                        <a:spcAft>
                          <a:spcPts val="0"/>
                        </a:spcAft>
                        <a:buNone/>
                      </a:pPr>
                      <a:r>
                        <a:rPr b="1" lang="en" sz="800"/>
                        <a:t>GB Tuned</a:t>
                      </a:r>
                      <a:endParaRPr b="1"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40000"/>
                    </a:solidFill>
                  </a:tcPr>
                </a:tc>
              </a:tr>
              <a:tr h="190500">
                <a:tc>
                  <a:txBody>
                    <a:bodyPr/>
                    <a:lstStyle/>
                    <a:p>
                      <a:pPr indent="0" lvl="0" marL="0" rtl="0" algn="l">
                        <a:spcBef>
                          <a:spcPts val="0"/>
                        </a:spcBef>
                        <a:spcAft>
                          <a:spcPts val="0"/>
                        </a:spcAft>
                        <a:buNone/>
                      </a:pPr>
                      <a:r>
                        <a:rPr b="1" lang="en" sz="800"/>
                        <a:t>Matric Status</a:t>
                      </a:r>
                      <a:endParaRPr b="1"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spcBef>
                          <a:spcPts val="0"/>
                        </a:spcBef>
                        <a:spcAft>
                          <a:spcPts val="0"/>
                        </a:spcAft>
                        <a:buNone/>
                      </a:pPr>
                      <a:r>
                        <a:rPr lang="en" sz="800"/>
                        <a:t>New Transfer</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spcBef>
                          <a:spcPts val="0"/>
                        </a:spcBef>
                        <a:spcAft>
                          <a:spcPts val="0"/>
                        </a:spcAft>
                        <a:buNone/>
                      </a:pPr>
                      <a:r>
                        <a:rPr lang="en" sz="800"/>
                        <a:t>0.548</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spcBef>
                          <a:spcPts val="0"/>
                        </a:spcBef>
                        <a:spcAft>
                          <a:spcPts val="0"/>
                        </a:spcAft>
                        <a:buNone/>
                      </a:pPr>
                      <a:r>
                        <a:rPr lang="en" sz="800"/>
                        <a:t>0.543</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spcBef>
                          <a:spcPts val="0"/>
                        </a:spcBef>
                        <a:spcAft>
                          <a:spcPts val="0"/>
                        </a:spcAft>
                        <a:buNone/>
                      </a:pPr>
                      <a:r>
                        <a:rPr lang="en" sz="800"/>
                        <a:t>0.548</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r>
              <a:tr h="190500">
                <a:tc>
                  <a:txBody>
                    <a:bodyPr/>
                    <a:lstStyle/>
                    <a:p>
                      <a:pPr indent="0" lvl="0" marL="0" rtl="0" algn="l">
                        <a:spcBef>
                          <a:spcPts val="0"/>
                        </a:spcBef>
                        <a:spcAft>
                          <a:spcPts val="0"/>
                        </a:spcAft>
                        <a:buNone/>
                      </a:pPr>
                      <a:r>
                        <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spcBef>
                          <a:spcPts val="0"/>
                        </a:spcBef>
                        <a:spcAft>
                          <a:spcPts val="0"/>
                        </a:spcAft>
                        <a:buNone/>
                      </a:pPr>
                      <a:r>
                        <a:rPr lang="en" sz="800"/>
                        <a:t>New Freshman</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spcBef>
                          <a:spcPts val="0"/>
                        </a:spcBef>
                        <a:spcAft>
                          <a:spcPts val="0"/>
                        </a:spcAft>
                        <a:buNone/>
                      </a:pPr>
                      <a:r>
                        <a:rPr lang="en" sz="800"/>
                        <a:t>0.458</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spcBef>
                          <a:spcPts val="0"/>
                        </a:spcBef>
                        <a:spcAft>
                          <a:spcPts val="0"/>
                        </a:spcAft>
                        <a:buNone/>
                      </a:pPr>
                      <a:r>
                        <a:rPr lang="en" sz="800"/>
                        <a:t>0.460</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spcBef>
                          <a:spcPts val="0"/>
                        </a:spcBef>
                        <a:spcAft>
                          <a:spcPts val="0"/>
                        </a:spcAft>
                        <a:buNone/>
                      </a:pPr>
                      <a:r>
                        <a:rPr lang="en" sz="800"/>
                        <a:t>0.456</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r>
              <a:tr h="190500">
                <a:tc>
                  <a:txBody>
                    <a:bodyPr/>
                    <a:lstStyle/>
                    <a:p>
                      <a:pPr indent="0" lvl="0" marL="0" rtl="0" algn="l">
                        <a:spcBef>
                          <a:spcPts val="0"/>
                        </a:spcBef>
                        <a:spcAft>
                          <a:spcPts val="0"/>
                        </a:spcAft>
                        <a:buNone/>
                      </a:pPr>
                      <a:r>
                        <a:rPr b="1" lang="en" sz="800"/>
                        <a:t>Gender</a:t>
                      </a:r>
                      <a:endParaRPr b="1"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B531"/>
                    </a:solidFill>
                  </a:tcPr>
                </a:tc>
                <a:tc>
                  <a:txBody>
                    <a:bodyPr/>
                    <a:lstStyle/>
                    <a:p>
                      <a:pPr indent="0" lvl="0" marL="0" rtl="0" algn="l">
                        <a:spcBef>
                          <a:spcPts val="0"/>
                        </a:spcBef>
                        <a:spcAft>
                          <a:spcPts val="0"/>
                        </a:spcAft>
                        <a:buNone/>
                      </a:pPr>
                      <a:r>
                        <a:rPr lang="en" sz="800"/>
                        <a:t>Female</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B531"/>
                    </a:solidFill>
                  </a:tcPr>
                </a:tc>
                <a:tc>
                  <a:txBody>
                    <a:bodyPr/>
                    <a:lstStyle/>
                    <a:p>
                      <a:pPr indent="0" lvl="0" marL="0" rtl="0" algn="l">
                        <a:spcBef>
                          <a:spcPts val="0"/>
                        </a:spcBef>
                        <a:spcAft>
                          <a:spcPts val="0"/>
                        </a:spcAft>
                        <a:buNone/>
                      </a:pPr>
                      <a:r>
                        <a:rPr lang="en" sz="800"/>
                        <a:t>0.523</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B531"/>
                    </a:solidFill>
                  </a:tcPr>
                </a:tc>
                <a:tc>
                  <a:txBody>
                    <a:bodyPr/>
                    <a:lstStyle/>
                    <a:p>
                      <a:pPr indent="0" lvl="0" marL="0" rtl="0" algn="l">
                        <a:spcBef>
                          <a:spcPts val="0"/>
                        </a:spcBef>
                        <a:spcAft>
                          <a:spcPts val="0"/>
                        </a:spcAft>
                        <a:buNone/>
                      </a:pPr>
                      <a:r>
                        <a:rPr lang="en" sz="800"/>
                        <a:t>0.519</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B531"/>
                    </a:solidFill>
                  </a:tcPr>
                </a:tc>
                <a:tc>
                  <a:txBody>
                    <a:bodyPr/>
                    <a:lstStyle/>
                    <a:p>
                      <a:pPr indent="0" lvl="0" marL="0" rtl="0" algn="l">
                        <a:spcBef>
                          <a:spcPts val="0"/>
                        </a:spcBef>
                        <a:spcAft>
                          <a:spcPts val="0"/>
                        </a:spcAft>
                        <a:buNone/>
                      </a:pPr>
                      <a:r>
                        <a:rPr lang="en" sz="800"/>
                        <a:t>0.520</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B531"/>
                    </a:solidFill>
                  </a:tcPr>
                </a:tc>
              </a:tr>
              <a:tr h="190500">
                <a:tc>
                  <a:txBody>
                    <a:bodyPr/>
                    <a:lstStyle/>
                    <a:p>
                      <a:pPr indent="0" lvl="0" marL="0" rtl="0" algn="l">
                        <a:spcBef>
                          <a:spcPts val="0"/>
                        </a:spcBef>
                        <a:spcAft>
                          <a:spcPts val="0"/>
                        </a:spcAft>
                        <a:buNone/>
                      </a:pPr>
                      <a:r>
                        <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B531"/>
                    </a:solidFill>
                  </a:tcPr>
                </a:tc>
                <a:tc>
                  <a:txBody>
                    <a:bodyPr/>
                    <a:lstStyle/>
                    <a:p>
                      <a:pPr indent="0" lvl="0" marL="0" rtl="0" algn="l">
                        <a:spcBef>
                          <a:spcPts val="0"/>
                        </a:spcBef>
                        <a:spcAft>
                          <a:spcPts val="0"/>
                        </a:spcAft>
                        <a:buNone/>
                      </a:pPr>
                      <a:r>
                        <a:rPr lang="en" sz="800"/>
                        <a:t>Male</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B531"/>
                    </a:solidFill>
                  </a:tcPr>
                </a:tc>
                <a:tc>
                  <a:txBody>
                    <a:bodyPr/>
                    <a:lstStyle/>
                    <a:p>
                      <a:pPr indent="0" lvl="0" marL="0" rtl="0" algn="l">
                        <a:spcBef>
                          <a:spcPts val="0"/>
                        </a:spcBef>
                        <a:spcAft>
                          <a:spcPts val="0"/>
                        </a:spcAft>
                        <a:buNone/>
                      </a:pPr>
                      <a:r>
                        <a:rPr lang="en" sz="800"/>
                        <a:t>0.476</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B531"/>
                    </a:solidFill>
                  </a:tcPr>
                </a:tc>
                <a:tc>
                  <a:txBody>
                    <a:bodyPr/>
                    <a:lstStyle/>
                    <a:p>
                      <a:pPr indent="0" lvl="0" marL="0" rtl="0" algn="l">
                        <a:spcBef>
                          <a:spcPts val="0"/>
                        </a:spcBef>
                        <a:spcAft>
                          <a:spcPts val="0"/>
                        </a:spcAft>
                        <a:buNone/>
                      </a:pPr>
                      <a:r>
                        <a:rPr lang="en" sz="800"/>
                        <a:t>0.477</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B531"/>
                    </a:solidFill>
                  </a:tcPr>
                </a:tc>
                <a:tc>
                  <a:txBody>
                    <a:bodyPr/>
                    <a:lstStyle/>
                    <a:p>
                      <a:pPr indent="0" lvl="0" marL="0" rtl="0" algn="l">
                        <a:spcBef>
                          <a:spcPts val="0"/>
                        </a:spcBef>
                        <a:spcAft>
                          <a:spcPts val="0"/>
                        </a:spcAft>
                        <a:buNone/>
                      </a:pPr>
                      <a:r>
                        <a:rPr lang="en" sz="800"/>
                        <a:t>0.476</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B531"/>
                    </a:solidFill>
                  </a:tcPr>
                </a:tc>
              </a:tr>
              <a:tr h="190500">
                <a:tc>
                  <a:txBody>
                    <a:bodyPr/>
                    <a:lstStyle/>
                    <a:p>
                      <a:pPr indent="0" lvl="0" marL="0" rtl="0" algn="l">
                        <a:spcBef>
                          <a:spcPts val="0"/>
                        </a:spcBef>
                        <a:spcAft>
                          <a:spcPts val="0"/>
                        </a:spcAft>
                        <a:buNone/>
                      </a:pPr>
                      <a:r>
                        <a:rPr b="1" lang="en" sz="800"/>
                        <a:t>Ethnicity</a:t>
                      </a:r>
                      <a:endParaRPr b="1"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spcBef>
                          <a:spcPts val="0"/>
                        </a:spcBef>
                        <a:spcAft>
                          <a:spcPts val="0"/>
                        </a:spcAft>
                        <a:buNone/>
                      </a:pPr>
                      <a:r>
                        <a:rPr lang="en" sz="800"/>
                        <a:t>American Indian/Alaska Native</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spcBef>
                          <a:spcPts val="0"/>
                        </a:spcBef>
                        <a:spcAft>
                          <a:spcPts val="0"/>
                        </a:spcAft>
                        <a:buNone/>
                      </a:pPr>
                      <a:r>
                        <a:rPr lang="en" sz="800"/>
                        <a:t>0.660</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spcBef>
                          <a:spcPts val="0"/>
                        </a:spcBef>
                        <a:spcAft>
                          <a:spcPts val="0"/>
                        </a:spcAft>
                        <a:buNone/>
                      </a:pPr>
                      <a:r>
                        <a:rPr lang="en" sz="800"/>
                        <a:t>0.641</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spcBef>
                          <a:spcPts val="0"/>
                        </a:spcBef>
                        <a:spcAft>
                          <a:spcPts val="0"/>
                        </a:spcAft>
                        <a:buNone/>
                      </a:pPr>
                      <a:r>
                        <a:rPr lang="en" sz="800"/>
                        <a:t>0.612</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r>
              <a:tr h="190500">
                <a:tc>
                  <a:txBody>
                    <a:bodyPr/>
                    <a:lstStyle/>
                    <a:p>
                      <a:pPr indent="0" lvl="0" marL="0" rtl="0" algn="l">
                        <a:spcBef>
                          <a:spcPts val="0"/>
                        </a:spcBef>
                        <a:spcAft>
                          <a:spcPts val="0"/>
                        </a:spcAft>
                        <a:buNone/>
                      </a:pPr>
                      <a:r>
                        <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spcBef>
                          <a:spcPts val="0"/>
                        </a:spcBef>
                        <a:spcAft>
                          <a:spcPts val="0"/>
                        </a:spcAft>
                        <a:buNone/>
                      </a:pPr>
                      <a:r>
                        <a:rPr lang="en" sz="800"/>
                        <a:t>Not Specified</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spcBef>
                          <a:spcPts val="0"/>
                        </a:spcBef>
                        <a:spcAft>
                          <a:spcPts val="0"/>
                        </a:spcAft>
                        <a:buNone/>
                      </a:pPr>
                      <a:r>
                        <a:rPr lang="en" sz="800"/>
                        <a:t>0.600</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spcBef>
                          <a:spcPts val="0"/>
                        </a:spcBef>
                        <a:spcAft>
                          <a:spcPts val="0"/>
                        </a:spcAft>
                        <a:buNone/>
                      </a:pPr>
                      <a:r>
                        <a:rPr lang="en" sz="800"/>
                        <a:t>0.589</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spcBef>
                          <a:spcPts val="0"/>
                        </a:spcBef>
                        <a:spcAft>
                          <a:spcPts val="0"/>
                        </a:spcAft>
                        <a:buNone/>
                      </a:pPr>
                      <a:r>
                        <a:rPr lang="en" sz="800"/>
                        <a:t>0.606</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r>
              <a:tr h="190500">
                <a:tc>
                  <a:txBody>
                    <a:bodyPr/>
                    <a:lstStyle/>
                    <a:p>
                      <a:pPr indent="0" lvl="0" marL="0" rtl="0" algn="l">
                        <a:spcBef>
                          <a:spcPts val="0"/>
                        </a:spcBef>
                        <a:spcAft>
                          <a:spcPts val="0"/>
                        </a:spcAft>
                        <a:buNone/>
                      </a:pPr>
                      <a:r>
                        <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spcBef>
                          <a:spcPts val="0"/>
                        </a:spcBef>
                        <a:spcAft>
                          <a:spcPts val="0"/>
                        </a:spcAft>
                        <a:buNone/>
                      </a:pPr>
                      <a:r>
                        <a:rPr lang="en" sz="800"/>
                        <a:t>White</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spcBef>
                          <a:spcPts val="0"/>
                        </a:spcBef>
                        <a:spcAft>
                          <a:spcPts val="0"/>
                        </a:spcAft>
                        <a:buNone/>
                      </a:pPr>
                      <a:r>
                        <a:rPr lang="en" sz="800"/>
                        <a:t>0.536</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spcBef>
                          <a:spcPts val="0"/>
                        </a:spcBef>
                        <a:spcAft>
                          <a:spcPts val="0"/>
                        </a:spcAft>
                        <a:buNone/>
                      </a:pPr>
                      <a:r>
                        <a:rPr lang="en" sz="800"/>
                        <a:t>0.536</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spcBef>
                          <a:spcPts val="0"/>
                        </a:spcBef>
                        <a:spcAft>
                          <a:spcPts val="0"/>
                        </a:spcAft>
                        <a:buNone/>
                      </a:pPr>
                      <a:r>
                        <a:rPr lang="en" sz="800"/>
                        <a:t>0.537</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r>
              <a:tr h="190500">
                <a:tc>
                  <a:txBody>
                    <a:bodyPr/>
                    <a:lstStyle/>
                    <a:p>
                      <a:pPr indent="0" lvl="0" marL="0" rtl="0" algn="l">
                        <a:spcBef>
                          <a:spcPts val="0"/>
                        </a:spcBef>
                        <a:spcAft>
                          <a:spcPts val="0"/>
                        </a:spcAft>
                        <a:buNone/>
                      </a:pPr>
                      <a:r>
                        <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spcBef>
                          <a:spcPts val="0"/>
                        </a:spcBef>
                        <a:spcAft>
                          <a:spcPts val="0"/>
                        </a:spcAft>
                        <a:buNone/>
                      </a:pPr>
                      <a:r>
                        <a:rPr lang="en" sz="800"/>
                        <a:t>Asian</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spcBef>
                          <a:spcPts val="0"/>
                        </a:spcBef>
                        <a:spcAft>
                          <a:spcPts val="0"/>
                        </a:spcAft>
                        <a:buNone/>
                      </a:pPr>
                      <a:r>
                        <a:rPr lang="en" sz="800"/>
                        <a:t>0.510</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spcBef>
                          <a:spcPts val="0"/>
                        </a:spcBef>
                        <a:spcAft>
                          <a:spcPts val="0"/>
                        </a:spcAft>
                        <a:buNone/>
                      </a:pPr>
                      <a:r>
                        <a:rPr lang="en" sz="800"/>
                        <a:t>0.505</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spcBef>
                          <a:spcPts val="0"/>
                        </a:spcBef>
                        <a:spcAft>
                          <a:spcPts val="0"/>
                        </a:spcAft>
                        <a:buNone/>
                      </a:pPr>
                      <a:r>
                        <a:rPr lang="en" sz="800"/>
                        <a:t>0.510</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r>
              <a:tr h="190500">
                <a:tc>
                  <a:txBody>
                    <a:bodyPr/>
                    <a:lstStyle/>
                    <a:p>
                      <a:pPr indent="0" lvl="0" marL="0" rtl="0" algn="l">
                        <a:spcBef>
                          <a:spcPts val="0"/>
                        </a:spcBef>
                        <a:spcAft>
                          <a:spcPts val="0"/>
                        </a:spcAft>
                        <a:buNone/>
                      </a:pPr>
                      <a:r>
                        <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spcBef>
                          <a:spcPts val="0"/>
                        </a:spcBef>
                        <a:spcAft>
                          <a:spcPts val="0"/>
                        </a:spcAft>
                        <a:buNone/>
                      </a:pPr>
                      <a:r>
                        <a:rPr lang="en" sz="800"/>
                        <a:t>Black/African American</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spcBef>
                          <a:spcPts val="0"/>
                        </a:spcBef>
                        <a:spcAft>
                          <a:spcPts val="0"/>
                        </a:spcAft>
                        <a:buNone/>
                      </a:pPr>
                      <a:r>
                        <a:rPr lang="en" sz="800"/>
                        <a:t>0.428</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spcBef>
                          <a:spcPts val="0"/>
                        </a:spcBef>
                        <a:spcAft>
                          <a:spcPts val="0"/>
                        </a:spcAft>
                        <a:buNone/>
                      </a:pPr>
                      <a:r>
                        <a:rPr lang="en" sz="800"/>
                        <a:t>0.432</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spcBef>
                          <a:spcPts val="0"/>
                        </a:spcBef>
                        <a:spcAft>
                          <a:spcPts val="0"/>
                        </a:spcAft>
                        <a:buNone/>
                      </a:pPr>
                      <a:r>
                        <a:rPr lang="en" sz="800"/>
                        <a:t>0.425</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r>
              <a:tr h="190500">
                <a:tc>
                  <a:txBody>
                    <a:bodyPr/>
                    <a:lstStyle/>
                    <a:p>
                      <a:pPr indent="0" lvl="0" marL="0" rtl="0" algn="l">
                        <a:spcBef>
                          <a:spcPts val="0"/>
                        </a:spcBef>
                        <a:spcAft>
                          <a:spcPts val="0"/>
                        </a:spcAft>
                        <a:buNone/>
                      </a:pPr>
                      <a:r>
                        <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spcBef>
                          <a:spcPts val="0"/>
                        </a:spcBef>
                        <a:spcAft>
                          <a:spcPts val="0"/>
                        </a:spcAft>
                        <a:buNone/>
                      </a:pPr>
                      <a:r>
                        <a:rPr lang="en" sz="800"/>
                        <a:t>Hispanic/Latino</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spcBef>
                          <a:spcPts val="0"/>
                        </a:spcBef>
                        <a:spcAft>
                          <a:spcPts val="0"/>
                        </a:spcAft>
                        <a:buNone/>
                      </a:pPr>
                      <a:r>
                        <a:rPr lang="en" sz="800"/>
                        <a:t>0.417</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spcBef>
                          <a:spcPts val="0"/>
                        </a:spcBef>
                        <a:spcAft>
                          <a:spcPts val="0"/>
                        </a:spcAft>
                        <a:buNone/>
                      </a:pPr>
                      <a:r>
                        <a:rPr lang="en" sz="800"/>
                        <a:t>0.428</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spcBef>
                          <a:spcPts val="0"/>
                        </a:spcBef>
                        <a:spcAft>
                          <a:spcPts val="0"/>
                        </a:spcAft>
                        <a:buNone/>
                      </a:pPr>
                      <a:r>
                        <a:rPr lang="en" sz="800"/>
                        <a:t>0.416</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r>
            </a:tbl>
          </a:graphicData>
        </a:graphic>
      </p:graphicFrame>
      <p:sp>
        <p:nvSpPr>
          <p:cNvPr id="239" name="Google Shape;239;p37"/>
          <p:cNvSpPr txBox="1"/>
          <p:nvPr>
            <p:ph type="title"/>
          </p:nvPr>
        </p:nvSpPr>
        <p:spPr>
          <a:xfrm>
            <a:off x="457200" y="702644"/>
            <a:ext cx="8229600" cy="644100"/>
          </a:xfrm>
          <a:prstGeom prst="rect">
            <a:avLst/>
          </a:prstGeom>
        </p:spPr>
        <p:txBody>
          <a:bodyPr anchorCtr="0" anchor="ctr" bIns="45700" lIns="91425" spcFirstLastPara="1" rIns="91425" wrap="square" tIns="45700">
            <a:normAutofit/>
          </a:bodyPr>
          <a:lstStyle/>
          <a:p>
            <a:pPr indent="0" lvl="0" marL="0" rtl="0" algn="ctr">
              <a:lnSpc>
                <a:spcPct val="115000"/>
              </a:lnSpc>
              <a:spcBef>
                <a:spcPts val="1200"/>
              </a:spcBef>
              <a:spcAft>
                <a:spcPts val="1200"/>
              </a:spcAft>
              <a:buNone/>
            </a:pPr>
            <a:r>
              <a:rPr lang="en" sz="3600"/>
              <a:t>Categorical Gap Analysis</a:t>
            </a:r>
            <a:endParaRPr sz="3600"/>
          </a:p>
        </p:txBody>
      </p:sp>
      <p:graphicFrame>
        <p:nvGraphicFramePr>
          <p:cNvPr id="240" name="Google Shape;240;p37"/>
          <p:cNvGraphicFramePr/>
          <p:nvPr/>
        </p:nvGraphicFramePr>
        <p:xfrm>
          <a:off x="4510500" y="1346750"/>
          <a:ext cx="3000000" cy="3000000"/>
        </p:xfrm>
        <a:graphic>
          <a:graphicData uri="http://schemas.openxmlformats.org/drawingml/2006/table">
            <a:tbl>
              <a:tblPr>
                <a:noFill/>
                <a:tableStyleId>{24C009FF-336C-47B4-8BC5-F4C2A9347E70}</a:tableStyleId>
              </a:tblPr>
              <a:tblGrid>
                <a:gridCol w="924525"/>
                <a:gridCol w="851600"/>
                <a:gridCol w="762650"/>
                <a:gridCol w="755175"/>
                <a:gridCol w="1021275"/>
              </a:tblGrid>
              <a:tr h="274400">
                <a:tc>
                  <a:txBody>
                    <a:bodyPr/>
                    <a:lstStyle/>
                    <a:p>
                      <a:pPr indent="0" lvl="0" marL="0" rtl="0" algn="l">
                        <a:spcBef>
                          <a:spcPts val="0"/>
                        </a:spcBef>
                        <a:spcAft>
                          <a:spcPts val="0"/>
                        </a:spcAft>
                        <a:buNone/>
                      </a:pPr>
                      <a:r>
                        <a:rPr b="1" lang="en" sz="800"/>
                        <a:t>HS GPA Band</a:t>
                      </a:r>
                      <a:endParaRPr b="1"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spcBef>
                          <a:spcPts val="0"/>
                        </a:spcBef>
                        <a:spcAft>
                          <a:spcPts val="0"/>
                        </a:spcAft>
                        <a:buNone/>
                      </a:pPr>
                      <a:r>
                        <a:rPr lang="en" sz="800"/>
                        <a:t>No GPA</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spcBef>
                          <a:spcPts val="0"/>
                        </a:spcBef>
                        <a:spcAft>
                          <a:spcPts val="0"/>
                        </a:spcAft>
                        <a:buNone/>
                      </a:pPr>
                      <a:r>
                        <a:rPr lang="en" sz="800"/>
                        <a:t>0.641</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spcBef>
                          <a:spcPts val="0"/>
                        </a:spcBef>
                        <a:spcAft>
                          <a:spcPts val="0"/>
                        </a:spcAft>
                        <a:buNone/>
                      </a:pPr>
                      <a:r>
                        <a:rPr lang="en" sz="800"/>
                        <a:t>0.559</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spcBef>
                          <a:spcPts val="0"/>
                        </a:spcBef>
                        <a:spcAft>
                          <a:spcPts val="0"/>
                        </a:spcAft>
                        <a:buNone/>
                      </a:pPr>
                      <a:r>
                        <a:rPr lang="en" sz="800"/>
                        <a:t>0.623</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r>
              <a:tr h="274400">
                <a:tc>
                  <a:txBody>
                    <a:bodyPr/>
                    <a:lstStyle/>
                    <a:p>
                      <a:pPr indent="0" lvl="0" marL="0" rtl="0" algn="l">
                        <a:spcBef>
                          <a:spcPts val="0"/>
                        </a:spcBef>
                        <a:spcAft>
                          <a:spcPts val="0"/>
                        </a:spcAft>
                        <a:buNone/>
                      </a:pPr>
                      <a:r>
                        <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spcBef>
                          <a:spcPts val="0"/>
                        </a:spcBef>
                        <a:spcAft>
                          <a:spcPts val="0"/>
                        </a:spcAft>
                        <a:buNone/>
                      </a:pPr>
                      <a:r>
                        <a:rPr lang="en" sz="800"/>
                        <a:t>3.5–3.99</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spcBef>
                          <a:spcPts val="0"/>
                        </a:spcBef>
                        <a:spcAft>
                          <a:spcPts val="0"/>
                        </a:spcAft>
                        <a:buNone/>
                      </a:pPr>
                      <a:r>
                        <a:rPr lang="en" sz="800"/>
                        <a:t>0.477</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spcBef>
                          <a:spcPts val="0"/>
                        </a:spcBef>
                        <a:spcAft>
                          <a:spcPts val="0"/>
                        </a:spcAft>
                        <a:buNone/>
                      </a:pPr>
                      <a:r>
                        <a:rPr lang="en" sz="800"/>
                        <a:t>0.474</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spcBef>
                          <a:spcPts val="0"/>
                        </a:spcBef>
                        <a:spcAft>
                          <a:spcPts val="0"/>
                        </a:spcAft>
                        <a:buNone/>
                      </a:pPr>
                      <a:r>
                        <a:rPr lang="en" sz="800"/>
                        <a:t>0.475</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r>
              <a:tr h="274400">
                <a:tc>
                  <a:txBody>
                    <a:bodyPr/>
                    <a:lstStyle/>
                    <a:p>
                      <a:pPr indent="0" lvl="0" marL="0" rtl="0" algn="l">
                        <a:spcBef>
                          <a:spcPts val="0"/>
                        </a:spcBef>
                        <a:spcAft>
                          <a:spcPts val="0"/>
                        </a:spcAft>
                        <a:buNone/>
                      </a:pPr>
                      <a:r>
                        <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spcBef>
                          <a:spcPts val="0"/>
                        </a:spcBef>
                        <a:spcAft>
                          <a:spcPts val="0"/>
                        </a:spcAft>
                        <a:buNone/>
                      </a:pPr>
                      <a:r>
                        <a:rPr lang="en" sz="800"/>
                        <a:t>4.0–4.49</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spcBef>
                          <a:spcPts val="0"/>
                        </a:spcBef>
                        <a:spcAft>
                          <a:spcPts val="0"/>
                        </a:spcAft>
                        <a:buNone/>
                      </a:pPr>
                      <a:r>
                        <a:rPr lang="en" sz="800"/>
                        <a:t>0.467</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spcBef>
                          <a:spcPts val="0"/>
                        </a:spcBef>
                        <a:spcAft>
                          <a:spcPts val="0"/>
                        </a:spcAft>
                        <a:buNone/>
                      </a:pPr>
                      <a:r>
                        <a:rPr lang="en" sz="800"/>
                        <a:t>0.466</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spcBef>
                          <a:spcPts val="0"/>
                        </a:spcBef>
                        <a:spcAft>
                          <a:spcPts val="0"/>
                        </a:spcAft>
                        <a:buNone/>
                      </a:pPr>
                      <a:r>
                        <a:rPr lang="en" sz="800"/>
                        <a:t>0.464</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r>
              <a:tr h="274400">
                <a:tc>
                  <a:txBody>
                    <a:bodyPr/>
                    <a:lstStyle/>
                    <a:p>
                      <a:pPr indent="0" lvl="0" marL="0" rtl="0" algn="l">
                        <a:spcBef>
                          <a:spcPts val="0"/>
                        </a:spcBef>
                        <a:spcAft>
                          <a:spcPts val="0"/>
                        </a:spcAft>
                        <a:buNone/>
                      </a:pPr>
                      <a:r>
                        <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spcBef>
                          <a:spcPts val="0"/>
                        </a:spcBef>
                        <a:spcAft>
                          <a:spcPts val="0"/>
                        </a:spcAft>
                        <a:buNone/>
                      </a:pPr>
                      <a:r>
                        <a:rPr lang="en" sz="800"/>
                        <a:t>2.5–2.99</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spcBef>
                          <a:spcPts val="0"/>
                        </a:spcBef>
                        <a:spcAft>
                          <a:spcPts val="0"/>
                        </a:spcAft>
                        <a:buNone/>
                      </a:pPr>
                      <a:r>
                        <a:rPr lang="en" sz="800"/>
                        <a:t>0.462</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spcBef>
                          <a:spcPts val="0"/>
                        </a:spcBef>
                        <a:spcAft>
                          <a:spcPts val="0"/>
                        </a:spcAft>
                        <a:buNone/>
                      </a:pPr>
                      <a:r>
                        <a:rPr lang="en" sz="800"/>
                        <a:t>0.463</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spcBef>
                          <a:spcPts val="0"/>
                        </a:spcBef>
                        <a:spcAft>
                          <a:spcPts val="0"/>
                        </a:spcAft>
                        <a:buNone/>
                      </a:pPr>
                      <a:r>
                        <a:rPr lang="en" sz="800"/>
                        <a:t>0.461</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r>
              <a:tr h="274400">
                <a:tc>
                  <a:txBody>
                    <a:bodyPr/>
                    <a:lstStyle/>
                    <a:p>
                      <a:pPr indent="0" lvl="0" marL="0" rtl="0" algn="l">
                        <a:spcBef>
                          <a:spcPts val="0"/>
                        </a:spcBef>
                        <a:spcAft>
                          <a:spcPts val="0"/>
                        </a:spcAft>
                        <a:buNone/>
                      </a:pPr>
                      <a:r>
                        <a:rPr b="1" lang="en" sz="800"/>
                        <a:t>HS Percentile</a:t>
                      </a:r>
                      <a:endParaRPr b="1"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B531"/>
                    </a:solidFill>
                  </a:tcPr>
                </a:tc>
                <a:tc>
                  <a:txBody>
                    <a:bodyPr/>
                    <a:lstStyle/>
                    <a:p>
                      <a:pPr indent="0" lvl="0" marL="0" rtl="0" algn="l">
                        <a:spcBef>
                          <a:spcPts val="0"/>
                        </a:spcBef>
                        <a:spcAft>
                          <a:spcPts val="0"/>
                        </a:spcAft>
                        <a:buNone/>
                      </a:pPr>
                      <a:r>
                        <a:rPr lang="en" sz="800"/>
                        <a:t>91–100%</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B531"/>
                    </a:solidFill>
                  </a:tcPr>
                </a:tc>
                <a:tc>
                  <a:txBody>
                    <a:bodyPr/>
                    <a:lstStyle/>
                    <a:p>
                      <a:pPr indent="0" lvl="0" marL="0" rtl="0" algn="l">
                        <a:spcBef>
                          <a:spcPts val="0"/>
                        </a:spcBef>
                        <a:spcAft>
                          <a:spcPts val="0"/>
                        </a:spcAft>
                        <a:buNone/>
                      </a:pPr>
                      <a:r>
                        <a:rPr lang="en" sz="800"/>
                        <a:t>0.633</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B531"/>
                    </a:solidFill>
                  </a:tcPr>
                </a:tc>
                <a:tc>
                  <a:txBody>
                    <a:bodyPr/>
                    <a:lstStyle/>
                    <a:p>
                      <a:pPr indent="0" lvl="0" marL="0" rtl="0" algn="l">
                        <a:spcBef>
                          <a:spcPts val="0"/>
                        </a:spcBef>
                        <a:spcAft>
                          <a:spcPts val="0"/>
                        </a:spcAft>
                        <a:buNone/>
                      </a:pPr>
                      <a:r>
                        <a:rPr lang="en" sz="800"/>
                        <a:t>0.629</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B531"/>
                    </a:solidFill>
                  </a:tcPr>
                </a:tc>
                <a:tc>
                  <a:txBody>
                    <a:bodyPr/>
                    <a:lstStyle/>
                    <a:p>
                      <a:pPr indent="0" lvl="0" marL="0" rtl="0" algn="l">
                        <a:spcBef>
                          <a:spcPts val="0"/>
                        </a:spcBef>
                        <a:spcAft>
                          <a:spcPts val="0"/>
                        </a:spcAft>
                        <a:buNone/>
                      </a:pPr>
                      <a:r>
                        <a:rPr lang="en" sz="800"/>
                        <a:t>0.621</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B531"/>
                    </a:solidFill>
                  </a:tcPr>
                </a:tc>
              </a:tr>
              <a:tr h="274400">
                <a:tc>
                  <a:txBody>
                    <a:bodyPr/>
                    <a:lstStyle/>
                    <a:p>
                      <a:pPr indent="0" lvl="0" marL="0" rtl="0" algn="l">
                        <a:spcBef>
                          <a:spcPts val="0"/>
                        </a:spcBef>
                        <a:spcAft>
                          <a:spcPts val="0"/>
                        </a:spcAft>
                        <a:buNone/>
                      </a:pPr>
                      <a:r>
                        <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B531"/>
                    </a:solidFill>
                  </a:tcPr>
                </a:tc>
                <a:tc>
                  <a:txBody>
                    <a:bodyPr/>
                    <a:lstStyle/>
                    <a:p>
                      <a:pPr indent="0" lvl="0" marL="0" rtl="0" algn="l">
                        <a:spcBef>
                          <a:spcPts val="0"/>
                        </a:spcBef>
                        <a:spcAft>
                          <a:spcPts val="0"/>
                        </a:spcAft>
                        <a:buNone/>
                      </a:pPr>
                      <a:r>
                        <a:rPr lang="en" sz="800"/>
                        <a:t>81–90%</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B531"/>
                    </a:solidFill>
                  </a:tcPr>
                </a:tc>
                <a:tc>
                  <a:txBody>
                    <a:bodyPr/>
                    <a:lstStyle/>
                    <a:p>
                      <a:pPr indent="0" lvl="0" marL="0" rtl="0" algn="l">
                        <a:spcBef>
                          <a:spcPts val="0"/>
                        </a:spcBef>
                        <a:spcAft>
                          <a:spcPts val="0"/>
                        </a:spcAft>
                        <a:buNone/>
                      </a:pPr>
                      <a:r>
                        <a:rPr lang="en" sz="800"/>
                        <a:t>0.536</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B531"/>
                    </a:solidFill>
                  </a:tcPr>
                </a:tc>
                <a:tc>
                  <a:txBody>
                    <a:bodyPr/>
                    <a:lstStyle/>
                    <a:p>
                      <a:pPr indent="0" lvl="0" marL="0" rtl="0" algn="l">
                        <a:spcBef>
                          <a:spcPts val="0"/>
                        </a:spcBef>
                        <a:spcAft>
                          <a:spcPts val="0"/>
                        </a:spcAft>
                        <a:buNone/>
                      </a:pPr>
                      <a:r>
                        <a:rPr lang="en" sz="800"/>
                        <a:t>0.526</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B531"/>
                    </a:solidFill>
                  </a:tcPr>
                </a:tc>
                <a:tc>
                  <a:txBody>
                    <a:bodyPr/>
                    <a:lstStyle/>
                    <a:p>
                      <a:pPr indent="0" lvl="0" marL="0" rtl="0" algn="l">
                        <a:spcBef>
                          <a:spcPts val="0"/>
                        </a:spcBef>
                        <a:spcAft>
                          <a:spcPts val="0"/>
                        </a:spcAft>
                        <a:buNone/>
                      </a:pPr>
                      <a:r>
                        <a:rPr lang="en" sz="800"/>
                        <a:t>0.528</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B531"/>
                    </a:solidFill>
                  </a:tcPr>
                </a:tc>
              </a:tr>
              <a:tr h="274400">
                <a:tc>
                  <a:txBody>
                    <a:bodyPr/>
                    <a:lstStyle/>
                    <a:p>
                      <a:pPr indent="0" lvl="0" marL="0" rtl="0" algn="l">
                        <a:spcBef>
                          <a:spcPts val="0"/>
                        </a:spcBef>
                        <a:spcAft>
                          <a:spcPts val="0"/>
                        </a:spcAft>
                        <a:buNone/>
                      </a:pPr>
                      <a:r>
                        <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B531"/>
                    </a:solidFill>
                  </a:tcPr>
                </a:tc>
                <a:tc>
                  <a:txBody>
                    <a:bodyPr/>
                    <a:lstStyle/>
                    <a:p>
                      <a:pPr indent="0" lvl="0" marL="0" rtl="0" algn="l">
                        <a:spcBef>
                          <a:spcPts val="0"/>
                        </a:spcBef>
                        <a:spcAft>
                          <a:spcPts val="0"/>
                        </a:spcAft>
                        <a:buNone/>
                      </a:pPr>
                      <a:r>
                        <a:rPr lang="en" sz="800"/>
                        <a:t>Unknown</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B531"/>
                    </a:solidFill>
                  </a:tcPr>
                </a:tc>
                <a:tc>
                  <a:txBody>
                    <a:bodyPr/>
                    <a:lstStyle/>
                    <a:p>
                      <a:pPr indent="0" lvl="0" marL="0" rtl="0" algn="l">
                        <a:spcBef>
                          <a:spcPts val="0"/>
                        </a:spcBef>
                        <a:spcAft>
                          <a:spcPts val="0"/>
                        </a:spcAft>
                        <a:buNone/>
                      </a:pPr>
                      <a:r>
                        <a:rPr lang="en" sz="800"/>
                        <a:t>0.482</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B531"/>
                    </a:solidFill>
                  </a:tcPr>
                </a:tc>
                <a:tc>
                  <a:txBody>
                    <a:bodyPr/>
                    <a:lstStyle/>
                    <a:p>
                      <a:pPr indent="0" lvl="0" marL="0" rtl="0" algn="l">
                        <a:spcBef>
                          <a:spcPts val="0"/>
                        </a:spcBef>
                        <a:spcAft>
                          <a:spcPts val="0"/>
                        </a:spcAft>
                        <a:buNone/>
                      </a:pPr>
                      <a:r>
                        <a:rPr lang="en" sz="800"/>
                        <a:t>0.482</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B531"/>
                    </a:solidFill>
                  </a:tcPr>
                </a:tc>
                <a:tc>
                  <a:txBody>
                    <a:bodyPr/>
                    <a:lstStyle/>
                    <a:p>
                      <a:pPr indent="0" lvl="0" marL="0" rtl="0" algn="l">
                        <a:spcBef>
                          <a:spcPts val="0"/>
                        </a:spcBef>
                        <a:spcAft>
                          <a:spcPts val="0"/>
                        </a:spcAft>
                        <a:buNone/>
                      </a:pPr>
                      <a:r>
                        <a:rPr lang="en" sz="800"/>
                        <a:t>0.482</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B531"/>
                    </a:solidFill>
                  </a:tcPr>
                </a:tc>
              </a:tr>
              <a:tr h="274400">
                <a:tc>
                  <a:txBody>
                    <a:bodyPr/>
                    <a:lstStyle/>
                    <a:p>
                      <a:pPr indent="0" lvl="0" marL="0" rtl="0" algn="l">
                        <a:spcBef>
                          <a:spcPts val="0"/>
                        </a:spcBef>
                        <a:spcAft>
                          <a:spcPts val="0"/>
                        </a:spcAft>
                        <a:buNone/>
                      </a:pPr>
                      <a:r>
                        <a:rPr b="1" lang="en" sz="800"/>
                        <a:t>SupportBin</a:t>
                      </a:r>
                      <a:endParaRPr b="1"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spcBef>
                          <a:spcPts val="0"/>
                        </a:spcBef>
                        <a:spcAft>
                          <a:spcPts val="0"/>
                        </a:spcAft>
                        <a:buNone/>
                      </a:pPr>
                      <a:r>
                        <a:rPr lang="en" sz="800"/>
                        <a:t>&gt;20K</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spcBef>
                          <a:spcPts val="0"/>
                        </a:spcBef>
                        <a:spcAft>
                          <a:spcPts val="0"/>
                        </a:spcAft>
                        <a:buNone/>
                      </a:pPr>
                      <a:r>
                        <a:rPr lang="en" sz="800"/>
                        <a:t>0.682</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spcBef>
                          <a:spcPts val="0"/>
                        </a:spcBef>
                        <a:spcAft>
                          <a:spcPts val="0"/>
                        </a:spcAft>
                        <a:buNone/>
                      </a:pPr>
                      <a:r>
                        <a:rPr lang="en" sz="800"/>
                        <a:t>0.681</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spcBef>
                          <a:spcPts val="0"/>
                        </a:spcBef>
                        <a:spcAft>
                          <a:spcPts val="0"/>
                        </a:spcAft>
                        <a:buNone/>
                      </a:pPr>
                      <a:r>
                        <a:rPr lang="en" sz="800"/>
                        <a:t>0.679</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r>
              <a:tr h="274400">
                <a:tc>
                  <a:txBody>
                    <a:bodyPr/>
                    <a:lstStyle/>
                    <a:p>
                      <a:pPr indent="0" lvl="0" marL="0" rtl="0" algn="l">
                        <a:spcBef>
                          <a:spcPts val="0"/>
                        </a:spcBef>
                        <a:spcAft>
                          <a:spcPts val="0"/>
                        </a:spcAft>
                        <a:buNone/>
                      </a:pPr>
                      <a:r>
                        <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spcBef>
                          <a:spcPts val="0"/>
                        </a:spcBef>
                        <a:spcAft>
                          <a:spcPts val="0"/>
                        </a:spcAft>
                        <a:buNone/>
                      </a:pPr>
                      <a:r>
                        <a:rPr lang="en" sz="800"/>
                        <a:t>15K–20K</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spcBef>
                          <a:spcPts val="0"/>
                        </a:spcBef>
                        <a:spcAft>
                          <a:spcPts val="0"/>
                        </a:spcAft>
                        <a:buNone/>
                      </a:pPr>
                      <a:r>
                        <a:rPr lang="en" sz="800"/>
                        <a:t>0.587</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spcBef>
                          <a:spcPts val="0"/>
                        </a:spcBef>
                        <a:spcAft>
                          <a:spcPts val="0"/>
                        </a:spcAft>
                        <a:buNone/>
                      </a:pPr>
                      <a:r>
                        <a:rPr lang="en" sz="800"/>
                        <a:t>0.575</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spcBef>
                          <a:spcPts val="0"/>
                        </a:spcBef>
                        <a:spcAft>
                          <a:spcPts val="0"/>
                        </a:spcAft>
                        <a:buNone/>
                      </a:pPr>
                      <a:r>
                        <a:rPr lang="en" sz="800"/>
                        <a:t>0.586</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r>
              <a:tr h="274400">
                <a:tc>
                  <a:txBody>
                    <a:bodyPr/>
                    <a:lstStyle/>
                    <a:p>
                      <a:pPr indent="0" lvl="0" marL="0" rtl="0" algn="l">
                        <a:spcBef>
                          <a:spcPts val="0"/>
                        </a:spcBef>
                        <a:spcAft>
                          <a:spcPts val="0"/>
                        </a:spcAft>
                        <a:buNone/>
                      </a:pPr>
                      <a:r>
                        <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spcBef>
                          <a:spcPts val="0"/>
                        </a:spcBef>
                        <a:spcAft>
                          <a:spcPts val="0"/>
                        </a:spcAft>
                        <a:buNone/>
                      </a:pPr>
                      <a:r>
                        <a:rPr lang="en" sz="800"/>
                        <a:t>10K–15K</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spcBef>
                          <a:spcPts val="0"/>
                        </a:spcBef>
                        <a:spcAft>
                          <a:spcPts val="0"/>
                        </a:spcAft>
                        <a:buNone/>
                      </a:pPr>
                      <a:r>
                        <a:rPr lang="en" sz="800"/>
                        <a:t>0.406</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spcBef>
                          <a:spcPts val="0"/>
                        </a:spcBef>
                        <a:spcAft>
                          <a:spcPts val="0"/>
                        </a:spcAft>
                        <a:buNone/>
                      </a:pPr>
                      <a:r>
                        <a:rPr lang="en" sz="800"/>
                        <a:t>0.407</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spcBef>
                          <a:spcPts val="0"/>
                        </a:spcBef>
                        <a:spcAft>
                          <a:spcPts val="0"/>
                        </a:spcAft>
                        <a:buNone/>
                      </a:pPr>
                      <a:r>
                        <a:rPr lang="en" sz="800"/>
                        <a:t>0.403</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r>
              <a:tr h="274400">
                <a:tc>
                  <a:txBody>
                    <a:bodyPr/>
                    <a:lstStyle/>
                    <a:p>
                      <a:pPr indent="0" lvl="0" marL="0" rtl="0" algn="l">
                        <a:spcBef>
                          <a:spcPts val="0"/>
                        </a:spcBef>
                        <a:spcAft>
                          <a:spcPts val="0"/>
                        </a:spcAft>
                        <a:buNone/>
                      </a:pPr>
                      <a:r>
                        <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spcBef>
                          <a:spcPts val="0"/>
                        </a:spcBef>
                        <a:spcAft>
                          <a:spcPts val="0"/>
                        </a:spcAft>
                        <a:buNone/>
                      </a:pPr>
                      <a:r>
                        <a:rPr lang="en" sz="800"/>
                        <a:t>5K–10K</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spcBef>
                          <a:spcPts val="0"/>
                        </a:spcBef>
                        <a:spcAft>
                          <a:spcPts val="0"/>
                        </a:spcAft>
                        <a:buNone/>
                      </a:pPr>
                      <a:r>
                        <a:rPr lang="en" sz="800"/>
                        <a:t>0.312</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spcBef>
                          <a:spcPts val="0"/>
                        </a:spcBef>
                        <a:spcAft>
                          <a:spcPts val="0"/>
                        </a:spcAft>
                        <a:buNone/>
                      </a:pPr>
                      <a:r>
                        <a:rPr lang="en" sz="800"/>
                        <a:t>0.320</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spcBef>
                          <a:spcPts val="0"/>
                        </a:spcBef>
                        <a:spcAft>
                          <a:spcPts val="0"/>
                        </a:spcAft>
                        <a:buNone/>
                      </a:pPr>
                      <a:r>
                        <a:rPr lang="en" sz="800"/>
                        <a:t>0.314</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r>
              <a:tr h="274400">
                <a:tc>
                  <a:txBody>
                    <a:bodyPr/>
                    <a:lstStyle/>
                    <a:p>
                      <a:pPr indent="0" lvl="0" marL="0" rtl="0" algn="l">
                        <a:spcBef>
                          <a:spcPts val="0"/>
                        </a:spcBef>
                        <a:spcAft>
                          <a:spcPts val="0"/>
                        </a:spcAft>
                        <a:buNone/>
                      </a:pPr>
                      <a:r>
                        <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spcBef>
                          <a:spcPts val="0"/>
                        </a:spcBef>
                        <a:spcAft>
                          <a:spcPts val="0"/>
                        </a:spcAft>
                        <a:buNone/>
                      </a:pPr>
                      <a:r>
                        <a:rPr lang="en" sz="800"/>
                        <a:t>&lt;5K</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spcBef>
                          <a:spcPts val="0"/>
                        </a:spcBef>
                        <a:spcAft>
                          <a:spcPts val="0"/>
                        </a:spcAft>
                        <a:buNone/>
                      </a:pPr>
                      <a:r>
                        <a:rPr lang="en" sz="800"/>
                        <a:t>0.258</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spcBef>
                          <a:spcPts val="0"/>
                        </a:spcBef>
                        <a:spcAft>
                          <a:spcPts val="0"/>
                        </a:spcAft>
                        <a:buNone/>
                      </a:pPr>
                      <a:r>
                        <a:rPr lang="en" sz="800"/>
                        <a:t>0.266</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spcBef>
                          <a:spcPts val="0"/>
                        </a:spcBef>
                        <a:spcAft>
                          <a:spcPts val="0"/>
                        </a:spcAft>
                        <a:buNone/>
                      </a:pPr>
                      <a:r>
                        <a:rPr lang="en" sz="800"/>
                        <a:t>0.264</a:t>
                      </a:r>
                      <a:endParaRPr sz="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sp>
        <p:nvSpPr>
          <p:cNvPr id="245" name="Google Shape;245;p38"/>
          <p:cNvSpPr txBox="1"/>
          <p:nvPr>
            <p:ph idx="1" type="body"/>
          </p:nvPr>
        </p:nvSpPr>
        <p:spPr>
          <a:xfrm>
            <a:off x="457200" y="1610174"/>
            <a:ext cx="8229600" cy="34893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Clr>
                <a:schemeClr val="dk1"/>
              </a:buClr>
              <a:buSzPts val="1100"/>
              <a:buFont typeface="Arial"/>
              <a:buNone/>
            </a:pPr>
            <a:r>
              <a:rPr b="1" lang="en" sz="800">
                <a:latin typeface="Arial"/>
                <a:ea typeface="Arial"/>
                <a:cs typeface="Arial"/>
                <a:sym typeface="Arial"/>
              </a:rPr>
              <a:t>Transfer students consistently outperform first-time freshmen</a:t>
            </a:r>
            <a:r>
              <a:rPr lang="en" sz="800">
                <a:latin typeface="Arial"/>
                <a:ea typeface="Arial"/>
                <a:cs typeface="Arial"/>
                <a:sym typeface="Arial"/>
              </a:rPr>
              <a:t>, and all three models (XGBoost Base, XGBoost Tuned, Gradient Boosting Tuned) confirm this pattern with high stability.</a:t>
            </a:r>
            <a:br>
              <a:rPr lang="en" sz="800">
                <a:latin typeface="Arial"/>
                <a:ea typeface="Arial"/>
                <a:cs typeface="Arial"/>
                <a:sym typeface="Arial"/>
              </a:rPr>
            </a:br>
            <a:endParaRPr sz="800">
              <a:latin typeface="Arial"/>
              <a:ea typeface="Arial"/>
              <a:cs typeface="Arial"/>
              <a:sym typeface="Arial"/>
            </a:endParaRPr>
          </a:p>
          <a:p>
            <a:pPr indent="0" lvl="0" marL="0" rtl="0" algn="l">
              <a:spcBef>
                <a:spcPts val="360"/>
              </a:spcBef>
              <a:spcAft>
                <a:spcPts val="0"/>
              </a:spcAft>
              <a:buClr>
                <a:schemeClr val="dk1"/>
              </a:buClr>
              <a:buSzPts val="1100"/>
              <a:buFont typeface="Arial"/>
              <a:buNone/>
            </a:pPr>
            <a:r>
              <a:rPr b="1" lang="en" sz="800">
                <a:latin typeface="Arial"/>
                <a:ea typeface="Arial"/>
                <a:cs typeface="Arial"/>
                <a:sym typeface="Arial"/>
              </a:rPr>
              <a:t>Female students show slightly higher graduation probabilities than male students</a:t>
            </a:r>
            <a:r>
              <a:rPr lang="en" sz="800">
                <a:latin typeface="Arial"/>
                <a:ea typeface="Arial"/>
                <a:cs typeface="Arial"/>
                <a:sym typeface="Arial"/>
              </a:rPr>
              <a:t>, a small but consistent advantage across all models.</a:t>
            </a:r>
            <a:br>
              <a:rPr lang="en" sz="800">
                <a:latin typeface="Arial"/>
                <a:ea typeface="Arial"/>
                <a:cs typeface="Arial"/>
                <a:sym typeface="Arial"/>
              </a:rPr>
            </a:br>
            <a:endParaRPr sz="800">
              <a:latin typeface="Arial"/>
              <a:ea typeface="Arial"/>
              <a:cs typeface="Arial"/>
              <a:sym typeface="Arial"/>
            </a:endParaRPr>
          </a:p>
          <a:p>
            <a:pPr indent="0" lvl="0" marL="0" rtl="0" algn="l">
              <a:spcBef>
                <a:spcPts val="360"/>
              </a:spcBef>
              <a:spcAft>
                <a:spcPts val="0"/>
              </a:spcAft>
              <a:buClr>
                <a:schemeClr val="dk1"/>
              </a:buClr>
              <a:buSzPts val="1100"/>
              <a:buFont typeface="Arial"/>
              <a:buNone/>
            </a:pPr>
            <a:r>
              <a:rPr b="1" lang="en" sz="800">
                <a:latin typeface="Arial"/>
                <a:ea typeface="Arial"/>
                <a:cs typeface="Arial"/>
                <a:sym typeface="Arial"/>
              </a:rPr>
              <a:t>Ethnicity patterns remain stable</a:t>
            </a:r>
            <a:r>
              <a:rPr lang="en" sz="800">
                <a:latin typeface="Arial"/>
                <a:ea typeface="Arial"/>
                <a:cs typeface="Arial"/>
                <a:sym typeface="Arial"/>
              </a:rPr>
              <a:t>:</a:t>
            </a:r>
            <a:endParaRPr sz="800">
              <a:latin typeface="Arial"/>
              <a:ea typeface="Arial"/>
              <a:cs typeface="Arial"/>
              <a:sym typeface="Arial"/>
            </a:endParaRPr>
          </a:p>
          <a:p>
            <a:pPr indent="-279400" lvl="0" marL="457200" rtl="0" algn="l">
              <a:lnSpc>
                <a:spcPct val="115000"/>
              </a:lnSpc>
              <a:spcBef>
                <a:spcPts val="1200"/>
              </a:spcBef>
              <a:spcAft>
                <a:spcPts val="0"/>
              </a:spcAft>
              <a:buSzPts val="800"/>
              <a:buChar char="●"/>
            </a:pPr>
            <a:r>
              <a:rPr lang="en" sz="800">
                <a:latin typeface="Arial"/>
                <a:ea typeface="Arial"/>
                <a:cs typeface="Arial"/>
                <a:sym typeface="Arial"/>
              </a:rPr>
              <a:t>Highest predicted outcomes: </a:t>
            </a:r>
            <a:r>
              <a:rPr i="1" lang="en" sz="800">
                <a:latin typeface="Arial"/>
                <a:ea typeface="Arial"/>
                <a:cs typeface="Arial"/>
                <a:sym typeface="Arial"/>
              </a:rPr>
              <a:t>American Indian/Alaska Native</a:t>
            </a:r>
            <a:r>
              <a:rPr lang="en" sz="800">
                <a:latin typeface="Arial"/>
                <a:ea typeface="Arial"/>
                <a:cs typeface="Arial"/>
                <a:sym typeface="Arial"/>
              </a:rPr>
              <a:t> and </a:t>
            </a:r>
            <a:r>
              <a:rPr i="1" lang="en" sz="800">
                <a:latin typeface="Arial"/>
                <a:ea typeface="Arial"/>
                <a:cs typeface="Arial"/>
                <a:sym typeface="Arial"/>
              </a:rPr>
              <a:t>Not Specified</a:t>
            </a:r>
            <a:r>
              <a:rPr lang="en" sz="800">
                <a:latin typeface="Arial"/>
                <a:ea typeface="Arial"/>
                <a:cs typeface="Arial"/>
                <a:sym typeface="Arial"/>
              </a:rPr>
              <a:t> groups.</a:t>
            </a:r>
            <a:endParaRPr sz="800">
              <a:latin typeface="Arial"/>
              <a:ea typeface="Arial"/>
              <a:cs typeface="Arial"/>
              <a:sym typeface="Arial"/>
            </a:endParaRPr>
          </a:p>
          <a:p>
            <a:pPr indent="-279400" lvl="0" marL="457200" rtl="0" algn="l">
              <a:lnSpc>
                <a:spcPct val="115000"/>
              </a:lnSpc>
              <a:spcBef>
                <a:spcPts val="0"/>
              </a:spcBef>
              <a:spcAft>
                <a:spcPts val="0"/>
              </a:spcAft>
              <a:buSzPts val="800"/>
              <a:buChar char="●"/>
            </a:pPr>
            <a:r>
              <a:rPr lang="en" sz="800">
                <a:latin typeface="Arial"/>
                <a:ea typeface="Arial"/>
                <a:cs typeface="Arial"/>
                <a:sym typeface="Arial"/>
              </a:rPr>
              <a:t>Lower predicted outcomes: </a:t>
            </a:r>
            <a:r>
              <a:rPr i="1" lang="en" sz="800">
                <a:latin typeface="Arial"/>
                <a:ea typeface="Arial"/>
                <a:cs typeface="Arial"/>
                <a:sym typeface="Arial"/>
              </a:rPr>
              <a:t>Black/African American</a:t>
            </a:r>
            <a:r>
              <a:rPr lang="en" sz="800">
                <a:latin typeface="Arial"/>
                <a:ea typeface="Arial"/>
                <a:cs typeface="Arial"/>
                <a:sym typeface="Arial"/>
              </a:rPr>
              <a:t> and </a:t>
            </a:r>
            <a:r>
              <a:rPr i="1" lang="en" sz="800">
                <a:latin typeface="Arial"/>
                <a:ea typeface="Arial"/>
                <a:cs typeface="Arial"/>
                <a:sym typeface="Arial"/>
              </a:rPr>
              <a:t>Hispanic/Latino</a:t>
            </a:r>
            <a:r>
              <a:rPr lang="en" sz="800">
                <a:latin typeface="Arial"/>
                <a:ea typeface="Arial"/>
                <a:cs typeface="Arial"/>
                <a:sym typeface="Arial"/>
              </a:rPr>
              <a:t> groups.</a:t>
            </a:r>
            <a:endParaRPr sz="8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 sz="800">
                <a:latin typeface="Arial"/>
                <a:ea typeface="Arial"/>
                <a:cs typeface="Arial"/>
                <a:sym typeface="Arial"/>
              </a:rPr>
              <a:t>Full-time enrollment in the first term strongly improves graduation predictions</a:t>
            </a:r>
            <a:r>
              <a:rPr lang="en" sz="800">
                <a:latin typeface="Arial"/>
                <a:ea typeface="Arial"/>
                <a:cs typeface="Arial"/>
                <a:sym typeface="Arial"/>
              </a:rPr>
              <a:t>, while part-time students consistently receive lower predictions.</a:t>
            </a:r>
            <a:br>
              <a:rPr lang="en" sz="800">
                <a:latin typeface="Arial"/>
                <a:ea typeface="Arial"/>
                <a:cs typeface="Arial"/>
                <a:sym typeface="Arial"/>
              </a:rPr>
            </a:br>
            <a:endParaRPr sz="800">
              <a:latin typeface="Arial"/>
              <a:ea typeface="Arial"/>
              <a:cs typeface="Arial"/>
              <a:sym typeface="Arial"/>
            </a:endParaRPr>
          </a:p>
          <a:p>
            <a:pPr indent="0" lvl="0" marL="0" rtl="0" algn="l">
              <a:spcBef>
                <a:spcPts val="360"/>
              </a:spcBef>
              <a:spcAft>
                <a:spcPts val="0"/>
              </a:spcAft>
              <a:buClr>
                <a:schemeClr val="dk1"/>
              </a:buClr>
              <a:buSzPts val="1100"/>
              <a:buFont typeface="Arial"/>
              <a:buNone/>
            </a:pPr>
            <a:r>
              <a:rPr b="1" lang="en" sz="800">
                <a:latin typeface="Arial"/>
                <a:ea typeface="Arial"/>
                <a:cs typeface="Arial"/>
                <a:sym typeface="Arial"/>
              </a:rPr>
              <a:t>Residence has a mild effect</a:t>
            </a:r>
            <a:r>
              <a:rPr lang="en" sz="800">
                <a:latin typeface="Arial"/>
                <a:ea typeface="Arial"/>
                <a:cs typeface="Arial"/>
                <a:sym typeface="Arial"/>
              </a:rPr>
              <a:t> on-campus students perform slightly better than commuters, but the difference is small.</a:t>
            </a:r>
            <a:br>
              <a:rPr lang="en" sz="800">
                <a:latin typeface="Arial"/>
                <a:ea typeface="Arial"/>
                <a:cs typeface="Arial"/>
                <a:sym typeface="Arial"/>
              </a:rPr>
            </a:br>
            <a:endParaRPr sz="800">
              <a:latin typeface="Arial"/>
              <a:ea typeface="Arial"/>
              <a:cs typeface="Arial"/>
              <a:sym typeface="Arial"/>
            </a:endParaRPr>
          </a:p>
          <a:p>
            <a:pPr indent="0" lvl="0" marL="0" rtl="0" algn="l">
              <a:spcBef>
                <a:spcPts val="360"/>
              </a:spcBef>
              <a:spcAft>
                <a:spcPts val="0"/>
              </a:spcAft>
              <a:buClr>
                <a:schemeClr val="dk1"/>
              </a:buClr>
              <a:buSzPts val="1100"/>
              <a:buFont typeface="Arial"/>
              <a:buNone/>
            </a:pPr>
            <a:r>
              <a:rPr b="1" lang="en" sz="800">
                <a:latin typeface="Arial"/>
                <a:ea typeface="Arial"/>
                <a:cs typeface="Arial"/>
                <a:sym typeface="Arial"/>
              </a:rPr>
              <a:t>High school percentile matters</a:t>
            </a:r>
            <a:r>
              <a:rPr lang="en" sz="800">
                <a:latin typeface="Arial"/>
                <a:ea typeface="Arial"/>
                <a:cs typeface="Arial"/>
                <a:sym typeface="Arial"/>
              </a:rPr>
              <a:t>: students in the </a:t>
            </a:r>
            <a:r>
              <a:rPr b="1" lang="en" sz="800">
                <a:latin typeface="Arial"/>
                <a:ea typeface="Arial"/>
                <a:cs typeface="Arial"/>
                <a:sym typeface="Arial"/>
              </a:rPr>
              <a:t>91–100% range</a:t>
            </a:r>
            <a:r>
              <a:rPr lang="en" sz="800">
                <a:latin typeface="Arial"/>
                <a:ea typeface="Arial"/>
                <a:cs typeface="Arial"/>
                <a:sym typeface="Arial"/>
              </a:rPr>
              <a:t> achieve the strongest predictions, while lower ranges and missing percentile data yield weaker outcomes.</a:t>
            </a:r>
            <a:br>
              <a:rPr lang="en" sz="800">
                <a:latin typeface="Arial"/>
                <a:ea typeface="Arial"/>
                <a:cs typeface="Arial"/>
                <a:sym typeface="Arial"/>
              </a:rPr>
            </a:br>
            <a:endParaRPr sz="800">
              <a:latin typeface="Arial"/>
              <a:ea typeface="Arial"/>
              <a:cs typeface="Arial"/>
              <a:sym typeface="Arial"/>
            </a:endParaRPr>
          </a:p>
          <a:p>
            <a:pPr indent="0" lvl="0" marL="0" rtl="0" algn="l">
              <a:spcBef>
                <a:spcPts val="360"/>
              </a:spcBef>
              <a:spcAft>
                <a:spcPts val="0"/>
              </a:spcAft>
              <a:buClr>
                <a:schemeClr val="dk1"/>
              </a:buClr>
              <a:buSzPts val="1100"/>
              <a:buFont typeface="Arial"/>
              <a:buNone/>
            </a:pPr>
            <a:r>
              <a:rPr b="1" lang="en" sz="800">
                <a:latin typeface="Arial"/>
                <a:ea typeface="Arial"/>
                <a:cs typeface="Arial"/>
                <a:sym typeface="Arial"/>
              </a:rPr>
              <a:t>Financial support shows the largest categorical impact</a:t>
            </a:r>
            <a:r>
              <a:rPr lang="en" sz="800">
                <a:latin typeface="Arial"/>
                <a:ea typeface="Arial"/>
                <a:cs typeface="Arial"/>
                <a:sym typeface="Arial"/>
              </a:rPr>
              <a:t>:</a:t>
            </a:r>
            <a:endParaRPr sz="800">
              <a:latin typeface="Arial"/>
              <a:ea typeface="Arial"/>
              <a:cs typeface="Arial"/>
              <a:sym typeface="Arial"/>
            </a:endParaRPr>
          </a:p>
          <a:p>
            <a:pPr indent="-279400" lvl="0" marL="457200" rtl="0" algn="l">
              <a:lnSpc>
                <a:spcPct val="115000"/>
              </a:lnSpc>
              <a:spcBef>
                <a:spcPts val="1200"/>
              </a:spcBef>
              <a:spcAft>
                <a:spcPts val="0"/>
              </a:spcAft>
              <a:buSzPts val="800"/>
              <a:buChar char="●"/>
            </a:pPr>
            <a:r>
              <a:rPr lang="en" sz="800">
                <a:latin typeface="Arial"/>
                <a:ea typeface="Arial"/>
                <a:cs typeface="Arial"/>
                <a:sym typeface="Arial"/>
              </a:rPr>
              <a:t>Students receiving </a:t>
            </a:r>
            <a:r>
              <a:rPr b="1" lang="en" sz="800">
                <a:latin typeface="Arial"/>
                <a:ea typeface="Arial"/>
                <a:cs typeface="Arial"/>
                <a:sym typeface="Arial"/>
              </a:rPr>
              <a:t>&gt; $20K</a:t>
            </a:r>
            <a:r>
              <a:rPr lang="en" sz="800">
                <a:latin typeface="Arial"/>
                <a:ea typeface="Arial"/>
                <a:cs typeface="Arial"/>
                <a:sym typeface="Arial"/>
              </a:rPr>
              <a:t> institutional aid reach ~0.68 predicted success.</a:t>
            </a:r>
            <a:endParaRPr sz="800">
              <a:latin typeface="Arial"/>
              <a:ea typeface="Arial"/>
              <a:cs typeface="Arial"/>
              <a:sym typeface="Arial"/>
            </a:endParaRPr>
          </a:p>
          <a:p>
            <a:pPr indent="-279400" lvl="0" marL="457200" rtl="0" algn="l">
              <a:lnSpc>
                <a:spcPct val="115000"/>
              </a:lnSpc>
              <a:spcBef>
                <a:spcPts val="0"/>
              </a:spcBef>
              <a:spcAft>
                <a:spcPts val="0"/>
              </a:spcAft>
              <a:buSzPts val="800"/>
              <a:buChar char="●"/>
            </a:pPr>
            <a:r>
              <a:rPr lang="en" sz="800">
                <a:latin typeface="Arial"/>
                <a:ea typeface="Arial"/>
                <a:cs typeface="Arial"/>
                <a:sym typeface="Arial"/>
              </a:rPr>
              <a:t>Students receiving </a:t>
            </a:r>
            <a:r>
              <a:rPr b="1" lang="en" sz="800">
                <a:latin typeface="Arial"/>
                <a:ea typeface="Arial"/>
                <a:cs typeface="Arial"/>
                <a:sym typeface="Arial"/>
              </a:rPr>
              <a:t>&lt; $5K</a:t>
            </a:r>
            <a:r>
              <a:rPr lang="en" sz="800">
                <a:latin typeface="Arial"/>
                <a:ea typeface="Arial"/>
                <a:cs typeface="Arial"/>
                <a:sym typeface="Arial"/>
              </a:rPr>
              <a:t> drop to ~0.26–0.32.</a:t>
            </a:r>
            <a:endParaRPr sz="800">
              <a:latin typeface="Arial"/>
              <a:ea typeface="Arial"/>
              <a:cs typeface="Arial"/>
              <a:sym typeface="Arial"/>
            </a:endParaRPr>
          </a:p>
          <a:p>
            <a:pPr indent="-279400" lvl="0" marL="457200" rtl="0" algn="l">
              <a:lnSpc>
                <a:spcPct val="115000"/>
              </a:lnSpc>
              <a:spcBef>
                <a:spcPts val="0"/>
              </a:spcBef>
              <a:spcAft>
                <a:spcPts val="0"/>
              </a:spcAft>
              <a:buSzPts val="800"/>
              <a:buChar char="●"/>
            </a:pPr>
            <a:r>
              <a:rPr lang="en" sz="800">
                <a:latin typeface="Arial"/>
                <a:ea typeface="Arial"/>
                <a:cs typeface="Arial"/>
                <a:sym typeface="Arial"/>
              </a:rPr>
              <a:t>This confirms that </a:t>
            </a:r>
            <a:r>
              <a:rPr b="1" lang="en" sz="800">
                <a:latin typeface="Arial"/>
                <a:ea typeface="Arial"/>
                <a:cs typeface="Arial"/>
                <a:sym typeface="Arial"/>
              </a:rPr>
              <a:t>institutional aid is one of the strongest predictors of persistence</a:t>
            </a:r>
            <a:r>
              <a:rPr lang="en" sz="800">
                <a:latin typeface="Arial"/>
                <a:ea typeface="Arial"/>
                <a:cs typeface="Arial"/>
                <a:sym typeface="Arial"/>
              </a:rPr>
              <a:t>.</a:t>
            </a:r>
            <a:endParaRPr sz="8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 sz="800">
                <a:latin typeface="Arial"/>
                <a:ea typeface="Arial"/>
                <a:cs typeface="Arial"/>
                <a:sym typeface="Arial"/>
              </a:rPr>
              <a:t>All three models produce nearly identical categorical structures</a:t>
            </a:r>
            <a:r>
              <a:rPr lang="en" sz="800">
                <a:latin typeface="Arial"/>
                <a:ea typeface="Arial"/>
                <a:cs typeface="Arial"/>
                <a:sym typeface="Arial"/>
              </a:rPr>
              <a:t>, demonstrating that these relationships are robust, consistent, and model-independent.</a:t>
            </a:r>
            <a:endParaRPr sz="800">
              <a:latin typeface="Arial"/>
              <a:ea typeface="Arial"/>
              <a:cs typeface="Arial"/>
              <a:sym typeface="Arial"/>
            </a:endParaRPr>
          </a:p>
          <a:p>
            <a:pPr indent="0" lvl="0" marL="0" rtl="0" algn="l">
              <a:spcBef>
                <a:spcPts val="360"/>
              </a:spcBef>
              <a:spcAft>
                <a:spcPts val="0"/>
              </a:spcAft>
              <a:buNone/>
            </a:pPr>
            <a:r>
              <a:t/>
            </a:r>
            <a:endParaRPr sz="800"/>
          </a:p>
        </p:txBody>
      </p:sp>
      <p:sp>
        <p:nvSpPr>
          <p:cNvPr id="246" name="Google Shape;246;p38"/>
          <p:cNvSpPr txBox="1"/>
          <p:nvPr>
            <p:ph type="title"/>
          </p:nvPr>
        </p:nvSpPr>
        <p:spPr>
          <a:xfrm>
            <a:off x="457200" y="702644"/>
            <a:ext cx="8229600" cy="644100"/>
          </a:xfrm>
          <a:prstGeom prst="rect">
            <a:avLst/>
          </a:prstGeom>
        </p:spPr>
        <p:txBody>
          <a:bodyPr anchorCtr="0" anchor="ctr" bIns="45700" lIns="91425" spcFirstLastPara="1" rIns="91425" wrap="square" tIns="45700">
            <a:normAutofit/>
          </a:bodyPr>
          <a:lstStyle/>
          <a:p>
            <a:pPr indent="0" lvl="0" marL="0" rtl="0" algn="ctr">
              <a:lnSpc>
                <a:spcPct val="115000"/>
              </a:lnSpc>
              <a:spcBef>
                <a:spcPts val="1200"/>
              </a:spcBef>
              <a:spcAft>
                <a:spcPts val="1200"/>
              </a:spcAft>
              <a:buNone/>
            </a:pPr>
            <a:r>
              <a:rPr lang="en" sz="3600"/>
              <a:t>Categorical Gap Analysis</a:t>
            </a:r>
            <a:endParaRPr sz="36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graphicFrame>
        <p:nvGraphicFramePr>
          <p:cNvPr id="251" name="Google Shape;251;p39"/>
          <p:cNvGraphicFramePr/>
          <p:nvPr/>
        </p:nvGraphicFramePr>
        <p:xfrm>
          <a:off x="3949438" y="1659225"/>
          <a:ext cx="3000000" cy="3000000"/>
        </p:xfrm>
        <a:graphic>
          <a:graphicData uri="http://schemas.openxmlformats.org/drawingml/2006/table">
            <a:tbl>
              <a:tblPr>
                <a:noFill/>
                <a:tableStyleId>{C5F09866-D726-440A-9C77-CD37D75BCD65}</a:tableStyleId>
              </a:tblPr>
              <a:tblGrid>
                <a:gridCol w="1339800"/>
                <a:gridCol w="1225175"/>
                <a:gridCol w="1293975"/>
                <a:gridCol w="1018875"/>
              </a:tblGrid>
              <a:tr h="278175">
                <a:tc>
                  <a:txBody>
                    <a:bodyPr/>
                    <a:lstStyle/>
                    <a:p>
                      <a:pPr indent="0" lvl="0" marL="0" rtl="0" algn="ctr">
                        <a:lnSpc>
                          <a:spcPct val="115000"/>
                        </a:lnSpc>
                        <a:spcBef>
                          <a:spcPts val="0"/>
                        </a:spcBef>
                        <a:spcAft>
                          <a:spcPts val="0"/>
                        </a:spcAft>
                        <a:buNone/>
                      </a:pPr>
                      <a:r>
                        <a:rPr b="1" lang="en" sz="800">
                          <a:solidFill>
                            <a:schemeClr val="lt1"/>
                          </a:solidFill>
                        </a:rPr>
                        <a:t>Policy Change</a:t>
                      </a:r>
                      <a:endParaRPr sz="800">
                        <a:solidFill>
                          <a:schemeClr val="lt1"/>
                        </a:solidFill>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40000"/>
                    </a:solidFill>
                  </a:tcPr>
                </a:tc>
                <a:tc>
                  <a:txBody>
                    <a:bodyPr/>
                    <a:lstStyle/>
                    <a:p>
                      <a:pPr indent="0" lvl="0" marL="0" rtl="0" algn="ctr">
                        <a:lnSpc>
                          <a:spcPct val="115000"/>
                        </a:lnSpc>
                        <a:spcBef>
                          <a:spcPts val="0"/>
                        </a:spcBef>
                        <a:spcAft>
                          <a:spcPts val="0"/>
                        </a:spcAft>
                        <a:buNone/>
                      </a:pPr>
                      <a:r>
                        <a:rPr b="1" lang="en" sz="800">
                          <a:solidFill>
                            <a:schemeClr val="lt1"/>
                          </a:solidFill>
                        </a:rPr>
                        <a:t>XGBoost Base </a:t>
                      </a:r>
                      <a:endParaRPr sz="800">
                        <a:solidFill>
                          <a:schemeClr val="lt1"/>
                        </a:solidFill>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40000"/>
                    </a:solidFill>
                  </a:tcPr>
                </a:tc>
                <a:tc>
                  <a:txBody>
                    <a:bodyPr/>
                    <a:lstStyle/>
                    <a:p>
                      <a:pPr indent="0" lvl="0" marL="0" rtl="0" algn="ctr">
                        <a:lnSpc>
                          <a:spcPct val="115000"/>
                        </a:lnSpc>
                        <a:spcBef>
                          <a:spcPts val="0"/>
                        </a:spcBef>
                        <a:spcAft>
                          <a:spcPts val="0"/>
                        </a:spcAft>
                        <a:buNone/>
                      </a:pPr>
                      <a:r>
                        <a:rPr b="1" lang="en" sz="800">
                          <a:solidFill>
                            <a:schemeClr val="lt1"/>
                          </a:solidFill>
                        </a:rPr>
                        <a:t>XGBoost Tuned </a:t>
                      </a:r>
                      <a:endParaRPr sz="800">
                        <a:solidFill>
                          <a:schemeClr val="lt1"/>
                        </a:solidFill>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40000"/>
                    </a:solidFill>
                  </a:tcPr>
                </a:tc>
                <a:tc>
                  <a:txBody>
                    <a:bodyPr/>
                    <a:lstStyle/>
                    <a:p>
                      <a:pPr indent="0" lvl="0" marL="0" rtl="0" algn="ctr">
                        <a:lnSpc>
                          <a:spcPct val="115000"/>
                        </a:lnSpc>
                        <a:spcBef>
                          <a:spcPts val="0"/>
                        </a:spcBef>
                        <a:spcAft>
                          <a:spcPts val="0"/>
                        </a:spcAft>
                        <a:buNone/>
                      </a:pPr>
                      <a:r>
                        <a:rPr b="1" lang="en" sz="800">
                          <a:solidFill>
                            <a:schemeClr val="lt1"/>
                          </a:solidFill>
                        </a:rPr>
                        <a:t>GB Tuned </a:t>
                      </a:r>
                      <a:endParaRPr sz="800">
                        <a:solidFill>
                          <a:schemeClr val="lt1"/>
                        </a:solidFill>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40000"/>
                    </a:solidFill>
                  </a:tcPr>
                </a:tc>
              </a:tr>
              <a:tr h="317500">
                <a:tc>
                  <a:txBody>
                    <a:bodyPr/>
                    <a:lstStyle/>
                    <a:p>
                      <a:pPr indent="0" lvl="0" marL="0" rtl="0" algn="l">
                        <a:lnSpc>
                          <a:spcPct val="115000"/>
                        </a:lnSpc>
                        <a:spcBef>
                          <a:spcPts val="0"/>
                        </a:spcBef>
                        <a:spcAft>
                          <a:spcPts val="0"/>
                        </a:spcAft>
                        <a:buNone/>
                      </a:pPr>
                      <a:r>
                        <a:rPr b="1" lang="en" sz="800"/>
                        <a:t>Force = New Transfer</a:t>
                      </a:r>
                      <a:endParaRPr sz="800"/>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lnSpc>
                          <a:spcPct val="115000"/>
                        </a:lnSpc>
                        <a:spcBef>
                          <a:spcPts val="0"/>
                        </a:spcBef>
                        <a:spcAft>
                          <a:spcPts val="0"/>
                        </a:spcAft>
                        <a:buNone/>
                      </a:pPr>
                      <a:r>
                        <a:rPr b="1" lang="en" sz="800"/>
                        <a:t>+7.62</a:t>
                      </a:r>
                      <a:endParaRPr sz="800"/>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lnSpc>
                          <a:spcPct val="115000"/>
                        </a:lnSpc>
                        <a:spcBef>
                          <a:spcPts val="0"/>
                        </a:spcBef>
                        <a:spcAft>
                          <a:spcPts val="0"/>
                        </a:spcAft>
                        <a:buNone/>
                      </a:pPr>
                      <a:r>
                        <a:rPr b="1" lang="en" sz="800"/>
                        <a:t>+5.90</a:t>
                      </a:r>
                      <a:endParaRPr sz="800"/>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lnSpc>
                          <a:spcPct val="115000"/>
                        </a:lnSpc>
                        <a:spcBef>
                          <a:spcPts val="0"/>
                        </a:spcBef>
                        <a:spcAft>
                          <a:spcPts val="0"/>
                        </a:spcAft>
                        <a:buNone/>
                      </a:pPr>
                      <a:r>
                        <a:rPr b="1" lang="en" sz="800"/>
                        <a:t>+8.97</a:t>
                      </a:r>
                      <a:endParaRPr sz="800"/>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r>
              <a:tr h="316475">
                <a:tc>
                  <a:txBody>
                    <a:bodyPr/>
                    <a:lstStyle/>
                    <a:p>
                      <a:pPr indent="0" lvl="0" marL="0" rtl="0" algn="l">
                        <a:lnSpc>
                          <a:spcPct val="115000"/>
                        </a:lnSpc>
                        <a:spcBef>
                          <a:spcPts val="0"/>
                        </a:spcBef>
                        <a:spcAft>
                          <a:spcPts val="0"/>
                        </a:spcAft>
                        <a:buNone/>
                      </a:pPr>
                      <a:r>
                        <a:rPr b="1" lang="en" sz="800"/>
                        <a:t>Ethnicity = International</a:t>
                      </a:r>
                      <a:endParaRPr sz="800"/>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B531"/>
                    </a:solidFill>
                  </a:tcPr>
                </a:tc>
                <a:tc>
                  <a:txBody>
                    <a:bodyPr/>
                    <a:lstStyle/>
                    <a:p>
                      <a:pPr indent="0" lvl="0" marL="0" rtl="0" algn="l">
                        <a:lnSpc>
                          <a:spcPct val="115000"/>
                        </a:lnSpc>
                        <a:spcBef>
                          <a:spcPts val="0"/>
                        </a:spcBef>
                        <a:spcAft>
                          <a:spcPts val="0"/>
                        </a:spcAft>
                        <a:buNone/>
                      </a:pPr>
                      <a:r>
                        <a:rPr lang="en" sz="800"/>
                        <a:t>+4.84</a:t>
                      </a:r>
                      <a:endParaRPr sz="800"/>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B531"/>
                    </a:solidFill>
                  </a:tcPr>
                </a:tc>
                <a:tc>
                  <a:txBody>
                    <a:bodyPr/>
                    <a:lstStyle/>
                    <a:p>
                      <a:pPr indent="0" lvl="0" marL="0" rtl="0" algn="l">
                        <a:lnSpc>
                          <a:spcPct val="115000"/>
                        </a:lnSpc>
                        <a:spcBef>
                          <a:spcPts val="0"/>
                        </a:spcBef>
                        <a:spcAft>
                          <a:spcPts val="0"/>
                        </a:spcAft>
                        <a:buNone/>
                      </a:pPr>
                      <a:r>
                        <a:rPr lang="en" sz="800"/>
                        <a:t>+2.97</a:t>
                      </a:r>
                      <a:endParaRPr sz="800"/>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B531"/>
                    </a:solidFill>
                  </a:tcPr>
                </a:tc>
                <a:tc>
                  <a:txBody>
                    <a:bodyPr/>
                    <a:lstStyle/>
                    <a:p>
                      <a:pPr indent="0" lvl="0" marL="0" rtl="0" algn="l">
                        <a:lnSpc>
                          <a:spcPct val="115000"/>
                        </a:lnSpc>
                        <a:spcBef>
                          <a:spcPts val="0"/>
                        </a:spcBef>
                        <a:spcAft>
                          <a:spcPts val="0"/>
                        </a:spcAft>
                        <a:buNone/>
                      </a:pPr>
                      <a:r>
                        <a:rPr lang="en" sz="800"/>
                        <a:t>+4.62</a:t>
                      </a:r>
                      <a:endParaRPr sz="800"/>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B531"/>
                    </a:solidFill>
                  </a:tcPr>
                </a:tc>
              </a:tr>
              <a:tr h="249425">
                <a:tc>
                  <a:txBody>
                    <a:bodyPr/>
                    <a:lstStyle/>
                    <a:p>
                      <a:pPr indent="0" lvl="0" marL="0" rtl="0" algn="l">
                        <a:lnSpc>
                          <a:spcPct val="115000"/>
                        </a:lnSpc>
                        <a:spcBef>
                          <a:spcPts val="0"/>
                        </a:spcBef>
                        <a:spcAft>
                          <a:spcPts val="0"/>
                        </a:spcAft>
                        <a:buNone/>
                      </a:pPr>
                      <a:r>
                        <a:rPr b="1" lang="en" sz="800"/>
                        <a:t>Ethnicity = Not Specified</a:t>
                      </a:r>
                      <a:endParaRPr sz="800"/>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lnSpc>
                          <a:spcPct val="115000"/>
                        </a:lnSpc>
                        <a:spcBef>
                          <a:spcPts val="0"/>
                        </a:spcBef>
                        <a:spcAft>
                          <a:spcPts val="0"/>
                        </a:spcAft>
                        <a:buNone/>
                      </a:pPr>
                      <a:r>
                        <a:rPr lang="en" sz="800"/>
                        <a:t>+4.16</a:t>
                      </a:r>
                      <a:endParaRPr sz="800"/>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lnSpc>
                          <a:spcPct val="115000"/>
                        </a:lnSpc>
                        <a:spcBef>
                          <a:spcPts val="0"/>
                        </a:spcBef>
                        <a:spcAft>
                          <a:spcPts val="0"/>
                        </a:spcAft>
                        <a:buNone/>
                      </a:pPr>
                      <a:r>
                        <a:rPr lang="en" sz="800"/>
                        <a:t>+2.74</a:t>
                      </a:r>
                      <a:endParaRPr sz="800"/>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lnSpc>
                          <a:spcPct val="115000"/>
                        </a:lnSpc>
                        <a:spcBef>
                          <a:spcPts val="0"/>
                        </a:spcBef>
                        <a:spcAft>
                          <a:spcPts val="0"/>
                        </a:spcAft>
                        <a:buNone/>
                      </a:pPr>
                      <a:r>
                        <a:rPr lang="en" sz="800"/>
                        <a:t>+4.46</a:t>
                      </a:r>
                      <a:endParaRPr sz="800"/>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r>
              <a:tr h="202575">
                <a:tc>
                  <a:txBody>
                    <a:bodyPr/>
                    <a:lstStyle/>
                    <a:p>
                      <a:pPr indent="0" lvl="0" marL="0" rtl="0" algn="l">
                        <a:lnSpc>
                          <a:spcPct val="115000"/>
                        </a:lnSpc>
                        <a:spcBef>
                          <a:spcPts val="0"/>
                        </a:spcBef>
                        <a:spcAft>
                          <a:spcPts val="0"/>
                        </a:spcAft>
                        <a:buNone/>
                      </a:pPr>
                      <a:r>
                        <a:rPr b="1" lang="en" sz="800"/>
                        <a:t>NeedStatus = No</a:t>
                      </a:r>
                      <a:endParaRPr sz="800"/>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B531"/>
                    </a:solidFill>
                  </a:tcPr>
                </a:tc>
                <a:tc>
                  <a:txBody>
                    <a:bodyPr/>
                    <a:lstStyle/>
                    <a:p>
                      <a:pPr indent="0" lvl="0" marL="0" rtl="0" algn="l">
                        <a:lnSpc>
                          <a:spcPct val="115000"/>
                        </a:lnSpc>
                        <a:spcBef>
                          <a:spcPts val="0"/>
                        </a:spcBef>
                        <a:spcAft>
                          <a:spcPts val="0"/>
                        </a:spcAft>
                        <a:buNone/>
                      </a:pPr>
                      <a:r>
                        <a:rPr lang="en" sz="800"/>
                        <a:t>+4.14</a:t>
                      </a:r>
                      <a:endParaRPr sz="800"/>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B531"/>
                    </a:solidFill>
                  </a:tcPr>
                </a:tc>
                <a:tc>
                  <a:txBody>
                    <a:bodyPr/>
                    <a:lstStyle/>
                    <a:p>
                      <a:pPr indent="0" lvl="0" marL="0" rtl="0" algn="l">
                        <a:lnSpc>
                          <a:spcPct val="115000"/>
                        </a:lnSpc>
                        <a:spcBef>
                          <a:spcPts val="0"/>
                        </a:spcBef>
                        <a:spcAft>
                          <a:spcPts val="0"/>
                        </a:spcAft>
                        <a:buNone/>
                      </a:pPr>
                      <a:r>
                        <a:rPr lang="en" sz="800"/>
                        <a:t>+2.86</a:t>
                      </a:r>
                      <a:endParaRPr sz="800"/>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B531"/>
                    </a:solidFill>
                  </a:tcPr>
                </a:tc>
                <a:tc>
                  <a:txBody>
                    <a:bodyPr/>
                    <a:lstStyle/>
                    <a:p>
                      <a:pPr indent="0" lvl="0" marL="0" rtl="0" algn="l">
                        <a:lnSpc>
                          <a:spcPct val="115000"/>
                        </a:lnSpc>
                        <a:spcBef>
                          <a:spcPts val="0"/>
                        </a:spcBef>
                        <a:spcAft>
                          <a:spcPts val="0"/>
                        </a:spcAft>
                        <a:buNone/>
                      </a:pPr>
                      <a:r>
                        <a:rPr lang="en" sz="800"/>
                        <a:t>+0.42</a:t>
                      </a:r>
                      <a:endParaRPr sz="800"/>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B531"/>
                    </a:solidFill>
                  </a:tcPr>
                </a:tc>
              </a:tr>
              <a:tr h="193000">
                <a:tc>
                  <a:txBody>
                    <a:bodyPr/>
                    <a:lstStyle/>
                    <a:p>
                      <a:pPr indent="0" lvl="0" marL="0" rtl="0" algn="l">
                        <a:lnSpc>
                          <a:spcPct val="115000"/>
                        </a:lnSpc>
                        <a:spcBef>
                          <a:spcPts val="0"/>
                        </a:spcBef>
                        <a:spcAft>
                          <a:spcPts val="0"/>
                        </a:spcAft>
                        <a:buNone/>
                      </a:pPr>
                      <a:r>
                        <a:rPr b="1" lang="en" sz="800"/>
                        <a:t>HighSchoolGPA +20%</a:t>
                      </a:r>
                      <a:endParaRPr sz="800"/>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lnSpc>
                          <a:spcPct val="115000"/>
                        </a:lnSpc>
                        <a:spcBef>
                          <a:spcPts val="0"/>
                        </a:spcBef>
                        <a:spcAft>
                          <a:spcPts val="0"/>
                        </a:spcAft>
                        <a:buNone/>
                      </a:pPr>
                      <a:r>
                        <a:rPr lang="en" sz="800"/>
                        <a:t>+2.49</a:t>
                      </a:r>
                      <a:endParaRPr sz="800"/>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lnSpc>
                          <a:spcPct val="115000"/>
                        </a:lnSpc>
                        <a:spcBef>
                          <a:spcPts val="0"/>
                        </a:spcBef>
                        <a:spcAft>
                          <a:spcPts val="0"/>
                        </a:spcAft>
                        <a:buNone/>
                      </a:pPr>
                      <a:r>
                        <a:rPr lang="en" sz="800"/>
                        <a:t>+1.71</a:t>
                      </a:r>
                      <a:endParaRPr sz="800"/>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lnSpc>
                          <a:spcPct val="115000"/>
                        </a:lnSpc>
                        <a:spcBef>
                          <a:spcPts val="0"/>
                        </a:spcBef>
                        <a:spcAft>
                          <a:spcPts val="0"/>
                        </a:spcAft>
                        <a:buNone/>
                      </a:pPr>
                      <a:r>
                        <a:rPr lang="en" sz="800"/>
                        <a:t>+1.98</a:t>
                      </a:r>
                      <a:endParaRPr sz="800"/>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r>
              <a:tr h="250475">
                <a:tc>
                  <a:txBody>
                    <a:bodyPr/>
                    <a:lstStyle/>
                    <a:p>
                      <a:pPr indent="0" lvl="0" marL="0" rtl="0" algn="l">
                        <a:lnSpc>
                          <a:spcPct val="115000"/>
                        </a:lnSpc>
                        <a:spcBef>
                          <a:spcPts val="0"/>
                        </a:spcBef>
                        <a:spcAft>
                          <a:spcPts val="0"/>
                        </a:spcAft>
                        <a:buNone/>
                      </a:pPr>
                      <a:r>
                        <a:rPr b="1" lang="en" sz="800"/>
                        <a:t>HighSchoolGPA +10%</a:t>
                      </a:r>
                      <a:endParaRPr sz="800"/>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B531"/>
                    </a:solidFill>
                  </a:tcPr>
                </a:tc>
                <a:tc>
                  <a:txBody>
                    <a:bodyPr/>
                    <a:lstStyle/>
                    <a:p>
                      <a:pPr indent="0" lvl="0" marL="0" rtl="0" algn="l">
                        <a:lnSpc>
                          <a:spcPct val="115000"/>
                        </a:lnSpc>
                        <a:spcBef>
                          <a:spcPts val="0"/>
                        </a:spcBef>
                        <a:spcAft>
                          <a:spcPts val="0"/>
                        </a:spcAft>
                        <a:buNone/>
                      </a:pPr>
                      <a:r>
                        <a:rPr lang="en" sz="800"/>
                        <a:t>+2.05</a:t>
                      </a:r>
                      <a:endParaRPr sz="800"/>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B531"/>
                    </a:solidFill>
                  </a:tcPr>
                </a:tc>
                <a:tc>
                  <a:txBody>
                    <a:bodyPr/>
                    <a:lstStyle/>
                    <a:p>
                      <a:pPr indent="0" lvl="0" marL="0" rtl="0" algn="l">
                        <a:lnSpc>
                          <a:spcPct val="115000"/>
                        </a:lnSpc>
                        <a:spcBef>
                          <a:spcPts val="0"/>
                        </a:spcBef>
                        <a:spcAft>
                          <a:spcPts val="0"/>
                        </a:spcAft>
                        <a:buNone/>
                      </a:pPr>
                      <a:r>
                        <a:rPr lang="en" sz="800"/>
                        <a:t>+1.38</a:t>
                      </a:r>
                      <a:endParaRPr sz="800"/>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B531"/>
                    </a:solidFill>
                  </a:tcPr>
                </a:tc>
                <a:tc>
                  <a:txBody>
                    <a:bodyPr/>
                    <a:lstStyle/>
                    <a:p>
                      <a:pPr indent="0" lvl="0" marL="0" rtl="0" algn="l">
                        <a:lnSpc>
                          <a:spcPct val="115000"/>
                        </a:lnSpc>
                        <a:spcBef>
                          <a:spcPts val="0"/>
                        </a:spcBef>
                        <a:spcAft>
                          <a:spcPts val="0"/>
                        </a:spcAft>
                        <a:buNone/>
                      </a:pPr>
                      <a:r>
                        <a:rPr lang="en" sz="800"/>
                        <a:t>+1.65</a:t>
                      </a:r>
                      <a:endParaRPr sz="800"/>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B531"/>
                    </a:solidFill>
                  </a:tcPr>
                </a:tc>
              </a:tr>
              <a:tr h="135525">
                <a:tc>
                  <a:txBody>
                    <a:bodyPr/>
                    <a:lstStyle/>
                    <a:p>
                      <a:pPr indent="0" lvl="0" marL="0" rtl="0" algn="l">
                        <a:lnSpc>
                          <a:spcPct val="115000"/>
                        </a:lnSpc>
                        <a:spcBef>
                          <a:spcPts val="0"/>
                        </a:spcBef>
                        <a:spcAft>
                          <a:spcPts val="0"/>
                        </a:spcAft>
                        <a:buNone/>
                      </a:pPr>
                      <a:r>
                        <a:rPr b="1" lang="en" sz="800"/>
                        <a:t>SupportBin: 15K–20K</a:t>
                      </a:r>
                      <a:endParaRPr sz="800"/>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lnSpc>
                          <a:spcPct val="115000"/>
                        </a:lnSpc>
                        <a:spcBef>
                          <a:spcPts val="0"/>
                        </a:spcBef>
                        <a:spcAft>
                          <a:spcPts val="0"/>
                        </a:spcAft>
                        <a:buNone/>
                      </a:pPr>
                      <a:r>
                        <a:rPr lang="en" sz="800"/>
                        <a:t>+2.64</a:t>
                      </a:r>
                      <a:endParaRPr sz="800"/>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lnSpc>
                          <a:spcPct val="115000"/>
                        </a:lnSpc>
                        <a:spcBef>
                          <a:spcPts val="0"/>
                        </a:spcBef>
                        <a:spcAft>
                          <a:spcPts val="0"/>
                        </a:spcAft>
                        <a:buNone/>
                      </a:pPr>
                      <a:r>
                        <a:rPr lang="en" sz="800"/>
                        <a:t>+2.37</a:t>
                      </a:r>
                      <a:endParaRPr sz="800"/>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lnSpc>
                          <a:spcPct val="115000"/>
                        </a:lnSpc>
                        <a:spcBef>
                          <a:spcPts val="0"/>
                        </a:spcBef>
                        <a:spcAft>
                          <a:spcPts val="0"/>
                        </a:spcAft>
                        <a:buNone/>
                      </a:pPr>
                      <a:r>
                        <a:rPr lang="en" sz="800"/>
                        <a:t>+1.03</a:t>
                      </a:r>
                      <a:endParaRPr sz="800"/>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r>
              <a:tr h="116350">
                <a:tc>
                  <a:txBody>
                    <a:bodyPr/>
                    <a:lstStyle/>
                    <a:p>
                      <a:pPr indent="0" lvl="0" marL="0" rtl="0" algn="l">
                        <a:lnSpc>
                          <a:spcPct val="115000"/>
                        </a:lnSpc>
                        <a:spcBef>
                          <a:spcPts val="0"/>
                        </a:spcBef>
                        <a:spcAft>
                          <a:spcPts val="0"/>
                        </a:spcAft>
                        <a:buNone/>
                      </a:pPr>
                      <a:r>
                        <a:rPr b="1" lang="en" sz="800"/>
                        <a:t>SupportBin: &gt;20K</a:t>
                      </a:r>
                      <a:endParaRPr sz="800"/>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B531"/>
                    </a:solidFill>
                  </a:tcPr>
                </a:tc>
                <a:tc>
                  <a:txBody>
                    <a:bodyPr/>
                    <a:lstStyle/>
                    <a:p>
                      <a:pPr indent="0" lvl="0" marL="0" rtl="0" algn="l">
                        <a:lnSpc>
                          <a:spcPct val="115000"/>
                        </a:lnSpc>
                        <a:spcBef>
                          <a:spcPts val="0"/>
                        </a:spcBef>
                        <a:spcAft>
                          <a:spcPts val="0"/>
                        </a:spcAft>
                        <a:buNone/>
                      </a:pPr>
                      <a:r>
                        <a:rPr lang="en" sz="800"/>
                        <a:t>+2.51</a:t>
                      </a:r>
                      <a:endParaRPr sz="800"/>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B531"/>
                    </a:solidFill>
                  </a:tcPr>
                </a:tc>
                <a:tc>
                  <a:txBody>
                    <a:bodyPr/>
                    <a:lstStyle/>
                    <a:p>
                      <a:pPr indent="0" lvl="0" marL="0" rtl="0" algn="l">
                        <a:lnSpc>
                          <a:spcPct val="115000"/>
                        </a:lnSpc>
                        <a:spcBef>
                          <a:spcPts val="0"/>
                        </a:spcBef>
                        <a:spcAft>
                          <a:spcPts val="0"/>
                        </a:spcAft>
                        <a:buNone/>
                      </a:pPr>
                      <a:r>
                        <a:rPr lang="en" sz="800"/>
                        <a:t>+5.42</a:t>
                      </a:r>
                      <a:endParaRPr sz="800"/>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B531"/>
                    </a:solidFill>
                  </a:tcPr>
                </a:tc>
                <a:tc>
                  <a:txBody>
                    <a:bodyPr/>
                    <a:lstStyle/>
                    <a:p>
                      <a:pPr indent="0" lvl="0" marL="0" rtl="0" algn="l">
                        <a:lnSpc>
                          <a:spcPct val="115000"/>
                        </a:lnSpc>
                        <a:spcBef>
                          <a:spcPts val="0"/>
                        </a:spcBef>
                        <a:spcAft>
                          <a:spcPts val="0"/>
                        </a:spcAft>
                        <a:buNone/>
                      </a:pPr>
                      <a:r>
                        <a:rPr lang="en" sz="800"/>
                        <a:t>+0.96</a:t>
                      </a:r>
                      <a:endParaRPr sz="800"/>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B531"/>
                    </a:solidFill>
                  </a:tcPr>
                </a:tc>
              </a:tr>
              <a:tr h="240875">
                <a:tc>
                  <a:txBody>
                    <a:bodyPr/>
                    <a:lstStyle/>
                    <a:p>
                      <a:pPr indent="0" lvl="0" marL="0" rtl="0" algn="l">
                        <a:lnSpc>
                          <a:spcPct val="115000"/>
                        </a:lnSpc>
                        <a:spcBef>
                          <a:spcPts val="0"/>
                        </a:spcBef>
                        <a:spcAft>
                          <a:spcPts val="0"/>
                        </a:spcAft>
                        <a:buNone/>
                      </a:pPr>
                      <a:r>
                        <a:rPr b="1" lang="en" sz="800"/>
                        <a:t>TotalSupport +20%</a:t>
                      </a:r>
                      <a:endParaRPr sz="800"/>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lnSpc>
                          <a:spcPct val="115000"/>
                        </a:lnSpc>
                        <a:spcBef>
                          <a:spcPts val="0"/>
                        </a:spcBef>
                        <a:spcAft>
                          <a:spcPts val="0"/>
                        </a:spcAft>
                        <a:buNone/>
                      </a:pPr>
                      <a:r>
                        <a:rPr lang="en" sz="800"/>
                        <a:t>+1.43</a:t>
                      </a:r>
                      <a:endParaRPr sz="800"/>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lnSpc>
                          <a:spcPct val="115000"/>
                        </a:lnSpc>
                        <a:spcBef>
                          <a:spcPts val="0"/>
                        </a:spcBef>
                        <a:spcAft>
                          <a:spcPts val="0"/>
                        </a:spcAft>
                        <a:buNone/>
                      </a:pPr>
                      <a:r>
                        <a:rPr lang="en" sz="800"/>
                        <a:t>+1.18</a:t>
                      </a:r>
                      <a:endParaRPr sz="800"/>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lnSpc>
                          <a:spcPct val="115000"/>
                        </a:lnSpc>
                        <a:spcBef>
                          <a:spcPts val="0"/>
                        </a:spcBef>
                        <a:spcAft>
                          <a:spcPts val="0"/>
                        </a:spcAft>
                        <a:buNone/>
                      </a:pPr>
                      <a:r>
                        <a:rPr lang="en" sz="800"/>
                        <a:t>+1.59</a:t>
                      </a:r>
                      <a:endParaRPr sz="800"/>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r>
              <a:tr h="201550">
                <a:tc>
                  <a:txBody>
                    <a:bodyPr/>
                    <a:lstStyle/>
                    <a:p>
                      <a:pPr indent="0" lvl="0" marL="0" rtl="0" algn="l">
                        <a:lnSpc>
                          <a:spcPct val="115000"/>
                        </a:lnSpc>
                        <a:spcBef>
                          <a:spcPts val="0"/>
                        </a:spcBef>
                        <a:spcAft>
                          <a:spcPts val="0"/>
                        </a:spcAft>
                        <a:buNone/>
                      </a:pPr>
                      <a:r>
                        <a:rPr b="1" lang="en" sz="800"/>
                        <a:t>Matric Gender = Female</a:t>
                      </a:r>
                      <a:endParaRPr sz="800"/>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B531"/>
                    </a:solidFill>
                  </a:tcPr>
                </a:tc>
                <a:tc>
                  <a:txBody>
                    <a:bodyPr/>
                    <a:lstStyle/>
                    <a:p>
                      <a:pPr indent="0" lvl="0" marL="0" rtl="0" algn="l">
                        <a:lnSpc>
                          <a:spcPct val="115000"/>
                        </a:lnSpc>
                        <a:spcBef>
                          <a:spcPts val="0"/>
                        </a:spcBef>
                        <a:spcAft>
                          <a:spcPts val="0"/>
                        </a:spcAft>
                        <a:buNone/>
                      </a:pPr>
                      <a:r>
                        <a:rPr lang="en" sz="800"/>
                        <a:t>+1.92</a:t>
                      </a:r>
                      <a:endParaRPr sz="800"/>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B531"/>
                    </a:solidFill>
                  </a:tcPr>
                </a:tc>
                <a:tc>
                  <a:txBody>
                    <a:bodyPr/>
                    <a:lstStyle/>
                    <a:p>
                      <a:pPr indent="0" lvl="0" marL="0" rtl="0" algn="l">
                        <a:lnSpc>
                          <a:spcPct val="115000"/>
                        </a:lnSpc>
                        <a:spcBef>
                          <a:spcPts val="0"/>
                        </a:spcBef>
                        <a:spcAft>
                          <a:spcPts val="0"/>
                        </a:spcAft>
                        <a:buNone/>
                      </a:pPr>
                      <a:r>
                        <a:rPr lang="en" sz="800"/>
                        <a:t>+0.00–0.27</a:t>
                      </a:r>
                      <a:endParaRPr sz="800"/>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B531"/>
                    </a:solidFill>
                  </a:tcPr>
                </a:tc>
                <a:tc>
                  <a:txBody>
                    <a:bodyPr/>
                    <a:lstStyle/>
                    <a:p>
                      <a:pPr indent="0" lvl="0" marL="0" rtl="0" algn="l">
                        <a:lnSpc>
                          <a:spcPct val="115000"/>
                        </a:lnSpc>
                        <a:spcBef>
                          <a:spcPts val="0"/>
                        </a:spcBef>
                        <a:spcAft>
                          <a:spcPts val="0"/>
                        </a:spcAft>
                        <a:buNone/>
                      </a:pPr>
                      <a:r>
                        <a:rPr lang="en" sz="800"/>
                        <a:t>+1.90</a:t>
                      </a:r>
                      <a:endParaRPr sz="800"/>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B531"/>
                    </a:solidFill>
                  </a:tcPr>
                </a:tc>
              </a:tr>
            </a:tbl>
          </a:graphicData>
        </a:graphic>
      </p:graphicFrame>
      <p:sp>
        <p:nvSpPr>
          <p:cNvPr id="252" name="Google Shape;252;p39"/>
          <p:cNvSpPr txBox="1"/>
          <p:nvPr>
            <p:ph type="title"/>
          </p:nvPr>
        </p:nvSpPr>
        <p:spPr>
          <a:xfrm>
            <a:off x="457200" y="702644"/>
            <a:ext cx="8229600" cy="644100"/>
          </a:xfrm>
          <a:prstGeom prst="rect">
            <a:avLst/>
          </a:prstGeom>
        </p:spPr>
        <p:txBody>
          <a:bodyPr anchorCtr="0" anchor="ctr" bIns="45700" lIns="91425" spcFirstLastPara="1" rIns="91425" wrap="square" tIns="45700">
            <a:normAutofit/>
          </a:bodyPr>
          <a:lstStyle/>
          <a:p>
            <a:pPr indent="0" lvl="0" marL="0" rtl="0" algn="ctr">
              <a:lnSpc>
                <a:spcPct val="115000"/>
              </a:lnSpc>
              <a:spcBef>
                <a:spcPts val="1400"/>
              </a:spcBef>
              <a:spcAft>
                <a:spcPts val="400"/>
              </a:spcAft>
              <a:buNone/>
            </a:pPr>
            <a:r>
              <a:rPr b="1" lang="en" sz="3600"/>
              <a:t>Positive</a:t>
            </a:r>
            <a:r>
              <a:rPr b="1" lang="en" sz="3600"/>
              <a:t> Policy Effects</a:t>
            </a:r>
            <a:endParaRPr sz="3600"/>
          </a:p>
        </p:txBody>
      </p:sp>
      <p:pic>
        <p:nvPicPr>
          <p:cNvPr descr="UMBC's Spring 2018 Commencement Honors Student Achievements, Community  Values - UMBC: University Of Maryland, Baltimore County" id="253" name="Google Shape;253;p39"/>
          <p:cNvPicPr preferRelativeResize="0"/>
          <p:nvPr>
            <p:ph idx="1" type="body"/>
          </p:nvPr>
        </p:nvPicPr>
        <p:blipFill rotWithShape="1">
          <a:blip r:embed="rId3">
            <a:alphaModFix/>
          </a:blip>
          <a:srcRect b="0" l="0" r="0" t="0"/>
          <a:stretch/>
        </p:blipFill>
        <p:spPr>
          <a:xfrm>
            <a:off x="380045" y="2315954"/>
            <a:ext cx="3366000" cy="17577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sp>
        <p:nvSpPr>
          <p:cNvPr id="258" name="Google Shape;258;p40"/>
          <p:cNvSpPr txBox="1"/>
          <p:nvPr>
            <p:ph type="title"/>
          </p:nvPr>
        </p:nvSpPr>
        <p:spPr>
          <a:xfrm>
            <a:off x="457200" y="702644"/>
            <a:ext cx="8229600" cy="644100"/>
          </a:xfrm>
          <a:prstGeom prst="rect">
            <a:avLst/>
          </a:prstGeom>
        </p:spPr>
        <p:txBody>
          <a:bodyPr anchorCtr="0" anchor="ctr" bIns="45700" lIns="91425" spcFirstLastPara="1" rIns="91425" wrap="square" tIns="45700">
            <a:normAutofit/>
          </a:bodyPr>
          <a:lstStyle/>
          <a:p>
            <a:pPr indent="0" lvl="0" marL="0" rtl="0" algn="ctr">
              <a:lnSpc>
                <a:spcPct val="115000"/>
              </a:lnSpc>
              <a:spcBef>
                <a:spcPts val="1400"/>
              </a:spcBef>
              <a:spcAft>
                <a:spcPts val="400"/>
              </a:spcAft>
              <a:buClr>
                <a:schemeClr val="dk1"/>
              </a:buClr>
              <a:buSzPts val="1100"/>
              <a:buFont typeface="Arial"/>
              <a:buNone/>
            </a:pPr>
            <a:r>
              <a:rPr b="1" lang="en" sz="3600"/>
              <a:t>Negative Policy Effects</a:t>
            </a:r>
            <a:endParaRPr sz="3600"/>
          </a:p>
        </p:txBody>
      </p:sp>
      <p:graphicFrame>
        <p:nvGraphicFramePr>
          <p:cNvPr id="259" name="Google Shape;259;p40"/>
          <p:cNvGraphicFramePr/>
          <p:nvPr/>
        </p:nvGraphicFramePr>
        <p:xfrm>
          <a:off x="4088975" y="1656150"/>
          <a:ext cx="3000000" cy="3000000"/>
        </p:xfrm>
        <a:graphic>
          <a:graphicData uri="http://schemas.openxmlformats.org/drawingml/2006/table">
            <a:tbl>
              <a:tblPr>
                <a:noFill/>
                <a:tableStyleId>{C5F09866-D726-440A-9C77-CD37D75BCD65}</a:tableStyleId>
              </a:tblPr>
              <a:tblGrid>
                <a:gridCol w="2124825"/>
                <a:gridCol w="917975"/>
                <a:gridCol w="1007050"/>
                <a:gridCol w="739775"/>
              </a:tblGrid>
              <a:tr h="317500">
                <a:tc>
                  <a:txBody>
                    <a:bodyPr/>
                    <a:lstStyle/>
                    <a:p>
                      <a:pPr indent="0" lvl="0" marL="0" rtl="0" algn="ctr">
                        <a:lnSpc>
                          <a:spcPct val="115000"/>
                        </a:lnSpc>
                        <a:spcBef>
                          <a:spcPts val="0"/>
                        </a:spcBef>
                        <a:spcAft>
                          <a:spcPts val="0"/>
                        </a:spcAft>
                        <a:buNone/>
                      </a:pPr>
                      <a:r>
                        <a:rPr b="1" lang="en" sz="800">
                          <a:solidFill>
                            <a:schemeClr val="lt1"/>
                          </a:solidFill>
                        </a:rPr>
                        <a:t>Policy Change</a:t>
                      </a:r>
                      <a:endParaRPr sz="800">
                        <a:solidFill>
                          <a:schemeClr val="lt1"/>
                        </a:solidFill>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40000"/>
                    </a:solidFill>
                  </a:tcPr>
                </a:tc>
                <a:tc>
                  <a:txBody>
                    <a:bodyPr/>
                    <a:lstStyle/>
                    <a:p>
                      <a:pPr indent="0" lvl="0" marL="0" rtl="0" algn="ctr">
                        <a:lnSpc>
                          <a:spcPct val="115000"/>
                        </a:lnSpc>
                        <a:spcBef>
                          <a:spcPts val="0"/>
                        </a:spcBef>
                        <a:spcAft>
                          <a:spcPts val="0"/>
                        </a:spcAft>
                        <a:buNone/>
                      </a:pPr>
                      <a:r>
                        <a:rPr b="1" lang="en" sz="800">
                          <a:solidFill>
                            <a:schemeClr val="lt1"/>
                          </a:solidFill>
                        </a:rPr>
                        <a:t>XGBoost Base</a:t>
                      </a:r>
                      <a:endParaRPr sz="800">
                        <a:solidFill>
                          <a:schemeClr val="lt1"/>
                        </a:solidFill>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40000"/>
                    </a:solidFill>
                  </a:tcPr>
                </a:tc>
                <a:tc>
                  <a:txBody>
                    <a:bodyPr/>
                    <a:lstStyle/>
                    <a:p>
                      <a:pPr indent="0" lvl="0" marL="0" rtl="0" algn="ctr">
                        <a:lnSpc>
                          <a:spcPct val="115000"/>
                        </a:lnSpc>
                        <a:spcBef>
                          <a:spcPts val="0"/>
                        </a:spcBef>
                        <a:spcAft>
                          <a:spcPts val="0"/>
                        </a:spcAft>
                        <a:buNone/>
                      </a:pPr>
                      <a:r>
                        <a:rPr b="1" lang="en" sz="800">
                          <a:solidFill>
                            <a:schemeClr val="lt1"/>
                          </a:solidFill>
                        </a:rPr>
                        <a:t>XGBoost Tuned</a:t>
                      </a:r>
                      <a:endParaRPr sz="800">
                        <a:solidFill>
                          <a:schemeClr val="lt1"/>
                        </a:solidFill>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40000"/>
                    </a:solidFill>
                  </a:tcPr>
                </a:tc>
                <a:tc>
                  <a:txBody>
                    <a:bodyPr/>
                    <a:lstStyle/>
                    <a:p>
                      <a:pPr indent="0" lvl="0" marL="0" rtl="0" algn="ctr">
                        <a:lnSpc>
                          <a:spcPct val="115000"/>
                        </a:lnSpc>
                        <a:spcBef>
                          <a:spcPts val="0"/>
                        </a:spcBef>
                        <a:spcAft>
                          <a:spcPts val="0"/>
                        </a:spcAft>
                        <a:buNone/>
                      </a:pPr>
                      <a:r>
                        <a:rPr b="1" lang="en" sz="800">
                          <a:solidFill>
                            <a:schemeClr val="lt1"/>
                          </a:solidFill>
                        </a:rPr>
                        <a:t>GB Tuned</a:t>
                      </a:r>
                      <a:endParaRPr sz="800">
                        <a:solidFill>
                          <a:schemeClr val="lt1"/>
                        </a:solidFill>
                      </a:endParaRPr>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40000"/>
                    </a:solidFill>
                  </a:tcPr>
                </a:tc>
              </a:tr>
              <a:tr h="317500">
                <a:tc>
                  <a:txBody>
                    <a:bodyPr/>
                    <a:lstStyle/>
                    <a:p>
                      <a:pPr indent="0" lvl="0" marL="0" rtl="0" algn="l">
                        <a:lnSpc>
                          <a:spcPct val="115000"/>
                        </a:lnSpc>
                        <a:spcBef>
                          <a:spcPts val="0"/>
                        </a:spcBef>
                        <a:spcAft>
                          <a:spcPts val="0"/>
                        </a:spcAft>
                        <a:buNone/>
                      </a:pPr>
                      <a:r>
                        <a:rPr b="1" lang="en" sz="800"/>
                        <a:t>Force = New Freshman</a:t>
                      </a:r>
                      <a:endParaRPr sz="800"/>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lnSpc>
                          <a:spcPct val="115000"/>
                        </a:lnSpc>
                        <a:spcBef>
                          <a:spcPts val="0"/>
                        </a:spcBef>
                        <a:spcAft>
                          <a:spcPts val="0"/>
                        </a:spcAft>
                        <a:buNone/>
                      </a:pPr>
                      <a:r>
                        <a:rPr b="1" lang="en" sz="800"/>
                        <a:t>–8.16</a:t>
                      </a:r>
                      <a:endParaRPr sz="800"/>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lnSpc>
                          <a:spcPct val="115000"/>
                        </a:lnSpc>
                        <a:spcBef>
                          <a:spcPts val="0"/>
                        </a:spcBef>
                        <a:spcAft>
                          <a:spcPts val="0"/>
                        </a:spcAft>
                        <a:buNone/>
                      </a:pPr>
                      <a:r>
                        <a:rPr b="1" lang="en" sz="800"/>
                        <a:t>–7.82</a:t>
                      </a:r>
                      <a:endParaRPr sz="800"/>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lnSpc>
                          <a:spcPct val="115000"/>
                        </a:lnSpc>
                        <a:spcBef>
                          <a:spcPts val="0"/>
                        </a:spcBef>
                        <a:spcAft>
                          <a:spcPts val="0"/>
                        </a:spcAft>
                        <a:buNone/>
                      </a:pPr>
                      <a:r>
                        <a:rPr b="1" lang="en" sz="800"/>
                        <a:t>–9.32</a:t>
                      </a:r>
                      <a:endParaRPr sz="800"/>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r>
              <a:tr h="317500">
                <a:tc>
                  <a:txBody>
                    <a:bodyPr/>
                    <a:lstStyle/>
                    <a:p>
                      <a:pPr indent="0" lvl="0" marL="0" rtl="0" algn="l">
                        <a:lnSpc>
                          <a:spcPct val="115000"/>
                        </a:lnSpc>
                        <a:spcBef>
                          <a:spcPts val="0"/>
                        </a:spcBef>
                        <a:spcAft>
                          <a:spcPts val="0"/>
                        </a:spcAft>
                        <a:buNone/>
                      </a:pPr>
                      <a:r>
                        <a:rPr b="1" lang="en" sz="800"/>
                        <a:t>Ethnicity = Hispanic/Latino</a:t>
                      </a:r>
                      <a:endParaRPr sz="800"/>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B531"/>
                    </a:solidFill>
                  </a:tcPr>
                </a:tc>
                <a:tc>
                  <a:txBody>
                    <a:bodyPr/>
                    <a:lstStyle/>
                    <a:p>
                      <a:pPr indent="0" lvl="0" marL="0" rtl="0" algn="l">
                        <a:lnSpc>
                          <a:spcPct val="115000"/>
                        </a:lnSpc>
                        <a:spcBef>
                          <a:spcPts val="0"/>
                        </a:spcBef>
                        <a:spcAft>
                          <a:spcPts val="0"/>
                        </a:spcAft>
                        <a:buNone/>
                      </a:pPr>
                      <a:r>
                        <a:rPr lang="en" sz="800"/>
                        <a:t>–5.25</a:t>
                      </a:r>
                      <a:endParaRPr sz="800"/>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B531"/>
                    </a:solidFill>
                  </a:tcPr>
                </a:tc>
                <a:tc>
                  <a:txBody>
                    <a:bodyPr/>
                    <a:lstStyle/>
                    <a:p>
                      <a:pPr indent="0" lvl="0" marL="0" rtl="0" algn="l">
                        <a:lnSpc>
                          <a:spcPct val="115000"/>
                        </a:lnSpc>
                        <a:spcBef>
                          <a:spcPts val="0"/>
                        </a:spcBef>
                        <a:spcAft>
                          <a:spcPts val="0"/>
                        </a:spcAft>
                        <a:buNone/>
                      </a:pPr>
                      <a:r>
                        <a:rPr lang="en" sz="800"/>
                        <a:t>–4.39</a:t>
                      </a:r>
                      <a:endParaRPr sz="800"/>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B531"/>
                    </a:solidFill>
                  </a:tcPr>
                </a:tc>
                <a:tc>
                  <a:txBody>
                    <a:bodyPr/>
                    <a:lstStyle/>
                    <a:p>
                      <a:pPr indent="0" lvl="0" marL="0" rtl="0" algn="l">
                        <a:lnSpc>
                          <a:spcPct val="115000"/>
                        </a:lnSpc>
                        <a:spcBef>
                          <a:spcPts val="0"/>
                        </a:spcBef>
                        <a:spcAft>
                          <a:spcPts val="0"/>
                        </a:spcAft>
                        <a:buNone/>
                      </a:pPr>
                      <a:r>
                        <a:rPr lang="en" sz="800"/>
                        <a:t>–5.54</a:t>
                      </a:r>
                      <a:endParaRPr sz="800"/>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B531"/>
                    </a:solidFill>
                  </a:tcPr>
                </a:tc>
              </a:tr>
              <a:tr h="317500">
                <a:tc>
                  <a:txBody>
                    <a:bodyPr/>
                    <a:lstStyle/>
                    <a:p>
                      <a:pPr indent="0" lvl="0" marL="0" rtl="0" algn="l">
                        <a:lnSpc>
                          <a:spcPct val="115000"/>
                        </a:lnSpc>
                        <a:spcBef>
                          <a:spcPts val="0"/>
                        </a:spcBef>
                        <a:spcAft>
                          <a:spcPts val="0"/>
                        </a:spcAft>
                        <a:buNone/>
                      </a:pPr>
                      <a:r>
                        <a:rPr b="1" lang="en" sz="800"/>
                        <a:t>Ethnicity = Black/African American</a:t>
                      </a:r>
                      <a:endParaRPr sz="800"/>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lnSpc>
                          <a:spcPct val="115000"/>
                        </a:lnSpc>
                        <a:spcBef>
                          <a:spcPts val="0"/>
                        </a:spcBef>
                        <a:spcAft>
                          <a:spcPts val="0"/>
                        </a:spcAft>
                        <a:buNone/>
                      </a:pPr>
                      <a:r>
                        <a:rPr lang="en" sz="800"/>
                        <a:t>–3.98</a:t>
                      </a:r>
                      <a:endParaRPr sz="800"/>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lnSpc>
                          <a:spcPct val="115000"/>
                        </a:lnSpc>
                        <a:spcBef>
                          <a:spcPts val="0"/>
                        </a:spcBef>
                        <a:spcAft>
                          <a:spcPts val="0"/>
                        </a:spcAft>
                        <a:buNone/>
                      </a:pPr>
                      <a:r>
                        <a:rPr lang="en" sz="800"/>
                        <a:t>–3.39</a:t>
                      </a:r>
                      <a:endParaRPr sz="800"/>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lnSpc>
                          <a:spcPct val="115000"/>
                        </a:lnSpc>
                        <a:spcBef>
                          <a:spcPts val="0"/>
                        </a:spcBef>
                        <a:spcAft>
                          <a:spcPts val="0"/>
                        </a:spcAft>
                        <a:buNone/>
                      </a:pPr>
                      <a:r>
                        <a:rPr lang="en" sz="800"/>
                        <a:t>–3.98</a:t>
                      </a:r>
                      <a:endParaRPr sz="800"/>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r>
              <a:tr h="317500">
                <a:tc>
                  <a:txBody>
                    <a:bodyPr/>
                    <a:lstStyle/>
                    <a:p>
                      <a:pPr indent="0" lvl="0" marL="0" rtl="0" algn="l">
                        <a:lnSpc>
                          <a:spcPct val="115000"/>
                        </a:lnSpc>
                        <a:spcBef>
                          <a:spcPts val="0"/>
                        </a:spcBef>
                        <a:spcAft>
                          <a:spcPts val="0"/>
                        </a:spcAft>
                        <a:buNone/>
                      </a:pPr>
                      <a:r>
                        <a:rPr b="1" lang="en" sz="800"/>
                        <a:t>Out of State Resident</a:t>
                      </a:r>
                      <a:endParaRPr sz="800"/>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B531"/>
                    </a:solidFill>
                  </a:tcPr>
                </a:tc>
                <a:tc>
                  <a:txBody>
                    <a:bodyPr/>
                    <a:lstStyle/>
                    <a:p>
                      <a:pPr indent="0" lvl="0" marL="0" rtl="0" algn="l">
                        <a:lnSpc>
                          <a:spcPct val="115000"/>
                        </a:lnSpc>
                        <a:spcBef>
                          <a:spcPts val="0"/>
                        </a:spcBef>
                        <a:spcAft>
                          <a:spcPts val="0"/>
                        </a:spcAft>
                        <a:buNone/>
                      </a:pPr>
                      <a:r>
                        <a:rPr lang="en" sz="800"/>
                        <a:t>–5.44</a:t>
                      </a:r>
                      <a:endParaRPr sz="800"/>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B531"/>
                    </a:solidFill>
                  </a:tcPr>
                </a:tc>
                <a:tc>
                  <a:txBody>
                    <a:bodyPr/>
                    <a:lstStyle/>
                    <a:p>
                      <a:pPr indent="0" lvl="0" marL="0" rtl="0" algn="l">
                        <a:lnSpc>
                          <a:spcPct val="115000"/>
                        </a:lnSpc>
                        <a:spcBef>
                          <a:spcPts val="0"/>
                        </a:spcBef>
                        <a:spcAft>
                          <a:spcPts val="0"/>
                        </a:spcAft>
                        <a:buNone/>
                      </a:pPr>
                      <a:r>
                        <a:rPr lang="en" sz="800"/>
                        <a:t>–4.27</a:t>
                      </a:r>
                      <a:endParaRPr sz="800"/>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B531"/>
                    </a:solidFill>
                  </a:tcPr>
                </a:tc>
                <a:tc>
                  <a:txBody>
                    <a:bodyPr/>
                    <a:lstStyle/>
                    <a:p>
                      <a:pPr indent="0" lvl="0" marL="0" rtl="0" algn="l">
                        <a:lnSpc>
                          <a:spcPct val="115000"/>
                        </a:lnSpc>
                        <a:spcBef>
                          <a:spcPts val="0"/>
                        </a:spcBef>
                        <a:spcAft>
                          <a:spcPts val="0"/>
                        </a:spcAft>
                        <a:buNone/>
                      </a:pPr>
                      <a:r>
                        <a:rPr lang="en" sz="800"/>
                        <a:t>–5.18</a:t>
                      </a:r>
                      <a:endParaRPr sz="800"/>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B531"/>
                    </a:solidFill>
                  </a:tcPr>
                </a:tc>
              </a:tr>
              <a:tr h="317500">
                <a:tc>
                  <a:txBody>
                    <a:bodyPr/>
                    <a:lstStyle/>
                    <a:p>
                      <a:pPr indent="0" lvl="0" marL="0" rtl="0" algn="l">
                        <a:lnSpc>
                          <a:spcPct val="115000"/>
                        </a:lnSpc>
                        <a:spcBef>
                          <a:spcPts val="0"/>
                        </a:spcBef>
                        <a:spcAft>
                          <a:spcPts val="0"/>
                        </a:spcAft>
                        <a:buNone/>
                      </a:pPr>
                      <a:r>
                        <a:rPr b="1" lang="en" sz="800"/>
                        <a:t>SupportBin &lt;5K</a:t>
                      </a:r>
                      <a:endParaRPr sz="800"/>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lnSpc>
                          <a:spcPct val="115000"/>
                        </a:lnSpc>
                        <a:spcBef>
                          <a:spcPts val="0"/>
                        </a:spcBef>
                        <a:spcAft>
                          <a:spcPts val="0"/>
                        </a:spcAft>
                        <a:buNone/>
                      </a:pPr>
                      <a:r>
                        <a:rPr lang="en" sz="800"/>
                        <a:t>–2.20</a:t>
                      </a:r>
                      <a:endParaRPr sz="800"/>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lnSpc>
                          <a:spcPct val="115000"/>
                        </a:lnSpc>
                        <a:spcBef>
                          <a:spcPts val="0"/>
                        </a:spcBef>
                        <a:spcAft>
                          <a:spcPts val="0"/>
                        </a:spcAft>
                        <a:buNone/>
                      </a:pPr>
                      <a:r>
                        <a:rPr lang="en" sz="800"/>
                        <a:t>–3.32</a:t>
                      </a:r>
                      <a:endParaRPr sz="800"/>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lnSpc>
                          <a:spcPct val="115000"/>
                        </a:lnSpc>
                        <a:spcBef>
                          <a:spcPts val="0"/>
                        </a:spcBef>
                        <a:spcAft>
                          <a:spcPts val="0"/>
                        </a:spcAft>
                        <a:buNone/>
                      </a:pPr>
                      <a:r>
                        <a:rPr lang="en" sz="800"/>
                        <a:t>–0.16</a:t>
                      </a:r>
                      <a:endParaRPr sz="800"/>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r>
              <a:tr h="317500">
                <a:tc>
                  <a:txBody>
                    <a:bodyPr/>
                    <a:lstStyle/>
                    <a:p>
                      <a:pPr indent="0" lvl="0" marL="0" rtl="0" algn="l">
                        <a:lnSpc>
                          <a:spcPct val="115000"/>
                        </a:lnSpc>
                        <a:spcBef>
                          <a:spcPts val="0"/>
                        </a:spcBef>
                        <a:spcAft>
                          <a:spcPts val="0"/>
                        </a:spcAft>
                        <a:buNone/>
                      </a:pPr>
                      <a:r>
                        <a:rPr b="1" lang="en" sz="800"/>
                        <a:t>HighSchoolGPA –20%</a:t>
                      </a:r>
                      <a:endParaRPr sz="800"/>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B531"/>
                    </a:solidFill>
                  </a:tcPr>
                </a:tc>
                <a:tc>
                  <a:txBody>
                    <a:bodyPr/>
                    <a:lstStyle/>
                    <a:p>
                      <a:pPr indent="0" lvl="0" marL="0" rtl="0" algn="l">
                        <a:lnSpc>
                          <a:spcPct val="115000"/>
                        </a:lnSpc>
                        <a:spcBef>
                          <a:spcPts val="0"/>
                        </a:spcBef>
                        <a:spcAft>
                          <a:spcPts val="0"/>
                        </a:spcAft>
                        <a:buNone/>
                      </a:pPr>
                      <a:r>
                        <a:rPr lang="en" sz="800"/>
                        <a:t>–3.03</a:t>
                      </a:r>
                      <a:endParaRPr sz="800"/>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B531"/>
                    </a:solidFill>
                  </a:tcPr>
                </a:tc>
                <a:tc>
                  <a:txBody>
                    <a:bodyPr/>
                    <a:lstStyle/>
                    <a:p>
                      <a:pPr indent="0" lvl="0" marL="0" rtl="0" algn="l">
                        <a:lnSpc>
                          <a:spcPct val="115000"/>
                        </a:lnSpc>
                        <a:spcBef>
                          <a:spcPts val="0"/>
                        </a:spcBef>
                        <a:spcAft>
                          <a:spcPts val="0"/>
                        </a:spcAft>
                        <a:buNone/>
                      </a:pPr>
                      <a:r>
                        <a:rPr lang="en" sz="800"/>
                        <a:t>–2.61</a:t>
                      </a:r>
                      <a:endParaRPr sz="800"/>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B531"/>
                    </a:solidFill>
                  </a:tcPr>
                </a:tc>
                <a:tc>
                  <a:txBody>
                    <a:bodyPr/>
                    <a:lstStyle/>
                    <a:p>
                      <a:pPr indent="0" lvl="0" marL="0" rtl="0" algn="l">
                        <a:lnSpc>
                          <a:spcPct val="115000"/>
                        </a:lnSpc>
                        <a:spcBef>
                          <a:spcPts val="0"/>
                        </a:spcBef>
                        <a:spcAft>
                          <a:spcPts val="0"/>
                        </a:spcAft>
                        <a:buNone/>
                      </a:pPr>
                      <a:r>
                        <a:rPr lang="en" sz="800"/>
                        <a:t>–2.30</a:t>
                      </a:r>
                      <a:endParaRPr sz="800"/>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B531"/>
                    </a:solidFill>
                  </a:tcPr>
                </a:tc>
              </a:tr>
              <a:tr h="317500">
                <a:tc>
                  <a:txBody>
                    <a:bodyPr/>
                    <a:lstStyle/>
                    <a:p>
                      <a:pPr indent="0" lvl="0" marL="0" rtl="0" algn="l">
                        <a:lnSpc>
                          <a:spcPct val="115000"/>
                        </a:lnSpc>
                        <a:spcBef>
                          <a:spcPts val="0"/>
                        </a:spcBef>
                        <a:spcAft>
                          <a:spcPts val="0"/>
                        </a:spcAft>
                        <a:buNone/>
                      </a:pPr>
                      <a:r>
                        <a:rPr b="1" lang="en" sz="800"/>
                        <a:t>TotalSupport –20%</a:t>
                      </a:r>
                      <a:endParaRPr sz="800"/>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lnSpc>
                          <a:spcPct val="115000"/>
                        </a:lnSpc>
                        <a:spcBef>
                          <a:spcPts val="0"/>
                        </a:spcBef>
                        <a:spcAft>
                          <a:spcPts val="0"/>
                        </a:spcAft>
                        <a:buNone/>
                      </a:pPr>
                      <a:r>
                        <a:rPr lang="en" sz="800"/>
                        <a:t>–2.06</a:t>
                      </a:r>
                      <a:endParaRPr sz="800"/>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lnSpc>
                          <a:spcPct val="115000"/>
                        </a:lnSpc>
                        <a:spcBef>
                          <a:spcPts val="0"/>
                        </a:spcBef>
                        <a:spcAft>
                          <a:spcPts val="0"/>
                        </a:spcAft>
                        <a:buNone/>
                      </a:pPr>
                      <a:r>
                        <a:rPr lang="en" sz="800"/>
                        <a:t>–1.77</a:t>
                      </a:r>
                      <a:endParaRPr sz="800"/>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c>
                  <a:txBody>
                    <a:bodyPr/>
                    <a:lstStyle/>
                    <a:p>
                      <a:pPr indent="0" lvl="0" marL="0" rtl="0" algn="l">
                        <a:lnSpc>
                          <a:spcPct val="115000"/>
                        </a:lnSpc>
                        <a:spcBef>
                          <a:spcPts val="0"/>
                        </a:spcBef>
                        <a:spcAft>
                          <a:spcPts val="0"/>
                        </a:spcAft>
                        <a:buNone/>
                      </a:pPr>
                      <a:r>
                        <a:rPr lang="en" sz="800"/>
                        <a:t>–2.30</a:t>
                      </a:r>
                      <a:endParaRPr sz="800"/>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A6A6A6"/>
                    </a:solidFill>
                  </a:tcPr>
                </a:tc>
              </a:tr>
              <a:tr h="317500">
                <a:tc>
                  <a:txBody>
                    <a:bodyPr/>
                    <a:lstStyle/>
                    <a:p>
                      <a:pPr indent="0" lvl="0" marL="0" rtl="0" algn="l">
                        <a:lnSpc>
                          <a:spcPct val="115000"/>
                        </a:lnSpc>
                        <a:spcBef>
                          <a:spcPts val="0"/>
                        </a:spcBef>
                        <a:spcAft>
                          <a:spcPts val="0"/>
                        </a:spcAft>
                        <a:buNone/>
                      </a:pPr>
                      <a:r>
                        <a:rPr b="1" lang="en" sz="800"/>
                        <a:t>SAT/Eng/ALEKS –20%</a:t>
                      </a:r>
                      <a:endParaRPr sz="800"/>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B531"/>
                    </a:solidFill>
                  </a:tcPr>
                </a:tc>
                <a:tc>
                  <a:txBody>
                    <a:bodyPr/>
                    <a:lstStyle/>
                    <a:p>
                      <a:pPr indent="0" lvl="0" marL="0" rtl="0" algn="l">
                        <a:lnSpc>
                          <a:spcPct val="115000"/>
                        </a:lnSpc>
                        <a:spcBef>
                          <a:spcPts val="0"/>
                        </a:spcBef>
                        <a:spcAft>
                          <a:spcPts val="0"/>
                        </a:spcAft>
                        <a:buNone/>
                      </a:pPr>
                      <a:r>
                        <a:rPr lang="en" sz="800"/>
                        <a:t>–1.3 to –1.7</a:t>
                      </a:r>
                      <a:endParaRPr sz="800"/>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B531"/>
                    </a:solidFill>
                  </a:tcPr>
                </a:tc>
                <a:tc>
                  <a:txBody>
                    <a:bodyPr/>
                    <a:lstStyle/>
                    <a:p>
                      <a:pPr indent="0" lvl="0" marL="0" rtl="0" algn="l">
                        <a:lnSpc>
                          <a:spcPct val="115000"/>
                        </a:lnSpc>
                        <a:spcBef>
                          <a:spcPts val="0"/>
                        </a:spcBef>
                        <a:spcAft>
                          <a:spcPts val="0"/>
                        </a:spcAft>
                        <a:buNone/>
                      </a:pPr>
                      <a:r>
                        <a:rPr lang="en" sz="800"/>
                        <a:t>–1.2 to –1.7</a:t>
                      </a:r>
                      <a:endParaRPr sz="800"/>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B531"/>
                    </a:solidFill>
                  </a:tcPr>
                </a:tc>
                <a:tc>
                  <a:txBody>
                    <a:bodyPr/>
                    <a:lstStyle/>
                    <a:p>
                      <a:pPr indent="0" lvl="0" marL="0" rtl="0" algn="l">
                        <a:lnSpc>
                          <a:spcPct val="115000"/>
                        </a:lnSpc>
                        <a:spcBef>
                          <a:spcPts val="0"/>
                        </a:spcBef>
                        <a:spcAft>
                          <a:spcPts val="0"/>
                        </a:spcAft>
                        <a:buNone/>
                      </a:pPr>
                      <a:r>
                        <a:rPr lang="en" sz="800"/>
                        <a:t>–1.5 to –2.0</a:t>
                      </a:r>
                      <a:endParaRPr sz="800"/>
                    </a:p>
                  </a:txBody>
                  <a:tcPr marT="63500" marB="63500" marR="63500" marL="6350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EBB531"/>
                    </a:solidFill>
                  </a:tcPr>
                </a:tc>
              </a:tr>
            </a:tbl>
          </a:graphicData>
        </a:graphic>
      </p:graphicFrame>
      <p:pic>
        <p:nvPicPr>
          <p:cNvPr descr="UMBC's Spring 2018 Commencement Honors Student Achievements, Community  Values - UMBC: University Of Maryland, Baltimore County" id="260" name="Google Shape;260;p40"/>
          <p:cNvPicPr preferRelativeResize="0"/>
          <p:nvPr>
            <p:ph idx="1" type="body"/>
          </p:nvPr>
        </p:nvPicPr>
        <p:blipFill rotWithShape="1">
          <a:blip r:embed="rId3">
            <a:alphaModFix/>
          </a:blip>
          <a:srcRect b="0" l="0" r="0" t="0"/>
          <a:stretch/>
        </p:blipFill>
        <p:spPr>
          <a:xfrm>
            <a:off x="457195" y="2377029"/>
            <a:ext cx="3366000" cy="17577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41"/>
          <p:cNvSpPr txBox="1"/>
          <p:nvPr>
            <p:ph type="title"/>
          </p:nvPr>
        </p:nvSpPr>
        <p:spPr>
          <a:xfrm>
            <a:off x="457200" y="702644"/>
            <a:ext cx="8229600" cy="644100"/>
          </a:xfrm>
          <a:prstGeom prst="rect">
            <a:avLst/>
          </a:prstGeom>
        </p:spPr>
        <p:txBody>
          <a:bodyPr anchorCtr="0" anchor="ctr" bIns="45700" lIns="91425" spcFirstLastPara="1" rIns="91425" wrap="square" tIns="45700">
            <a:normAutofit/>
          </a:bodyPr>
          <a:lstStyle/>
          <a:p>
            <a:pPr indent="0" lvl="0" marL="0" rtl="0" algn="ctr">
              <a:lnSpc>
                <a:spcPct val="115000"/>
              </a:lnSpc>
              <a:spcBef>
                <a:spcPts val="1200"/>
              </a:spcBef>
              <a:spcAft>
                <a:spcPts val="1200"/>
              </a:spcAft>
              <a:buClr>
                <a:schemeClr val="dk1"/>
              </a:buClr>
              <a:buSzPts val="1100"/>
              <a:buFont typeface="Arial"/>
              <a:buNone/>
            </a:pPr>
            <a:r>
              <a:rPr b="1" lang="en" sz="3600"/>
              <a:t> Policy Simulation</a:t>
            </a:r>
            <a:endParaRPr b="1" sz="3600"/>
          </a:p>
        </p:txBody>
      </p:sp>
      <p:sp>
        <p:nvSpPr>
          <p:cNvPr id="266" name="Google Shape;266;p41"/>
          <p:cNvSpPr txBox="1"/>
          <p:nvPr>
            <p:ph idx="1" type="body"/>
          </p:nvPr>
        </p:nvSpPr>
        <p:spPr>
          <a:xfrm>
            <a:off x="457200" y="1610175"/>
            <a:ext cx="8229600" cy="3343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Clr>
                <a:schemeClr val="dk1"/>
              </a:buClr>
              <a:buSzPts val="1100"/>
              <a:buFont typeface="Arial"/>
              <a:buNone/>
            </a:pPr>
            <a:r>
              <a:rPr b="1" lang="en" sz="800">
                <a:latin typeface="Arial"/>
                <a:ea typeface="Arial"/>
                <a:cs typeface="Arial"/>
                <a:sym typeface="Arial"/>
              </a:rPr>
              <a:t>Transfer status produces the strongest positive policy effect</a:t>
            </a:r>
            <a:r>
              <a:rPr lang="en" sz="800">
                <a:latin typeface="Arial"/>
                <a:ea typeface="Arial"/>
                <a:cs typeface="Arial"/>
                <a:sym typeface="Arial"/>
              </a:rPr>
              <a:t> across all three models. Transfer students consistently receive higher predicted graduation probabilities due to prior credits, clearer degree pathways, and demonstrated academic readiness.</a:t>
            </a:r>
            <a:br>
              <a:rPr lang="en" sz="800">
                <a:latin typeface="Arial"/>
                <a:ea typeface="Arial"/>
                <a:cs typeface="Arial"/>
                <a:sym typeface="Arial"/>
              </a:rPr>
            </a:br>
            <a:endParaRPr sz="800">
              <a:latin typeface="Arial"/>
              <a:ea typeface="Arial"/>
              <a:cs typeface="Arial"/>
              <a:sym typeface="Arial"/>
            </a:endParaRPr>
          </a:p>
          <a:p>
            <a:pPr indent="0" lvl="0" marL="0" rtl="0" algn="l">
              <a:spcBef>
                <a:spcPts val="360"/>
              </a:spcBef>
              <a:spcAft>
                <a:spcPts val="0"/>
              </a:spcAft>
              <a:buClr>
                <a:schemeClr val="dk1"/>
              </a:buClr>
              <a:buSzPts val="1100"/>
              <a:buFont typeface="Arial"/>
              <a:buNone/>
            </a:pPr>
            <a:r>
              <a:rPr b="1" lang="en" sz="800">
                <a:latin typeface="Arial"/>
                <a:ea typeface="Arial"/>
                <a:cs typeface="Arial"/>
                <a:sym typeface="Arial"/>
              </a:rPr>
              <a:t>Ethnicity effects remain stable and structural</a:t>
            </a:r>
            <a:r>
              <a:rPr lang="en" sz="800">
                <a:latin typeface="Arial"/>
                <a:ea typeface="Arial"/>
                <a:cs typeface="Arial"/>
                <a:sym typeface="Arial"/>
              </a:rPr>
              <a:t>, not model-dependent:</a:t>
            </a:r>
            <a:br>
              <a:rPr lang="en" sz="800">
                <a:latin typeface="Arial"/>
                <a:ea typeface="Arial"/>
                <a:cs typeface="Arial"/>
                <a:sym typeface="Arial"/>
              </a:rPr>
            </a:br>
            <a:endParaRPr sz="800">
              <a:latin typeface="Arial"/>
              <a:ea typeface="Arial"/>
              <a:cs typeface="Arial"/>
              <a:sym typeface="Arial"/>
            </a:endParaRPr>
          </a:p>
          <a:p>
            <a:pPr indent="-279400" lvl="0" marL="457200" rtl="0" algn="l">
              <a:lnSpc>
                <a:spcPct val="115000"/>
              </a:lnSpc>
              <a:spcBef>
                <a:spcPts val="1200"/>
              </a:spcBef>
              <a:spcAft>
                <a:spcPts val="0"/>
              </a:spcAft>
              <a:buSzPts val="800"/>
              <a:buChar char="●"/>
            </a:pPr>
            <a:r>
              <a:rPr i="1" lang="en" sz="800">
                <a:latin typeface="Arial"/>
                <a:ea typeface="Arial"/>
                <a:cs typeface="Arial"/>
                <a:sym typeface="Arial"/>
              </a:rPr>
              <a:t>International</a:t>
            </a:r>
            <a:r>
              <a:rPr lang="en" sz="800">
                <a:latin typeface="Arial"/>
                <a:ea typeface="Arial"/>
                <a:cs typeface="Arial"/>
                <a:sym typeface="Arial"/>
              </a:rPr>
              <a:t> and </a:t>
            </a:r>
            <a:r>
              <a:rPr i="1" lang="en" sz="800">
                <a:latin typeface="Arial"/>
                <a:ea typeface="Arial"/>
                <a:cs typeface="Arial"/>
                <a:sym typeface="Arial"/>
              </a:rPr>
              <a:t>Not Specified</a:t>
            </a:r>
            <a:r>
              <a:rPr lang="en" sz="800">
                <a:latin typeface="Arial"/>
                <a:ea typeface="Arial"/>
                <a:cs typeface="Arial"/>
                <a:sym typeface="Arial"/>
              </a:rPr>
              <a:t> groups show higher predicted outcomes.</a:t>
            </a:r>
            <a:endParaRPr sz="800">
              <a:latin typeface="Arial"/>
              <a:ea typeface="Arial"/>
              <a:cs typeface="Arial"/>
              <a:sym typeface="Arial"/>
            </a:endParaRPr>
          </a:p>
          <a:p>
            <a:pPr indent="-279400" lvl="0" marL="457200" rtl="0" algn="l">
              <a:lnSpc>
                <a:spcPct val="115000"/>
              </a:lnSpc>
              <a:spcBef>
                <a:spcPts val="0"/>
              </a:spcBef>
              <a:spcAft>
                <a:spcPts val="0"/>
              </a:spcAft>
              <a:buSzPts val="800"/>
              <a:buChar char="●"/>
            </a:pPr>
            <a:r>
              <a:rPr i="1" lang="en" sz="800">
                <a:latin typeface="Arial"/>
                <a:ea typeface="Arial"/>
                <a:cs typeface="Arial"/>
                <a:sym typeface="Arial"/>
              </a:rPr>
              <a:t>Hispanic/Latino</a:t>
            </a:r>
            <a:r>
              <a:rPr lang="en" sz="800">
                <a:latin typeface="Arial"/>
                <a:ea typeface="Arial"/>
                <a:cs typeface="Arial"/>
                <a:sym typeface="Arial"/>
              </a:rPr>
              <a:t> and </a:t>
            </a:r>
            <a:r>
              <a:rPr i="1" lang="en" sz="800">
                <a:latin typeface="Arial"/>
                <a:ea typeface="Arial"/>
                <a:cs typeface="Arial"/>
                <a:sym typeface="Arial"/>
              </a:rPr>
              <a:t>Black/African American</a:t>
            </a:r>
            <a:r>
              <a:rPr lang="en" sz="800">
                <a:latin typeface="Arial"/>
                <a:ea typeface="Arial"/>
                <a:cs typeface="Arial"/>
                <a:sym typeface="Arial"/>
              </a:rPr>
              <a:t> groups show lower outcomes, indicating systemic barriers rather than model bias.</a:t>
            </a:r>
            <a:br>
              <a:rPr lang="en" sz="800">
                <a:latin typeface="Arial"/>
                <a:ea typeface="Arial"/>
                <a:cs typeface="Arial"/>
                <a:sym typeface="Arial"/>
              </a:rPr>
            </a:br>
            <a:endParaRPr sz="8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 sz="800">
                <a:latin typeface="Arial"/>
                <a:ea typeface="Arial"/>
                <a:cs typeface="Arial"/>
                <a:sym typeface="Arial"/>
              </a:rPr>
              <a:t>Financial support shows the most policy-actionable impact</a:t>
            </a:r>
            <a:r>
              <a:rPr lang="en" sz="800">
                <a:latin typeface="Arial"/>
                <a:ea typeface="Arial"/>
                <a:cs typeface="Arial"/>
                <a:sym typeface="Arial"/>
              </a:rPr>
              <a:t>:</a:t>
            </a:r>
            <a:br>
              <a:rPr lang="en" sz="800">
                <a:latin typeface="Arial"/>
                <a:ea typeface="Arial"/>
                <a:cs typeface="Arial"/>
                <a:sym typeface="Arial"/>
              </a:rPr>
            </a:br>
            <a:endParaRPr sz="800">
              <a:latin typeface="Arial"/>
              <a:ea typeface="Arial"/>
              <a:cs typeface="Arial"/>
              <a:sym typeface="Arial"/>
            </a:endParaRPr>
          </a:p>
          <a:p>
            <a:pPr indent="-279400" lvl="0" marL="457200" rtl="0" algn="l">
              <a:lnSpc>
                <a:spcPct val="115000"/>
              </a:lnSpc>
              <a:spcBef>
                <a:spcPts val="1200"/>
              </a:spcBef>
              <a:spcAft>
                <a:spcPts val="0"/>
              </a:spcAft>
              <a:buSzPts val="800"/>
              <a:buChar char="●"/>
            </a:pPr>
            <a:r>
              <a:rPr lang="en" sz="800">
                <a:latin typeface="Arial"/>
                <a:ea typeface="Arial"/>
                <a:cs typeface="Arial"/>
                <a:sym typeface="Arial"/>
              </a:rPr>
              <a:t>Students receiving </a:t>
            </a:r>
            <a:r>
              <a:rPr b="1" lang="en" sz="800">
                <a:latin typeface="Arial"/>
                <a:ea typeface="Arial"/>
                <a:cs typeface="Arial"/>
                <a:sym typeface="Arial"/>
              </a:rPr>
              <a:t>&gt; $20K</a:t>
            </a:r>
            <a:r>
              <a:rPr lang="en" sz="800">
                <a:latin typeface="Arial"/>
                <a:ea typeface="Arial"/>
                <a:cs typeface="Arial"/>
                <a:sym typeface="Arial"/>
              </a:rPr>
              <a:t> in aid (SupportBin or TotalSupport) see the largest gains in predicted success.</a:t>
            </a:r>
            <a:endParaRPr sz="800">
              <a:latin typeface="Arial"/>
              <a:ea typeface="Arial"/>
              <a:cs typeface="Arial"/>
              <a:sym typeface="Arial"/>
            </a:endParaRPr>
          </a:p>
          <a:p>
            <a:pPr indent="-279400" lvl="0" marL="457200" rtl="0" algn="l">
              <a:lnSpc>
                <a:spcPct val="115000"/>
              </a:lnSpc>
              <a:spcBef>
                <a:spcPts val="0"/>
              </a:spcBef>
              <a:spcAft>
                <a:spcPts val="0"/>
              </a:spcAft>
              <a:buSzPts val="800"/>
              <a:buChar char="●"/>
            </a:pPr>
            <a:r>
              <a:rPr lang="en" sz="800">
                <a:latin typeface="Arial"/>
                <a:ea typeface="Arial"/>
                <a:cs typeface="Arial"/>
                <a:sym typeface="Arial"/>
              </a:rPr>
              <a:t>Lower-support categories (&lt;$10K) show consistently weaker outcomes.</a:t>
            </a:r>
            <a:br>
              <a:rPr lang="en" sz="800">
                <a:latin typeface="Arial"/>
                <a:ea typeface="Arial"/>
                <a:cs typeface="Arial"/>
                <a:sym typeface="Arial"/>
              </a:rPr>
            </a:br>
            <a:endParaRPr sz="8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 sz="800">
                <a:latin typeface="Arial"/>
                <a:ea typeface="Arial"/>
                <a:cs typeface="Arial"/>
                <a:sym typeface="Arial"/>
              </a:rPr>
              <a:t>Academic preparation variables add moderate positive influence</a:t>
            </a:r>
            <a:r>
              <a:rPr lang="en" sz="800">
                <a:latin typeface="Arial"/>
                <a:ea typeface="Arial"/>
                <a:cs typeface="Arial"/>
                <a:sym typeface="Arial"/>
              </a:rPr>
              <a:t>, with higher GPA, strong placement scores, and AP performance slightly raising predictions across all models.</a:t>
            </a:r>
            <a:endParaRPr sz="800">
              <a:latin typeface="Arial"/>
              <a:ea typeface="Arial"/>
              <a:cs typeface="Arial"/>
              <a:sym typeface="Arial"/>
            </a:endParaRPr>
          </a:p>
          <a:p>
            <a:pPr indent="0" lvl="0" marL="0" rtl="0" algn="l">
              <a:spcBef>
                <a:spcPts val="360"/>
              </a:spcBef>
              <a:spcAft>
                <a:spcPts val="0"/>
              </a:spcAft>
              <a:buClr>
                <a:schemeClr val="dk1"/>
              </a:buClr>
              <a:buSzPts val="1100"/>
              <a:buFont typeface="Arial"/>
              <a:buNone/>
            </a:pPr>
            <a:r>
              <a:rPr b="1" lang="en" sz="800">
                <a:latin typeface="Arial"/>
                <a:ea typeface="Arial"/>
                <a:cs typeface="Arial"/>
                <a:sym typeface="Arial"/>
              </a:rPr>
              <a:t>Negative shifts appear when students are classified as New Freshmen</a:t>
            </a:r>
            <a:r>
              <a:rPr lang="en" sz="800">
                <a:latin typeface="Arial"/>
                <a:ea typeface="Arial"/>
                <a:cs typeface="Arial"/>
                <a:sym typeface="Arial"/>
              </a:rPr>
              <a:t>, or when academic readiness and financial aid levels decline this pattern is identical in all models.</a:t>
            </a:r>
            <a:endParaRPr sz="800">
              <a:latin typeface="Arial"/>
              <a:ea typeface="Arial"/>
              <a:cs typeface="Arial"/>
              <a:sym typeface="Arial"/>
            </a:endParaRPr>
          </a:p>
          <a:p>
            <a:pPr indent="0" lvl="0" marL="0" rtl="0" algn="l">
              <a:spcBef>
                <a:spcPts val="360"/>
              </a:spcBef>
              <a:spcAft>
                <a:spcPts val="0"/>
              </a:spcAft>
              <a:buClr>
                <a:schemeClr val="dk1"/>
              </a:buClr>
              <a:buSzPts val="1100"/>
              <a:buFont typeface="Arial"/>
              <a:buNone/>
            </a:pPr>
            <a:r>
              <a:rPr b="1" lang="en" sz="800">
                <a:latin typeface="Arial"/>
                <a:ea typeface="Arial"/>
                <a:cs typeface="Arial"/>
                <a:sym typeface="Arial"/>
              </a:rPr>
              <a:t>Across all models, positive and negative policy effects remain consistent</a:t>
            </a:r>
            <a:r>
              <a:rPr lang="en" sz="800">
                <a:latin typeface="Arial"/>
                <a:ea typeface="Arial"/>
                <a:cs typeface="Arial"/>
                <a:sym typeface="Arial"/>
              </a:rPr>
              <a:t>, confirming that the drivers of student success are stable and not dependent on a specific algorithm.</a:t>
            </a:r>
            <a:endParaRPr sz="800">
              <a:latin typeface="Arial"/>
              <a:ea typeface="Arial"/>
              <a:cs typeface="Arial"/>
              <a:sym typeface="Arial"/>
            </a:endParaRPr>
          </a:p>
          <a:p>
            <a:pPr indent="0" lvl="0" marL="0" rtl="0" algn="l">
              <a:spcBef>
                <a:spcPts val="360"/>
              </a:spcBef>
              <a:spcAft>
                <a:spcPts val="0"/>
              </a:spcAft>
              <a:buNone/>
            </a:pPr>
            <a:r>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42"/>
          <p:cNvSpPr txBox="1"/>
          <p:nvPr>
            <p:ph type="title"/>
          </p:nvPr>
        </p:nvSpPr>
        <p:spPr>
          <a:xfrm>
            <a:off x="457200" y="702644"/>
            <a:ext cx="8229600" cy="644100"/>
          </a:xfrm>
          <a:prstGeom prst="rect">
            <a:avLst/>
          </a:prstGeom>
        </p:spPr>
        <p:txBody>
          <a:bodyPr anchorCtr="0" anchor="ctr" bIns="45700" lIns="91425" spcFirstLastPara="1" rIns="91425" wrap="square" tIns="45700">
            <a:normAutofit/>
          </a:bodyPr>
          <a:lstStyle/>
          <a:p>
            <a:pPr indent="0" lvl="0" marL="0" rtl="0" algn="ctr">
              <a:lnSpc>
                <a:spcPct val="115000"/>
              </a:lnSpc>
              <a:spcBef>
                <a:spcPts val="1200"/>
              </a:spcBef>
              <a:spcAft>
                <a:spcPts val="1200"/>
              </a:spcAft>
              <a:buClr>
                <a:schemeClr val="dk1"/>
              </a:buClr>
              <a:buSzPts val="1100"/>
              <a:buFont typeface="Arial"/>
              <a:buNone/>
            </a:pPr>
            <a:r>
              <a:rPr b="1" lang="en" sz="3600"/>
              <a:t>Partial Dependence</a:t>
            </a:r>
            <a:endParaRPr b="1" sz="3600"/>
          </a:p>
        </p:txBody>
      </p:sp>
      <p:sp>
        <p:nvSpPr>
          <p:cNvPr id="272" name="Google Shape;272;p42"/>
          <p:cNvSpPr txBox="1"/>
          <p:nvPr>
            <p:ph idx="1" type="body"/>
          </p:nvPr>
        </p:nvSpPr>
        <p:spPr>
          <a:xfrm>
            <a:off x="457200" y="1610179"/>
            <a:ext cx="8229600" cy="29844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Clr>
                <a:schemeClr val="dk1"/>
              </a:buClr>
              <a:buSzPts val="1100"/>
              <a:buFont typeface="Arial"/>
              <a:buNone/>
            </a:pPr>
            <a:r>
              <a:rPr b="1" lang="en" sz="800">
                <a:latin typeface="Arial"/>
                <a:ea typeface="Arial"/>
                <a:cs typeface="Arial"/>
                <a:sym typeface="Arial"/>
              </a:rPr>
              <a:t>All three models show identical partial-dependence patterns</a:t>
            </a:r>
            <a:r>
              <a:rPr lang="en" sz="800">
                <a:latin typeface="Arial"/>
                <a:ea typeface="Arial"/>
                <a:cs typeface="Arial"/>
                <a:sym typeface="Arial"/>
              </a:rPr>
              <a:t>, confirming that their predictions respond to features in the same way.</a:t>
            </a:r>
            <a:br>
              <a:rPr lang="en" sz="800">
                <a:latin typeface="Arial"/>
                <a:ea typeface="Arial"/>
                <a:cs typeface="Arial"/>
                <a:sym typeface="Arial"/>
              </a:rPr>
            </a:br>
            <a:endParaRPr sz="800">
              <a:latin typeface="Arial"/>
              <a:ea typeface="Arial"/>
              <a:cs typeface="Arial"/>
              <a:sym typeface="Arial"/>
            </a:endParaRPr>
          </a:p>
          <a:p>
            <a:pPr indent="0" lvl="0" marL="0" rtl="0" algn="l">
              <a:spcBef>
                <a:spcPts val="360"/>
              </a:spcBef>
              <a:spcAft>
                <a:spcPts val="0"/>
              </a:spcAft>
              <a:buClr>
                <a:schemeClr val="dk1"/>
              </a:buClr>
              <a:buSzPts val="1100"/>
              <a:buFont typeface="Arial"/>
              <a:buNone/>
            </a:pPr>
            <a:r>
              <a:rPr b="1" lang="en" sz="800">
                <a:latin typeface="Arial"/>
                <a:ea typeface="Arial"/>
                <a:cs typeface="Arial"/>
                <a:sym typeface="Arial"/>
              </a:rPr>
              <a:t>English readiness (EngSCORE) has the strongest nonlinear effect</a:t>
            </a:r>
            <a:r>
              <a:rPr lang="en" sz="800">
                <a:latin typeface="Arial"/>
                <a:ea typeface="Arial"/>
                <a:cs typeface="Arial"/>
                <a:sym typeface="Arial"/>
              </a:rPr>
              <a:t>: graduation probability rises sharply once students move out of the lowest readiness band, then levels off at higher scores.</a:t>
            </a:r>
            <a:br>
              <a:rPr lang="en" sz="800">
                <a:latin typeface="Arial"/>
                <a:ea typeface="Arial"/>
                <a:cs typeface="Arial"/>
                <a:sym typeface="Arial"/>
              </a:rPr>
            </a:br>
            <a:endParaRPr sz="800">
              <a:latin typeface="Arial"/>
              <a:ea typeface="Arial"/>
              <a:cs typeface="Arial"/>
              <a:sym typeface="Arial"/>
            </a:endParaRPr>
          </a:p>
          <a:p>
            <a:pPr indent="0" lvl="0" marL="0" rtl="0" algn="l">
              <a:spcBef>
                <a:spcPts val="360"/>
              </a:spcBef>
              <a:spcAft>
                <a:spcPts val="0"/>
              </a:spcAft>
              <a:buClr>
                <a:schemeClr val="dk1"/>
              </a:buClr>
              <a:buSzPts val="1100"/>
              <a:buFont typeface="Arial"/>
              <a:buNone/>
            </a:pPr>
            <a:r>
              <a:rPr b="1" lang="en" sz="800">
                <a:latin typeface="Arial"/>
                <a:ea typeface="Arial"/>
                <a:cs typeface="Arial"/>
                <a:sym typeface="Arial"/>
              </a:rPr>
              <a:t>Financial support shows large positive effects</a:t>
            </a:r>
            <a:r>
              <a:rPr lang="en" sz="800">
                <a:latin typeface="Arial"/>
                <a:ea typeface="Arial"/>
                <a:cs typeface="Arial"/>
                <a:sym typeface="Arial"/>
              </a:rPr>
              <a:t>:</a:t>
            </a:r>
            <a:endParaRPr sz="800">
              <a:latin typeface="Arial"/>
              <a:ea typeface="Arial"/>
              <a:cs typeface="Arial"/>
              <a:sym typeface="Arial"/>
            </a:endParaRPr>
          </a:p>
          <a:p>
            <a:pPr indent="-279400" lvl="0" marL="457200" rtl="0" algn="l">
              <a:lnSpc>
                <a:spcPct val="115000"/>
              </a:lnSpc>
              <a:spcBef>
                <a:spcPts val="1200"/>
              </a:spcBef>
              <a:spcAft>
                <a:spcPts val="0"/>
              </a:spcAft>
              <a:buSzPts val="800"/>
              <a:buChar char="●"/>
            </a:pPr>
            <a:r>
              <a:rPr lang="en" sz="800">
                <a:latin typeface="Arial"/>
                <a:ea typeface="Arial"/>
                <a:cs typeface="Arial"/>
                <a:sym typeface="Arial"/>
              </a:rPr>
              <a:t>Graduation probability increases steeply as funding rises.</a:t>
            </a:r>
            <a:endParaRPr sz="800">
              <a:latin typeface="Arial"/>
              <a:ea typeface="Arial"/>
              <a:cs typeface="Arial"/>
              <a:sym typeface="Arial"/>
            </a:endParaRPr>
          </a:p>
          <a:p>
            <a:pPr indent="-279400" lvl="0" marL="457200" rtl="0" algn="l">
              <a:lnSpc>
                <a:spcPct val="115000"/>
              </a:lnSpc>
              <a:spcBef>
                <a:spcPts val="0"/>
              </a:spcBef>
              <a:spcAft>
                <a:spcPts val="0"/>
              </a:spcAft>
              <a:buSzPts val="800"/>
              <a:buChar char="●"/>
            </a:pPr>
            <a:r>
              <a:rPr b="1" lang="en" sz="800">
                <a:latin typeface="Arial"/>
                <a:ea typeface="Arial"/>
                <a:cs typeface="Arial"/>
                <a:sym typeface="Arial"/>
              </a:rPr>
              <a:t>TotalSupport</a:t>
            </a:r>
            <a:r>
              <a:rPr lang="en" sz="800">
                <a:latin typeface="Arial"/>
                <a:ea typeface="Arial"/>
                <a:cs typeface="Arial"/>
                <a:sym typeface="Arial"/>
              </a:rPr>
              <a:t> grows steadily until mid-range levels, after which gains flatten, indicating diminishing returns.</a:t>
            </a:r>
            <a:endParaRPr sz="8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rPr b="1" lang="en" sz="800">
                <a:latin typeface="Arial"/>
                <a:ea typeface="Arial"/>
                <a:cs typeface="Arial"/>
                <a:sym typeface="Arial"/>
              </a:rPr>
              <a:t>Math preparation (ALEKS, SAT Math) produces smooth upward trends</a:t>
            </a:r>
            <a:r>
              <a:rPr lang="en" sz="800">
                <a:latin typeface="Arial"/>
                <a:ea typeface="Arial"/>
                <a:cs typeface="Arial"/>
                <a:sym typeface="Arial"/>
              </a:rPr>
              <a:t>, showing that stronger quantitative readiness consistently improves graduation predictions.</a:t>
            </a:r>
            <a:endParaRPr sz="800">
              <a:latin typeface="Arial"/>
              <a:ea typeface="Arial"/>
              <a:cs typeface="Arial"/>
              <a:sym typeface="Arial"/>
            </a:endParaRPr>
          </a:p>
          <a:p>
            <a:pPr indent="0" lvl="0" marL="0" rtl="0" algn="l">
              <a:spcBef>
                <a:spcPts val="360"/>
              </a:spcBef>
              <a:spcAft>
                <a:spcPts val="0"/>
              </a:spcAft>
              <a:buClr>
                <a:schemeClr val="dk1"/>
              </a:buClr>
              <a:buSzPts val="1100"/>
              <a:buFont typeface="Arial"/>
              <a:buNone/>
            </a:pPr>
            <a:r>
              <a:rPr b="1" lang="en" sz="800">
                <a:latin typeface="Arial"/>
                <a:ea typeface="Arial"/>
                <a:cs typeface="Arial"/>
                <a:sym typeface="Arial"/>
              </a:rPr>
              <a:t>High-school readiness metrics (GPA, percentile rank)</a:t>
            </a:r>
            <a:r>
              <a:rPr lang="en" sz="800">
                <a:latin typeface="Arial"/>
                <a:ea typeface="Arial"/>
                <a:cs typeface="Arial"/>
                <a:sym typeface="Arial"/>
              </a:rPr>
              <a:t> show gradual, stable improvements across their ranges.</a:t>
            </a:r>
            <a:endParaRPr sz="800">
              <a:latin typeface="Arial"/>
              <a:ea typeface="Arial"/>
              <a:cs typeface="Arial"/>
              <a:sym typeface="Arial"/>
            </a:endParaRPr>
          </a:p>
          <a:p>
            <a:pPr indent="0" lvl="0" marL="0" rtl="0" algn="l">
              <a:spcBef>
                <a:spcPts val="360"/>
              </a:spcBef>
              <a:spcAft>
                <a:spcPts val="0"/>
              </a:spcAft>
              <a:buClr>
                <a:schemeClr val="dk1"/>
              </a:buClr>
              <a:buSzPts val="1100"/>
              <a:buFont typeface="Arial"/>
              <a:buNone/>
            </a:pPr>
            <a:r>
              <a:rPr b="1" lang="en" sz="800">
                <a:latin typeface="Arial"/>
                <a:ea typeface="Arial"/>
                <a:cs typeface="Arial"/>
                <a:sym typeface="Arial"/>
              </a:rPr>
              <a:t>Matriculation status behaves like a binary jump</a:t>
            </a:r>
            <a:r>
              <a:rPr lang="en" sz="800">
                <a:latin typeface="Arial"/>
                <a:ea typeface="Arial"/>
                <a:cs typeface="Arial"/>
                <a:sym typeface="Arial"/>
              </a:rPr>
              <a:t>: New Transfer students show significantly higher predicted outcomes than New Freshmen across all models.</a:t>
            </a:r>
            <a:endParaRPr sz="800">
              <a:latin typeface="Arial"/>
              <a:ea typeface="Arial"/>
              <a:cs typeface="Arial"/>
              <a:sym typeface="Arial"/>
            </a:endParaRPr>
          </a:p>
          <a:p>
            <a:pPr indent="0" lvl="0" marL="0" rtl="0" algn="l">
              <a:spcBef>
                <a:spcPts val="360"/>
              </a:spcBef>
              <a:spcAft>
                <a:spcPts val="0"/>
              </a:spcAft>
              <a:buClr>
                <a:schemeClr val="dk1"/>
              </a:buClr>
              <a:buSzPts val="1100"/>
              <a:buFont typeface="Arial"/>
              <a:buNone/>
            </a:pPr>
            <a:r>
              <a:rPr b="1" lang="en" sz="800">
                <a:latin typeface="Arial"/>
                <a:ea typeface="Arial"/>
                <a:cs typeface="Arial"/>
                <a:sym typeface="Arial"/>
              </a:rPr>
              <a:t>AP patterns are mostly stable</a:t>
            </a:r>
            <a:r>
              <a:rPr lang="en" sz="800">
                <a:latin typeface="Arial"/>
                <a:ea typeface="Arial"/>
                <a:cs typeface="Arial"/>
                <a:sym typeface="Arial"/>
              </a:rPr>
              <a:t>, with AP_max_score showing a positive slope, while the AP_ct_computer dip appears to result from small, specialized subgroups rather than true negative relationships.</a:t>
            </a:r>
            <a:endParaRPr sz="800">
              <a:latin typeface="Arial"/>
              <a:ea typeface="Arial"/>
              <a:cs typeface="Arial"/>
              <a:sym typeface="Arial"/>
            </a:endParaRPr>
          </a:p>
          <a:p>
            <a:pPr indent="0" lvl="0" marL="0" rtl="0" algn="l">
              <a:spcBef>
                <a:spcPts val="360"/>
              </a:spcBef>
              <a:spcAft>
                <a:spcPts val="0"/>
              </a:spcAft>
              <a:buClr>
                <a:schemeClr val="dk1"/>
              </a:buClr>
              <a:buSzPts val="1100"/>
              <a:buFont typeface="Arial"/>
              <a:buNone/>
            </a:pPr>
            <a:r>
              <a:rPr b="1" lang="en" sz="800">
                <a:latin typeface="Arial"/>
                <a:ea typeface="Arial"/>
                <a:cs typeface="Arial"/>
                <a:sym typeface="Arial"/>
              </a:rPr>
              <a:t>Overall, the PDP curves reinforce the key model drivers</a:t>
            </a:r>
            <a:r>
              <a:rPr lang="en" sz="800">
                <a:latin typeface="Arial"/>
                <a:ea typeface="Arial"/>
                <a:cs typeface="Arial"/>
                <a:sym typeface="Arial"/>
              </a:rPr>
              <a:t>: financial support, transfer status, English readiness, and math preparation consistently shape graduation predictions in all three algorithms.</a:t>
            </a:r>
            <a:endParaRPr sz="800">
              <a:latin typeface="Arial"/>
              <a:ea typeface="Arial"/>
              <a:cs typeface="Arial"/>
              <a:sym typeface="Arial"/>
            </a:endParaRPr>
          </a:p>
          <a:p>
            <a:pPr indent="0" lvl="0" marL="0" rtl="0" algn="l">
              <a:spcBef>
                <a:spcPts val="360"/>
              </a:spcBef>
              <a:spcAft>
                <a:spcPts val="0"/>
              </a:spcAft>
              <a:buNone/>
            </a:pPr>
            <a:r>
              <a:t/>
            </a:r>
            <a:endParaRPr sz="800">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6" name="Shape 276"/>
        <p:cNvGrpSpPr/>
        <p:nvPr/>
      </p:nvGrpSpPr>
      <p:grpSpPr>
        <a:xfrm>
          <a:off x="0" y="0"/>
          <a:ext cx="0" cy="0"/>
          <a:chOff x="0" y="0"/>
          <a:chExt cx="0" cy="0"/>
        </a:xfrm>
      </p:grpSpPr>
      <p:sp>
        <p:nvSpPr>
          <p:cNvPr id="277" name="Google Shape;277;p43"/>
          <p:cNvSpPr txBox="1"/>
          <p:nvPr>
            <p:ph type="title"/>
          </p:nvPr>
        </p:nvSpPr>
        <p:spPr>
          <a:xfrm>
            <a:off x="457200" y="702644"/>
            <a:ext cx="8229600" cy="644100"/>
          </a:xfrm>
          <a:prstGeom prst="rect">
            <a:avLst/>
          </a:prstGeom>
        </p:spPr>
        <p:txBody>
          <a:bodyPr anchorCtr="0" anchor="ctr" bIns="45700" lIns="91425" spcFirstLastPara="1" rIns="91425" wrap="square" tIns="45700">
            <a:normAutofit fontScale="90000"/>
          </a:bodyPr>
          <a:lstStyle/>
          <a:p>
            <a:pPr indent="0" lvl="0" marL="0" rtl="0" algn="ctr">
              <a:spcBef>
                <a:spcPts val="0"/>
              </a:spcBef>
              <a:spcAft>
                <a:spcPts val="0"/>
              </a:spcAft>
              <a:buNone/>
            </a:pPr>
            <a:r>
              <a:rPr lang="en"/>
              <a:t>Power Bi</a:t>
            </a:r>
            <a:endParaRPr/>
          </a:p>
        </p:txBody>
      </p:sp>
      <p:pic>
        <p:nvPicPr>
          <p:cNvPr id="278" name="Google Shape;278;p43" title="umbcpowerbi.jpg"/>
          <p:cNvPicPr preferRelativeResize="0"/>
          <p:nvPr/>
        </p:nvPicPr>
        <p:blipFill>
          <a:blip r:embed="rId3">
            <a:alphaModFix/>
          </a:blip>
          <a:stretch>
            <a:fillRect/>
          </a:stretch>
        </p:blipFill>
        <p:spPr>
          <a:xfrm>
            <a:off x="3408525" y="2068900"/>
            <a:ext cx="1809750" cy="206692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44"/>
          <p:cNvSpPr txBox="1"/>
          <p:nvPr>
            <p:ph type="title"/>
          </p:nvPr>
        </p:nvSpPr>
        <p:spPr>
          <a:xfrm>
            <a:off x="457200" y="702644"/>
            <a:ext cx="8229600" cy="644100"/>
          </a:xfrm>
          <a:prstGeom prst="rect">
            <a:avLst/>
          </a:prstGeom>
        </p:spPr>
        <p:txBody>
          <a:bodyPr anchorCtr="0" anchor="ctr" bIns="45700" lIns="91425" spcFirstLastPara="1" rIns="91425" wrap="square" tIns="45700">
            <a:normAutofit fontScale="90000"/>
          </a:bodyPr>
          <a:lstStyle/>
          <a:p>
            <a:pPr indent="0" lvl="0" marL="0" rtl="0" algn="ctr">
              <a:spcBef>
                <a:spcPts val="0"/>
              </a:spcBef>
              <a:spcAft>
                <a:spcPts val="0"/>
              </a:spcAft>
              <a:buNone/>
            </a:pPr>
            <a:r>
              <a:rPr lang="en"/>
              <a:t>GitHub</a:t>
            </a:r>
            <a:endParaRPr/>
          </a:p>
        </p:txBody>
      </p:sp>
      <p:sp>
        <p:nvSpPr>
          <p:cNvPr id="284" name="Google Shape;284;p44"/>
          <p:cNvSpPr txBox="1"/>
          <p:nvPr>
            <p:ph idx="1" type="body"/>
          </p:nvPr>
        </p:nvSpPr>
        <p:spPr>
          <a:xfrm>
            <a:off x="457200" y="1610179"/>
            <a:ext cx="8229600" cy="2984400"/>
          </a:xfrm>
          <a:prstGeom prst="rect">
            <a:avLst/>
          </a:prstGeom>
        </p:spPr>
        <p:txBody>
          <a:bodyPr anchorCtr="0" anchor="t" bIns="45700" lIns="91425" spcFirstLastPara="1" rIns="91425" wrap="square" tIns="45700">
            <a:normAutofit/>
          </a:bodyPr>
          <a:lstStyle/>
          <a:p>
            <a:pPr indent="0" lvl="0" marL="0" rtl="0" algn="l">
              <a:spcBef>
                <a:spcPts val="360"/>
              </a:spcBef>
              <a:spcAft>
                <a:spcPts val="0"/>
              </a:spcAft>
              <a:buNone/>
            </a:pPr>
            <a:r>
              <a:rPr lang="en" u="sng">
                <a:solidFill>
                  <a:schemeClr val="hlink"/>
                </a:solidFill>
                <a:hlinkClick r:id="rId3"/>
              </a:rPr>
              <a:t>https://github.com/ChaturyaYarradoddi/UMBC_CP/tree/main</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8" name="Shape 288"/>
        <p:cNvGrpSpPr/>
        <p:nvPr/>
      </p:nvGrpSpPr>
      <p:grpSpPr>
        <a:xfrm>
          <a:off x="0" y="0"/>
          <a:ext cx="0" cy="0"/>
          <a:chOff x="0" y="0"/>
          <a:chExt cx="0" cy="0"/>
        </a:xfrm>
      </p:grpSpPr>
      <p:pic>
        <p:nvPicPr>
          <p:cNvPr id="289" name="Google Shape;289;p45"/>
          <p:cNvPicPr preferRelativeResize="0"/>
          <p:nvPr/>
        </p:nvPicPr>
        <p:blipFill>
          <a:blip r:embed="rId3">
            <a:alphaModFix/>
          </a:blip>
          <a:stretch>
            <a:fillRect/>
          </a:stretch>
        </p:blipFill>
        <p:spPr>
          <a:xfrm>
            <a:off x="0" y="2126888"/>
            <a:ext cx="3891525" cy="889725"/>
          </a:xfrm>
          <a:prstGeom prst="rect">
            <a:avLst/>
          </a:prstGeom>
          <a:noFill/>
          <a:ln>
            <a:noFill/>
          </a:ln>
        </p:spPr>
      </p:pic>
      <p:cxnSp>
        <p:nvCxnSpPr>
          <p:cNvPr id="290" name="Google Shape;290;p45"/>
          <p:cNvCxnSpPr/>
          <p:nvPr/>
        </p:nvCxnSpPr>
        <p:spPr>
          <a:xfrm flipH="1" rot="10800000">
            <a:off x="0" y="2101425"/>
            <a:ext cx="8859600" cy="19200"/>
          </a:xfrm>
          <a:prstGeom prst="straightConnector1">
            <a:avLst/>
          </a:prstGeom>
          <a:noFill/>
          <a:ln cap="flat" cmpd="sng" w="28575">
            <a:solidFill>
              <a:schemeClr val="dk2"/>
            </a:solidFill>
            <a:prstDash val="solid"/>
            <a:round/>
            <a:headEnd len="med" w="med" type="none"/>
            <a:tailEnd len="med" w="med" type="none"/>
          </a:ln>
        </p:spPr>
      </p:cxnSp>
      <p:pic>
        <p:nvPicPr>
          <p:cNvPr descr="Yellow and blue symbols" id="291" name="Google Shape;291;p45"/>
          <p:cNvPicPr preferRelativeResize="0"/>
          <p:nvPr/>
        </p:nvPicPr>
        <p:blipFill rotWithShape="1">
          <a:blip r:embed="rId4">
            <a:alphaModFix/>
          </a:blip>
          <a:srcRect b="0" l="0" r="0" t="0"/>
          <a:stretch/>
        </p:blipFill>
        <p:spPr>
          <a:xfrm>
            <a:off x="6331687" y="144585"/>
            <a:ext cx="2393819" cy="1831956"/>
          </a:xfrm>
          <a:prstGeom prst="rect">
            <a:avLst/>
          </a:prstGeom>
          <a:noFill/>
          <a:ln>
            <a:noFill/>
          </a:ln>
        </p:spPr>
      </p:pic>
      <p:sp>
        <p:nvSpPr>
          <p:cNvPr id="292" name="Google Shape;292;p45"/>
          <p:cNvSpPr txBox="1"/>
          <p:nvPr/>
        </p:nvSpPr>
        <p:spPr>
          <a:xfrm>
            <a:off x="180739" y="1226951"/>
            <a:ext cx="5881200" cy="447900"/>
          </a:xfrm>
          <a:prstGeom prst="rect">
            <a:avLst/>
          </a:prstGeom>
          <a:noFill/>
          <a:ln>
            <a:noFill/>
          </a:ln>
        </p:spPr>
        <p:txBody>
          <a:bodyPr anchorCtr="0" anchor="t" bIns="34275" lIns="68575" spcFirstLastPara="1" rIns="68575" wrap="square" tIns="34275">
            <a:normAutofit/>
          </a:bodyPr>
          <a:lstStyle/>
          <a:p>
            <a:pPr indent="0" lvl="0" marL="0" rtl="0" algn="l">
              <a:spcBef>
                <a:spcPts val="0"/>
              </a:spcBef>
              <a:spcAft>
                <a:spcPts val="0"/>
              </a:spcAft>
              <a:buNone/>
            </a:pPr>
            <a:br>
              <a:rPr b="1" lang="en" sz="1100">
                <a:solidFill>
                  <a:srgbClr val="000000"/>
                </a:solidFill>
                <a:latin typeface="Gill Sans"/>
                <a:ea typeface="Gill Sans"/>
                <a:cs typeface="Gill Sans"/>
                <a:sym typeface="Gill Sans"/>
              </a:rPr>
            </a:br>
            <a:r>
              <a:rPr b="1" lang="en" sz="1100">
                <a:solidFill>
                  <a:srgbClr val="000000"/>
                </a:solidFill>
                <a:latin typeface="Gill Sans"/>
                <a:ea typeface="Gill Sans"/>
                <a:cs typeface="Gill Sans"/>
                <a:sym typeface="Gill Sans"/>
              </a:rPr>
              <a:t>Questions | Comments?</a:t>
            </a:r>
            <a:endParaRPr b="1" sz="1100">
              <a:solidFill>
                <a:srgbClr val="7F7F7F"/>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46"/>
          <p:cNvSpPr txBox="1"/>
          <p:nvPr>
            <p:ph type="title"/>
          </p:nvPr>
        </p:nvSpPr>
        <p:spPr>
          <a:xfrm>
            <a:off x="1751400" y="2409725"/>
            <a:ext cx="5641200" cy="644100"/>
          </a:xfrm>
          <a:prstGeom prst="rect">
            <a:avLst/>
          </a:prstGeom>
          <a:noFill/>
          <a:ln>
            <a:noFill/>
          </a:ln>
        </p:spPr>
        <p:txBody>
          <a:bodyPr anchorCtr="0" anchor="ctr" bIns="45700" lIns="91425" spcFirstLastPara="1" rIns="91425" wrap="square" tIns="45700">
            <a:noAutofit/>
          </a:bodyPr>
          <a:lstStyle/>
          <a:p>
            <a:pPr indent="0" lvl="0" marL="0" rtl="0" algn="ctr">
              <a:lnSpc>
                <a:spcPct val="100000"/>
              </a:lnSpc>
              <a:spcBef>
                <a:spcPts val="0"/>
              </a:spcBef>
              <a:spcAft>
                <a:spcPts val="0"/>
              </a:spcAft>
              <a:buSzPts val="990"/>
              <a:buNone/>
            </a:pPr>
            <a:r>
              <a:rPr b="1" lang="en" sz="3700">
                <a:latin typeface="Times New Roman"/>
                <a:ea typeface="Times New Roman"/>
                <a:cs typeface="Times New Roman"/>
                <a:sym typeface="Times New Roman"/>
              </a:rPr>
              <a:t>THANK YOU</a:t>
            </a:r>
            <a:endParaRPr b="1" sz="3700">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